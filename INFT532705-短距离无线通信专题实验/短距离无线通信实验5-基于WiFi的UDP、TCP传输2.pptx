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4275" r:id="rId2"/>
  </p:sldMasterIdLst>
  <p:notesMasterIdLst>
    <p:notesMasterId r:id="rId16"/>
  </p:notesMasterIdLst>
  <p:sldIdLst>
    <p:sldId id="916" r:id="rId3"/>
    <p:sldId id="439" r:id="rId4"/>
    <p:sldId id="440" r:id="rId5"/>
    <p:sldId id="441" r:id="rId6"/>
    <p:sldId id="442" r:id="rId7"/>
    <p:sldId id="443" r:id="rId8"/>
    <p:sldId id="444" r:id="rId9"/>
    <p:sldId id="445" r:id="rId10"/>
    <p:sldId id="447" r:id="rId11"/>
    <p:sldId id="437" r:id="rId12"/>
    <p:sldId id="448" r:id="rId13"/>
    <p:sldId id="622" r:id="rId14"/>
    <p:sldId id="674" r:id="rId15"/>
  </p:sldIdLst>
  <p:sldSz cx="9144000" cy="6858000" type="screen4x3"/>
  <p:notesSz cx="6813550" cy="9945688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36">
          <p15:clr>
            <a:srgbClr val="A4A3A4"/>
          </p15:clr>
        </p15:guide>
        <p15:guide id="3" pos="56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98"/>
    <a:srgbClr val="3B3838"/>
    <a:srgbClr val="2F5597"/>
    <a:srgbClr val="DEEBF7"/>
    <a:srgbClr val="C5E0B4"/>
    <a:srgbClr val="548235"/>
    <a:srgbClr val="ED7D31"/>
    <a:srgbClr val="FAB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79739" autoAdjust="0"/>
  </p:normalViewPr>
  <p:slideViewPr>
    <p:cSldViewPr snapToGrid="0">
      <p:cViewPr varScale="1">
        <p:scale>
          <a:sx n="85" d="100"/>
          <a:sy n="85" d="100"/>
        </p:scale>
        <p:origin x="2124" y="78"/>
      </p:cViewPr>
      <p:guideLst>
        <p:guide orient="horz" pos="2160"/>
        <p:guide pos="136"/>
        <p:guide pos="56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43632BB-FBBE-946F-108C-AF57C73510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8475"/>
          </a:xfrm>
          <a:prstGeom prst="rect">
            <a:avLst/>
          </a:prstGeom>
        </p:spPr>
        <p:txBody>
          <a:bodyPr vert="horz" lIns="91742" tIns="45871" rIns="91742" bIns="4587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1EE75B-DF95-E6DE-78FA-6FCF418A89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9213" y="0"/>
            <a:ext cx="2952750" cy="498475"/>
          </a:xfrm>
          <a:prstGeom prst="rect">
            <a:avLst/>
          </a:prstGeom>
        </p:spPr>
        <p:txBody>
          <a:bodyPr vert="horz" lIns="91742" tIns="45871" rIns="91742" bIns="4587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1B38162-BC48-4A6D-9912-74988337CBCE}" type="datetimeFigureOut">
              <a:rPr lang="zh-CN" altLang="en-US"/>
              <a:pPr>
                <a:defRPr/>
              </a:pPr>
              <a:t>2026/5/9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E29FC3E-E24D-6D31-5015-8437984162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675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42" tIns="45871" rIns="91742" bIns="4587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4F1FA4C9-44F2-9149-D8BC-B06C895A8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51475" cy="3916362"/>
          </a:xfrm>
          <a:prstGeom prst="rect">
            <a:avLst/>
          </a:prstGeom>
        </p:spPr>
        <p:txBody>
          <a:bodyPr vert="horz" lIns="91742" tIns="45871" rIns="91742" bIns="45871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F0B911-CB64-5EAD-940D-7EC4A23203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52750" cy="498475"/>
          </a:xfrm>
          <a:prstGeom prst="rect">
            <a:avLst/>
          </a:prstGeom>
        </p:spPr>
        <p:txBody>
          <a:bodyPr vert="horz" lIns="91742" tIns="45871" rIns="91742" bIns="4587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471F90-C985-7B98-B591-8526CAEBC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9213" y="9447213"/>
            <a:ext cx="2952750" cy="498475"/>
          </a:xfrm>
          <a:prstGeom prst="rect">
            <a:avLst/>
          </a:prstGeom>
        </p:spPr>
        <p:txBody>
          <a:bodyPr vert="horz" wrap="square" lIns="91742" tIns="45871" rIns="91742" bIns="4587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>
              <a:defRPr/>
            </a:pPr>
            <a:fld id="{557B59BD-C9DA-4F50-8952-19016F0F927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等线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1D009A-138F-2C1A-F342-8824A376D597}"/>
              </a:ext>
            </a:extLst>
          </p:cNvPr>
          <p:cNvSpPr/>
          <p:nvPr userDrawn="1"/>
        </p:nvSpPr>
        <p:spPr>
          <a:xfrm>
            <a:off x="0" y="6665913"/>
            <a:ext cx="9144000" cy="1920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7">
              <a:cs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55A694-FAF2-9E3E-9036-9C91CF9F0C10}"/>
              </a:ext>
            </a:extLst>
          </p:cNvPr>
          <p:cNvSpPr>
            <a:spLocks noChangeAspect="1"/>
          </p:cNvSpPr>
          <p:nvPr userDrawn="1"/>
        </p:nvSpPr>
        <p:spPr>
          <a:xfrm>
            <a:off x="423863" y="6665913"/>
            <a:ext cx="180975" cy="179387"/>
          </a:xfrm>
          <a:prstGeom prst="rect">
            <a:avLst/>
          </a:prstGeom>
          <a:solidFill>
            <a:srgbClr val="005D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57C99F-90C5-7F48-3445-0242F27E3A30}"/>
              </a:ext>
            </a:extLst>
          </p:cNvPr>
          <p:cNvSpPr>
            <a:spLocks noChangeAspect="1"/>
          </p:cNvSpPr>
          <p:nvPr userDrawn="1"/>
        </p:nvSpPr>
        <p:spPr>
          <a:xfrm>
            <a:off x="1016000" y="6665913"/>
            <a:ext cx="179388" cy="179387"/>
          </a:xfrm>
          <a:prstGeom prst="rect">
            <a:avLst/>
          </a:prstGeom>
          <a:solidFill>
            <a:srgbClr val="5BC1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F6F1D6-693A-3BA4-2BED-21882D0130BD}"/>
              </a:ext>
            </a:extLst>
          </p:cNvPr>
          <p:cNvSpPr>
            <a:spLocks noChangeAspect="1"/>
          </p:cNvSpPr>
          <p:nvPr userDrawn="1"/>
        </p:nvSpPr>
        <p:spPr>
          <a:xfrm>
            <a:off x="720725" y="6665913"/>
            <a:ext cx="179388" cy="179387"/>
          </a:xfrm>
          <a:prstGeom prst="rect">
            <a:avLst/>
          </a:prstGeom>
          <a:solidFill>
            <a:srgbClr val="009B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037E38-16CB-8D47-8BB1-164C5A370676}"/>
              </a:ext>
            </a:extLst>
          </p:cNvPr>
          <p:cNvSpPr>
            <a:spLocks noChangeAspect="1"/>
          </p:cNvSpPr>
          <p:nvPr userDrawn="1"/>
        </p:nvSpPr>
        <p:spPr>
          <a:xfrm>
            <a:off x="1311275" y="6665913"/>
            <a:ext cx="180975" cy="179387"/>
          </a:xfrm>
          <a:prstGeom prst="rect">
            <a:avLst/>
          </a:prstGeom>
          <a:solidFill>
            <a:srgbClr val="E5F5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6BAEB65-7A6A-5760-03BD-8B736BE2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D0741A-D53F-43E9-44E8-5B12F683A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405A4ED-965D-A914-ACBB-0960FB80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5500" y="6669088"/>
            <a:ext cx="698500" cy="18097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A4AE071-4E6B-431C-9759-AE2929E7EF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005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60B70B-E7B2-0EDD-EAAD-1D2E6D28F037}"/>
              </a:ext>
            </a:extLst>
          </p:cNvPr>
          <p:cNvSpPr/>
          <p:nvPr userDrawn="1"/>
        </p:nvSpPr>
        <p:spPr>
          <a:xfrm>
            <a:off x="0" y="6665913"/>
            <a:ext cx="9144000" cy="1920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5" tIns="45718" rIns="91435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7">
              <a:cs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8E77FB-B656-01B4-64EF-91492D1F3137}"/>
              </a:ext>
            </a:extLst>
          </p:cNvPr>
          <p:cNvSpPr/>
          <p:nvPr userDrawn="1"/>
        </p:nvSpPr>
        <p:spPr>
          <a:xfrm>
            <a:off x="0" y="25400"/>
            <a:ext cx="9144000" cy="576263"/>
          </a:xfrm>
          <a:prstGeom prst="rect">
            <a:avLst/>
          </a:prstGeom>
          <a:solidFill>
            <a:srgbClr val="005D9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5" name="燕尾形 9">
            <a:extLst>
              <a:ext uri="{FF2B5EF4-FFF2-40B4-BE49-F238E27FC236}">
                <a16:creationId xmlns:a16="http://schemas.microsoft.com/office/drawing/2014/main" id="{CC87B905-2B5D-60C9-E003-D300984B9761}"/>
              </a:ext>
            </a:extLst>
          </p:cNvPr>
          <p:cNvSpPr/>
          <p:nvPr userDrawn="1"/>
        </p:nvSpPr>
        <p:spPr bwMode="auto">
          <a:xfrm>
            <a:off x="188913" y="139700"/>
            <a:ext cx="206375" cy="349250"/>
          </a:xfrm>
          <a:prstGeom prst="chevron">
            <a:avLst>
              <a:gd name="adj" fmla="val 37480"/>
            </a:avLst>
          </a:prstGeom>
          <a:solidFill>
            <a:srgbClr val="E5F5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68580" tIns="34290" rIns="68580" bIns="34290"/>
          <a:lstStyle/>
          <a:p>
            <a:pPr defTabSz="685800">
              <a:buFont typeface="Arial" pitchFamily="34" charset="0"/>
              <a:buNone/>
              <a:defRPr/>
            </a:pPr>
            <a:endParaRPr lang="zh-CN" altLang="en-US" sz="1350">
              <a:latin typeface="Calibri" pitchFamily="34" charset="0"/>
            </a:endParaRPr>
          </a:p>
        </p:txBody>
      </p:sp>
      <p:sp>
        <p:nvSpPr>
          <p:cNvPr id="6" name="燕尾形 10">
            <a:extLst>
              <a:ext uri="{FF2B5EF4-FFF2-40B4-BE49-F238E27FC236}">
                <a16:creationId xmlns:a16="http://schemas.microsoft.com/office/drawing/2014/main" id="{C48C3B6D-3D3D-E813-4890-72D80DDDC67E}"/>
              </a:ext>
            </a:extLst>
          </p:cNvPr>
          <p:cNvSpPr/>
          <p:nvPr userDrawn="1"/>
        </p:nvSpPr>
        <p:spPr bwMode="auto">
          <a:xfrm>
            <a:off x="388938" y="141288"/>
            <a:ext cx="207962" cy="349250"/>
          </a:xfrm>
          <a:prstGeom prst="chevron">
            <a:avLst>
              <a:gd name="adj" fmla="val 37480"/>
            </a:avLst>
          </a:prstGeom>
          <a:solidFill>
            <a:srgbClr val="E5F5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68580" tIns="34290" rIns="68580" bIns="34290"/>
          <a:lstStyle/>
          <a:p>
            <a:pPr defTabSz="685800">
              <a:buFont typeface="Arial" pitchFamily="34" charset="0"/>
              <a:buNone/>
              <a:defRPr/>
            </a:pPr>
            <a:endParaRPr lang="zh-CN" altLang="en-US" sz="1350">
              <a:latin typeface="Calibri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0AD8A5-20C8-8099-4B91-CC961CD209FA}"/>
              </a:ext>
            </a:extLst>
          </p:cNvPr>
          <p:cNvSpPr>
            <a:spLocks noChangeAspect="1"/>
          </p:cNvSpPr>
          <p:nvPr userDrawn="1"/>
        </p:nvSpPr>
        <p:spPr>
          <a:xfrm>
            <a:off x="423863" y="6665913"/>
            <a:ext cx="180975" cy="179387"/>
          </a:xfrm>
          <a:prstGeom prst="rect">
            <a:avLst/>
          </a:prstGeom>
          <a:solidFill>
            <a:srgbClr val="005D9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284E4C-125C-3ADD-C2B7-DD6E453AC4ED}"/>
              </a:ext>
            </a:extLst>
          </p:cNvPr>
          <p:cNvSpPr>
            <a:spLocks noChangeAspect="1"/>
          </p:cNvSpPr>
          <p:nvPr userDrawn="1"/>
        </p:nvSpPr>
        <p:spPr>
          <a:xfrm>
            <a:off x="1016000" y="6665913"/>
            <a:ext cx="179388" cy="179387"/>
          </a:xfrm>
          <a:prstGeom prst="rect">
            <a:avLst/>
          </a:prstGeom>
          <a:solidFill>
            <a:srgbClr val="5BC1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7664F7-CC1C-B3C8-363A-63C2195BD4F9}"/>
              </a:ext>
            </a:extLst>
          </p:cNvPr>
          <p:cNvSpPr>
            <a:spLocks noChangeAspect="1"/>
          </p:cNvSpPr>
          <p:nvPr userDrawn="1"/>
        </p:nvSpPr>
        <p:spPr>
          <a:xfrm>
            <a:off x="720725" y="6665913"/>
            <a:ext cx="179388" cy="179387"/>
          </a:xfrm>
          <a:prstGeom prst="rect">
            <a:avLst/>
          </a:prstGeom>
          <a:solidFill>
            <a:srgbClr val="009BF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A4716D-20B4-F656-CCBB-0F9B45D3C8CA}"/>
              </a:ext>
            </a:extLst>
          </p:cNvPr>
          <p:cNvSpPr>
            <a:spLocks noChangeAspect="1"/>
          </p:cNvSpPr>
          <p:nvPr userDrawn="1"/>
        </p:nvSpPr>
        <p:spPr>
          <a:xfrm>
            <a:off x="1311275" y="6665913"/>
            <a:ext cx="180975" cy="179387"/>
          </a:xfrm>
          <a:prstGeom prst="rect">
            <a:avLst/>
          </a:prstGeom>
          <a:solidFill>
            <a:srgbClr val="E5F5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pic>
        <p:nvPicPr>
          <p:cNvPr id="11" name="图片 15">
            <a:extLst>
              <a:ext uri="{FF2B5EF4-FFF2-40B4-BE49-F238E27FC236}">
                <a16:creationId xmlns:a16="http://schemas.microsoft.com/office/drawing/2014/main" id="{3A7CC752-7E08-0A6A-84F9-EB6494A5D7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42"/>
          <a:stretch>
            <a:fillRect/>
          </a:stretch>
        </p:blipFill>
        <p:spPr bwMode="auto">
          <a:xfrm>
            <a:off x="7200900" y="25400"/>
            <a:ext cx="1943100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914" y="52628"/>
            <a:ext cx="6341311" cy="523878"/>
          </a:xfrm>
          <a:noFill/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7CEC513-602E-2A5D-B510-25BEB3DC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E7ED357-3D53-753A-FE43-C3C944034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3A3CB3C-89F9-459B-456E-B5D98092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5500" y="6651625"/>
            <a:ext cx="698500" cy="2159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>
            <a:noAutofit/>
          </a:bodyPr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4395554-4F17-4EC5-94A9-AD937570BF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5847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E7C420B-F986-A644-1731-B7850D9C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6AA4026-23EF-330C-807B-E1560B8A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63152DB-805B-0574-EE49-D9BFC046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E6ECD-3799-4F3A-B42C-BC896BEB4A1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48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0C6938D-F9CF-9919-572F-ED3BC1256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2434BBF-67F5-77A5-4F51-748D2086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0C6EF0-3D68-5657-49C0-1A06891E8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42BD6-4EAB-4705-A9D7-A62247C1913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054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FC08E-6481-EEAD-B671-34959D82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2AC20-F9CB-926F-444E-2DC7A160C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83790-17EF-7F18-F050-56AD65FC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193AF-0D49-453A-9574-CA9A2AC223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22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97BB2FF5-FE22-D30F-C72A-E95FAFA5BA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7525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2332F6-EBAE-2FE0-977C-E1C99D17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0124E0-FDA9-ED9B-9D0D-A4D12E39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9E633E-DC6C-56CB-BC68-A0295891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9DE4F-7900-4ABF-8201-80605C6BFB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545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>
            <a:extLst>
              <a:ext uri="{FF2B5EF4-FFF2-40B4-BE49-F238E27FC236}">
                <a16:creationId xmlns:a16="http://schemas.microsoft.com/office/drawing/2014/main" id="{79EBDEC7-6769-26B5-BBBC-ED35638CDC31}"/>
              </a:ext>
            </a:extLst>
          </p:cNvPr>
          <p:cNvSpPr/>
          <p:nvPr userDrawn="1"/>
        </p:nvSpPr>
        <p:spPr>
          <a:xfrm rot="16200000">
            <a:off x="238919" y="113506"/>
            <a:ext cx="812800" cy="801688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图片 7">
            <a:extLst>
              <a:ext uri="{FF2B5EF4-FFF2-40B4-BE49-F238E27FC236}">
                <a16:creationId xmlns:a16="http://schemas.microsoft.com/office/drawing/2014/main" id="{6A2294E7-3D0E-614B-6EE8-257762A483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3"/>
          <a:stretch>
            <a:fillRect/>
          </a:stretch>
        </p:blipFill>
        <p:spPr bwMode="auto">
          <a:xfrm>
            <a:off x="296863" y="195263"/>
            <a:ext cx="61912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72A7931-58F7-0C1A-CDEC-C07217633794}"/>
              </a:ext>
            </a:extLst>
          </p:cNvPr>
          <p:cNvSpPr/>
          <p:nvPr userDrawn="1"/>
        </p:nvSpPr>
        <p:spPr>
          <a:xfrm>
            <a:off x="71438" y="107950"/>
            <a:ext cx="112712" cy="8128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流程图: 过程 8">
            <a:extLst>
              <a:ext uri="{FF2B5EF4-FFF2-40B4-BE49-F238E27FC236}">
                <a16:creationId xmlns:a16="http://schemas.microsoft.com/office/drawing/2014/main" id="{08901A33-8630-8462-C671-A50CF04F8A76}"/>
              </a:ext>
            </a:extLst>
          </p:cNvPr>
          <p:cNvSpPr/>
          <p:nvPr userDrawn="1"/>
        </p:nvSpPr>
        <p:spPr>
          <a:xfrm rot="5400000" flipH="1">
            <a:off x="7636669" y="5350669"/>
            <a:ext cx="325437" cy="268922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6D46E8-D731-09AE-6551-07782D273DA0}"/>
              </a:ext>
            </a:extLst>
          </p:cNvPr>
          <p:cNvSpPr/>
          <p:nvPr userDrawn="1"/>
        </p:nvSpPr>
        <p:spPr>
          <a:xfrm>
            <a:off x="6669088" y="6602413"/>
            <a:ext cx="2420937" cy="219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</a:t>
            </a: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FD73BBF5-718F-02EF-45FA-4CCF4A518F4B}"/>
              </a:ext>
            </a:extLst>
          </p:cNvPr>
          <p:cNvSpPr/>
          <p:nvPr userDrawn="1"/>
        </p:nvSpPr>
        <p:spPr>
          <a:xfrm rot="5400000">
            <a:off x="3302794" y="3383756"/>
            <a:ext cx="171450" cy="6777038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日期占位符 12">
            <a:extLst>
              <a:ext uri="{FF2B5EF4-FFF2-40B4-BE49-F238E27FC236}">
                <a16:creationId xmlns:a16="http://schemas.microsoft.com/office/drawing/2014/main" id="{2D8CBAA2-8143-0AC0-73EB-F3CC83CE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页脚占位符 13">
            <a:extLst>
              <a:ext uri="{FF2B5EF4-FFF2-40B4-BE49-F238E27FC236}">
                <a16:creationId xmlns:a16="http://schemas.microsoft.com/office/drawing/2014/main" id="{F5C1D5D3-7A37-856B-752E-98788970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14">
            <a:extLst>
              <a:ext uri="{FF2B5EF4-FFF2-40B4-BE49-F238E27FC236}">
                <a16:creationId xmlns:a16="http://schemas.microsoft.com/office/drawing/2014/main" id="{B912BA1F-D6AD-91AB-FC65-228C659A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16700" y="6503988"/>
            <a:ext cx="20574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06BA6B4-A966-43E0-9A7B-C5FFF9DE77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3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>
            <a:extLst>
              <a:ext uri="{FF2B5EF4-FFF2-40B4-BE49-F238E27FC236}">
                <a16:creationId xmlns:a16="http://schemas.microsoft.com/office/drawing/2014/main" id="{6BE2E8CE-6FC6-6E98-EE98-BA078664F0C6}"/>
              </a:ext>
            </a:extLst>
          </p:cNvPr>
          <p:cNvSpPr/>
          <p:nvPr userDrawn="1"/>
        </p:nvSpPr>
        <p:spPr>
          <a:xfrm rot="16200000">
            <a:off x="238919" y="113506"/>
            <a:ext cx="812800" cy="801688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3" name="图片 7">
            <a:extLst>
              <a:ext uri="{FF2B5EF4-FFF2-40B4-BE49-F238E27FC236}">
                <a16:creationId xmlns:a16="http://schemas.microsoft.com/office/drawing/2014/main" id="{5A86721D-DFDD-3409-5DD7-5844CD2AC1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3"/>
          <a:stretch>
            <a:fillRect/>
          </a:stretch>
        </p:blipFill>
        <p:spPr bwMode="auto">
          <a:xfrm>
            <a:off x="296863" y="195263"/>
            <a:ext cx="61912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3868165-3192-0163-6B36-C38E9A93B33B}"/>
              </a:ext>
            </a:extLst>
          </p:cNvPr>
          <p:cNvSpPr/>
          <p:nvPr userDrawn="1"/>
        </p:nvSpPr>
        <p:spPr>
          <a:xfrm>
            <a:off x="71438" y="107950"/>
            <a:ext cx="112712" cy="8128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流程图: 过程 8">
            <a:extLst>
              <a:ext uri="{FF2B5EF4-FFF2-40B4-BE49-F238E27FC236}">
                <a16:creationId xmlns:a16="http://schemas.microsoft.com/office/drawing/2014/main" id="{CD836801-7CD4-9C7B-10EE-EADED05B1805}"/>
              </a:ext>
            </a:extLst>
          </p:cNvPr>
          <p:cNvSpPr/>
          <p:nvPr userDrawn="1"/>
        </p:nvSpPr>
        <p:spPr>
          <a:xfrm rot="5400000" flipH="1">
            <a:off x="7636669" y="5350669"/>
            <a:ext cx="325437" cy="268922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6E3D2E-CD4D-8340-7477-BD48573B98CF}"/>
              </a:ext>
            </a:extLst>
          </p:cNvPr>
          <p:cNvSpPr/>
          <p:nvPr userDrawn="1"/>
        </p:nvSpPr>
        <p:spPr>
          <a:xfrm>
            <a:off x="6669088" y="6602413"/>
            <a:ext cx="2420937" cy="219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</a:t>
            </a: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4AB675A2-60C1-1D33-33C2-2BC6229B4F44}"/>
              </a:ext>
            </a:extLst>
          </p:cNvPr>
          <p:cNvSpPr/>
          <p:nvPr userDrawn="1"/>
        </p:nvSpPr>
        <p:spPr>
          <a:xfrm rot="5400000">
            <a:off x="3302794" y="3383756"/>
            <a:ext cx="171450" cy="6777038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51938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01F722-4D99-E4EE-A5E9-61896BF2A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BECFB-F1FF-04E2-D47C-D9C45715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E2F283-2130-5FA0-767A-93564B55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50BA6-7616-48B1-95E9-491437EB98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71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BED9C36-1A2F-2A01-4C09-A97B07A4A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9B79E1A-C0E5-32BC-FC68-10A214AE2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42228C9-11BF-AEF0-B380-86DCFDA1D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314B68-8220-4077-B99D-83B6DCE68FD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203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0AB819A6-DB5D-1E58-766A-9215B1718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EEB3C580-7142-4EE9-0DB3-57072B08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68247E0-2F60-EAF9-9AB8-A95329A9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B81D8-F5E5-4858-9295-73A3FFDC6F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374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16F8C595-7B56-4BCD-B961-44780E52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A387435-2B7A-B254-CE07-E20F6FE52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0B635A9-6221-8B5F-E1CA-4A635932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1972D-631F-4F10-B25B-CC264083D3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254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4C28EA4-0B5D-E0A6-6215-F3392E050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D5A1276F-3351-570B-E857-1990E5C13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1BEC1D1-77C6-780A-1DF6-980E4665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71D68D-7A13-4D07-B0A3-B946D44775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585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2D20A45-4E7E-D8ED-14B2-AFE22B54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1C625A8-21FD-8952-9D4A-5DC36508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C7BC4F3-16D0-4254-2AEE-ABF48D677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AE915-E98A-4D65-896B-B791EEB7A5E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900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DC416A0-E39B-BAB6-1171-2E9DA42C7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12579AA-3F0B-4D3F-BD45-9C9360475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7622C72-B6B9-32BA-211C-0B83CAFF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96918C-CAC7-48AF-AE23-915A9E1E8A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486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CC2CC9-440C-4695-B40B-1EE5A3902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FA65CF-41A8-96A8-AD4A-BD215C626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9B626-6BDC-44CA-7265-9E020A92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DAD3A-4A11-4094-BB1E-C9572ECC0E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0653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BF99B-B4AD-D23F-960C-90C7C899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D53B8C-8625-D18C-377B-5EA6BB8A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7B106-F34A-F6F9-61EF-0DD5A6B23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70B99-BCB9-4291-BFF5-0C8E42E242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9582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48E53AB3-60B4-5064-E995-CAD7897C78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32145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C4BCE0-4291-8CBB-6EB3-1FA6BAE8E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D0B763-B852-BD40-FC4A-B8557997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85D0F0-C90E-3549-3AE6-142BC5BE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19850"/>
            <a:ext cx="20574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3961C1-DE3E-4484-A2FB-21386F02E8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2657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>
            <a:extLst>
              <a:ext uri="{FF2B5EF4-FFF2-40B4-BE49-F238E27FC236}">
                <a16:creationId xmlns:a16="http://schemas.microsoft.com/office/drawing/2014/main" id="{01D155EC-E84A-DBCD-7B70-0FC4B41FD8BC}"/>
              </a:ext>
            </a:extLst>
          </p:cNvPr>
          <p:cNvSpPr/>
          <p:nvPr userDrawn="1"/>
        </p:nvSpPr>
        <p:spPr>
          <a:xfrm rot="16200000">
            <a:off x="238919" y="113506"/>
            <a:ext cx="812800" cy="801688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326571 w 661307"/>
              <a:gd name="connsiteY3" fmla="*/ 718457 h 726621"/>
              <a:gd name="connsiteX4" fmla="*/ 0 w 661307"/>
              <a:gd name="connsiteY4" fmla="*/ 726621 h 726621"/>
              <a:gd name="connsiteX5" fmla="*/ 0 w 661307"/>
              <a:gd name="connsiteY5" fmla="*/ 0 h 72662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5106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8406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10242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  <a:gd name="connsiteX0" fmla="*/ 0 w 661307"/>
              <a:gd name="connsiteY0" fmla="*/ 0 h 898071"/>
              <a:gd name="connsiteX1" fmla="*/ 661307 w 661307"/>
              <a:gd name="connsiteY1" fmla="*/ 0 h 898071"/>
              <a:gd name="connsiteX2" fmla="*/ 661307 w 661307"/>
              <a:gd name="connsiteY2" fmla="*/ 726621 h 898071"/>
              <a:gd name="connsiteX3" fmla="*/ 331673 w 661307"/>
              <a:gd name="connsiteY3" fmla="*/ 898071 h 898071"/>
              <a:gd name="connsiteX4" fmla="*/ 0 w 661307"/>
              <a:gd name="connsiteY4" fmla="*/ 726621 h 898071"/>
              <a:gd name="connsiteX5" fmla="*/ 0 w 661307"/>
              <a:gd name="connsiteY5" fmla="*/ 0 h 898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3" name="图片 7">
            <a:extLst>
              <a:ext uri="{FF2B5EF4-FFF2-40B4-BE49-F238E27FC236}">
                <a16:creationId xmlns:a16="http://schemas.microsoft.com/office/drawing/2014/main" id="{EFC928B2-27FF-E8D0-FB5E-B3FF83ADB9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3"/>
          <a:stretch>
            <a:fillRect/>
          </a:stretch>
        </p:blipFill>
        <p:spPr bwMode="auto">
          <a:xfrm>
            <a:off x="296863" y="195263"/>
            <a:ext cx="619125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285AEEB-FB78-93A6-15EE-7FF44E740170}"/>
              </a:ext>
            </a:extLst>
          </p:cNvPr>
          <p:cNvSpPr/>
          <p:nvPr userDrawn="1"/>
        </p:nvSpPr>
        <p:spPr>
          <a:xfrm>
            <a:off x="71438" y="107950"/>
            <a:ext cx="112712" cy="8128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流程图: 过程 8">
            <a:extLst>
              <a:ext uri="{FF2B5EF4-FFF2-40B4-BE49-F238E27FC236}">
                <a16:creationId xmlns:a16="http://schemas.microsoft.com/office/drawing/2014/main" id="{5AEC7FA7-19DC-DCF6-BD04-F4D27CAB0876}"/>
              </a:ext>
            </a:extLst>
          </p:cNvPr>
          <p:cNvSpPr/>
          <p:nvPr userDrawn="1"/>
        </p:nvSpPr>
        <p:spPr>
          <a:xfrm rot="5400000" flipH="1">
            <a:off x="7636669" y="5350669"/>
            <a:ext cx="325437" cy="268922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CFF85C-EF4E-DEE2-E82A-2E109D494047}"/>
              </a:ext>
            </a:extLst>
          </p:cNvPr>
          <p:cNvSpPr/>
          <p:nvPr userDrawn="1"/>
        </p:nvSpPr>
        <p:spPr>
          <a:xfrm>
            <a:off x="6669088" y="6602413"/>
            <a:ext cx="2420937" cy="219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046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</a:t>
            </a: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01E7CFE2-729C-5D4D-70BE-DEB3831DF250}"/>
              </a:ext>
            </a:extLst>
          </p:cNvPr>
          <p:cNvSpPr/>
          <p:nvPr userDrawn="1"/>
        </p:nvSpPr>
        <p:spPr>
          <a:xfrm rot="5400000">
            <a:off x="3302794" y="3383756"/>
            <a:ext cx="171450" cy="6777038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45"/>
          </a:p>
        </p:txBody>
      </p:sp>
    </p:spTree>
    <p:extLst>
      <p:ext uri="{BB962C8B-B14F-4D97-AF65-F5344CB8AC3E}">
        <p14:creationId xmlns:p14="http://schemas.microsoft.com/office/powerpoint/2010/main" val="5453141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915F3A98-7E59-8803-CF9D-E727B317C8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694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4AB27A-1EE3-E1AB-8A72-D284CABCB03C}"/>
              </a:ext>
            </a:extLst>
          </p:cNvPr>
          <p:cNvSpPr/>
          <p:nvPr userDrawn="1"/>
        </p:nvSpPr>
        <p:spPr>
          <a:xfrm>
            <a:off x="0" y="360363"/>
            <a:ext cx="3240088" cy="53975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C46788-E02F-3616-3064-115030485B99}"/>
              </a:ext>
            </a:extLst>
          </p:cNvPr>
          <p:cNvSpPr/>
          <p:nvPr userDrawn="1"/>
        </p:nvSpPr>
        <p:spPr>
          <a:xfrm>
            <a:off x="5905500" y="360363"/>
            <a:ext cx="3240088" cy="53975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0DBC26-890D-AB9D-9994-5FFAD771B3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02872" y="0"/>
            <a:ext cx="2387241" cy="83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24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153173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E57F40DF-C1EB-DCCC-1EAA-2F724C623D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9" t="140" r="-478" b="11636"/>
          <a:stretch>
            <a:fillRect/>
          </a:stretch>
        </p:blipFill>
        <p:spPr bwMode="auto">
          <a:xfrm>
            <a:off x="-14288" y="0"/>
            <a:ext cx="9201151" cy="55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14B9A8B-6EEB-4130-EC88-5F2EF1E32830}"/>
              </a:ext>
            </a:extLst>
          </p:cNvPr>
          <p:cNvSpPr/>
          <p:nvPr userDrawn="1"/>
        </p:nvSpPr>
        <p:spPr>
          <a:xfrm>
            <a:off x="0" y="0"/>
            <a:ext cx="9085263" cy="5529263"/>
          </a:xfrm>
          <a:prstGeom prst="rect">
            <a:avLst/>
          </a:prstGeom>
          <a:solidFill>
            <a:srgbClr val="384A5A">
              <a:alpha val="5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图片 8">
            <a:extLst>
              <a:ext uri="{FF2B5EF4-FFF2-40B4-BE49-F238E27FC236}">
                <a16:creationId xmlns:a16="http://schemas.microsoft.com/office/drawing/2014/main" id="{4CEC245C-6FF7-376E-5DE9-0309A11E6D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725" y="-79375"/>
            <a:ext cx="270827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3068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过程 1">
            <a:extLst>
              <a:ext uri="{FF2B5EF4-FFF2-40B4-BE49-F238E27FC236}">
                <a16:creationId xmlns:a16="http://schemas.microsoft.com/office/drawing/2014/main" id="{A8C12623-FCF0-A707-6C01-AAF1AABD3280}"/>
              </a:ext>
            </a:extLst>
          </p:cNvPr>
          <p:cNvSpPr/>
          <p:nvPr userDrawn="1"/>
        </p:nvSpPr>
        <p:spPr>
          <a:xfrm rot="5400000">
            <a:off x="-47625" y="263525"/>
            <a:ext cx="739775" cy="644525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流程图: 过程 2">
            <a:extLst>
              <a:ext uri="{FF2B5EF4-FFF2-40B4-BE49-F238E27FC236}">
                <a16:creationId xmlns:a16="http://schemas.microsoft.com/office/drawing/2014/main" id="{DDE76993-EAF9-4D9F-9B87-960B9991F801}"/>
              </a:ext>
            </a:extLst>
          </p:cNvPr>
          <p:cNvSpPr/>
          <p:nvPr userDrawn="1"/>
        </p:nvSpPr>
        <p:spPr>
          <a:xfrm rot="5400000">
            <a:off x="440531" y="523082"/>
            <a:ext cx="739775" cy="125412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流程图: 过程 3">
            <a:extLst>
              <a:ext uri="{FF2B5EF4-FFF2-40B4-BE49-F238E27FC236}">
                <a16:creationId xmlns:a16="http://schemas.microsoft.com/office/drawing/2014/main" id="{BC6AE231-D557-CA06-BA7C-89CA5F1527F5}"/>
              </a:ext>
            </a:extLst>
          </p:cNvPr>
          <p:cNvSpPr/>
          <p:nvPr userDrawn="1"/>
        </p:nvSpPr>
        <p:spPr>
          <a:xfrm rot="5400000">
            <a:off x="4486275" y="2200275"/>
            <a:ext cx="171450" cy="9144000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流程图: 过程 8">
            <a:extLst>
              <a:ext uri="{FF2B5EF4-FFF2-40B4-BE49-F238E27FC236}">
                <a16:creationId xmlns:a16="http://schemas.microsoft.com/office/drawing/2014/main" id="{ED0F82A9-621A-8802-06FF-EB384B0BF3FB}"/>
              </a:ext>
            </a:extLst>
          </p:cNvPr>
          <p:cNvSpPr/>
          <p:nvPr userDrawn="1"/>
        </p:nvSpPr>
        <p:spPr>
          <a:xfrm rot="5400000" flipH="1">
            <a:off x="8183563" y="5849938"/>
            <a:ext cx="328612" cy="159226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474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75"/>
              <a:gd name="connsiteY0" fmla="*/ 0 h 10000"/>
              <a:gd name="connsiteX1" fmla="*/ 10000 w 10075"/>
              <a:gd name="connsiteY1" fmla="*/ 0 h 10000"/>
              <a:gd name="connsiteX2" fmla="*/ 10028 w 10075"/>
              <a:gd name="connsiteY2" fmla="*/ 8891 h 10000"/>
              <a:gd name="connsiteX3" fmla="*/ 0 w 10075"/>
              <a:gd name="connsiteY3" fmla="*/ 10000 h 10000"/>
              <a:gd name="connsiteX4" fmla="*/ 0 w 10075"/>
              <a:gd name="connsiteY4" fmla="*/ 0 h 10000"/>
              <a:gd name="connsiteX0" fmla="*/ 0 w 10335"/>
              <a:gd name="connsiteY0" fmla="*/ 0 h 10000"/>
              <a:gd name="connsiteX1" fmla="*/ 10000 w 10335"/>
              <a:gd name="connsiteY1" fmla="*/ 0 h 10000"/>
              <a:gd name="connsiteX2" fmla="*/ 10305 w 10335"/>
              <a:gd name="connsiteY2" fmla="*/ 8891 h 10000"/>
              <a:gd name="connsiteX3" fmla="*/ 0 w 10335"/>
              <a:gd name="connsiteY3" fmla="*/ 10000 h 10000"/>
              <a:gd name="connsiteX4" fmla="*/ 0 w 10335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9751 w 10000"/>
              <a:gd name="connsiteY2" fmla="*/ 9062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6" name="图片 10">
            <a:extLst>
              <a:ext uri="{FF2B5EF4-FFF2-40B4-BE49-F238E27FC236}">
                <a16:creationId xmlns:a16="http://schemas.microsoft.com/office/drawing/2014/main" id="{0A273A45-BE22-E4F9-405D-7C8674A48D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7" r="53951"/>
          <a:stretch>
            <a:fillRect/>
          </a:stretch>
        </p:blipFill>
        <p:spPr bwMode="auto">
          <a:xfrm>
            <a:off x="7829550" y="6523038"/>
            <a:ext cx="115411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251764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>
            <a:extLst>
              <a:ext uri="{FF2B5EF4-FFF2-40B4-BE49-F238E27FC236}">
                <a16:creationId xmlns:a16="http://schemas.microsoft.com/office/drawing/2014/main" id="{803FAB3C-3315-2279-6C94-813EE9F05C2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AF6C78E0-6F49-3F44-F8F4-4F741E6AEFB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2AC1EF6D-0C9B-04A8-9352-4FF971B6E2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76744-2B1B-A427-4B39-52C3C2F35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0DABF-038F-8863-ACE6-609B0FD47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06F7E-2549-388F-D21D-44422D6E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93DB58-5761-43E1-8484-E1DD8719C7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4" r:id="rId1"/>
    <p:sldLayoutId id="2147484675" r:id="rId2"/>
    <p:sldLayoutId id="2147484661" r:id="rId3"/>
    <p:sldLayoutId id="2147484662" r:id="rId4"/>
    <p:sldLayoutId id="2147484663" r:id="rId5"/>
    <p:sldLayoutId id="2147484676" r:id="rId6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微软雅黑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微软雅黑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微软雅黑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微软雅黑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Microsoft YaHei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Microsoft YaHei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Microsoft YaHei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Georgia" panose="02040502050405020303" pitchFamily="18" charset="0"/>
          <a:ea typeface="Microsoft YaHei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5B60D712-6C87-431F-FF6F-57BDF2620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801F8FD8-6DAA-812D-B63B-2C516A699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523658-AAA7-48AD-2ED3-B1895BDD2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90033A-2A85-D8F4-F8C7-EBE40D0B9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55AECE-9649-76EC-19CD-357DFDBE2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AE72212-AC34-4047-A42E-74053471D6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64" r:id="rId1"/>
    <p:sldLayoutId id="2147484677" r:id="rId2"/>
    <p:sldLayoutId id="2147484678" r:id="rId3"/>
    <p:sldLayoutId id="2147484665" r:id="rId4"/>
    <p:sldLayoutId id="2147484666" r:id="rId5"/>
    <p:sldLayoutId id="2147484667" r:id="rId6"/>
    <p:sldLayoutId id="2147484668" r:id="rId7"/>
    <p:sldLayoutId id="2147484669" r:id="rId8"/>
    <p:sldLayoutId id="2147484670" r:id="rId9"/>
    <p:sldLayoutId id="2147484671" r:id="rId10"/>
    <p:sldLayoutId id="2147484672" r:id="rId11"/>
    <p:sldLayoutId id="2147484673" r:id="rId12"/>
    <p:sldLayoutId id="2147484679" r:id="rId13"/>
    <p:sldLayoutId id="2147484680" r:id="rId14"/>
    <p:sldLayoutId id="2147484681" r:id="rId15"/>
    <p:sldLayoutId id="2147484682" r:id="rId16"/>
    <p:sldLayoutId id="2147484683" r:id="rId17"/>
    <p:sldLayoutId id="2147484684" r:id="rId18"/>
    <p:sldLayoutId id="2147484685" r:id="rId19"/>
    <p:sldLayoutId id="2147484686" r:id="rId20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4E70A8C5-6991-1E29-D9B8-48B024AEE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t="6494" r="23326" b="24977"/>
          <a:stretch>
            <a:fillRect/>
          </a:stretch>
        </p:blipFill>
        <p:spPr bwMode="auto">
          <a:xfrm>
            <a:off x="6003925" y="4075113"/>
            <a:ext cx="3140075" cy="27828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4BDD6AB-B852-C2C7-4F03-D560409A1BC0}"/>
              </a:ext>
            </a:extLst>
          </p:cNvPr>
          <p:cNvSpPr/>
          <p:nvPr/>
        </p:nvSpPr>
        <p:spPr>
          <a:xfrm>
            <a:off x="517525" y="1828800"/>
            <a:ext cx="8108950" cy="19399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>
                <a:solidFill>
                  <a:prstClr val="black"/>
                </a:solidFill>
                <a:latin typeface="黑体"/>
                <a:ea typeface="黑体"/>
              </a:rPr>
              <a:t>短距离无线通信专题实验</a:t>
            </a:r>
            <a:endParaRPr lang="en-US" altLang="zh-CN" sz="4800" dirty="0">
              <a:solidFill>
                <a:prstClr val="black"/>
              </a:solidFill>
              <a:latin typeface="黑体"/>
              <a:ea typeface="黑体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</a:rPr>
              <a:t>实验</a:t>
            </a:r>
            <a:r>
              <a:rPr lang="en-US" altLang="zh-CN" sz="3600" dirty="0">
                <a:solidFill>
                  <a:prstClr val="black"/>
                </a:solidFill>
                <a:latin typeface="宋体" panose="02010600030101010101" pitchFamily="2" charset="-122"/>
              </a:rPr>
              <a:t>5—</a:t>
            </a: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</a:rPr>
              <a:t>基于</a:t>
            </a:r>
            <a:r>
              <a:rPr lang="en-US" altLang="zh-CN" sz="3600" dirty="0" err="1">
                <a:solidFill>
                  <a:prstClr val="black"/>
                </a:solidFill>
                <a:latin typeface="宋体" panose="02010600030101010101" pitchFamily="2" charset="-122"/>
              </a:rPr>
              <a:t>WiFi</a:t>
            </a: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3600" dirty="0">
                <a:solidFill>
                  <a:prstClr val="black"/>
                </a:solidFill>
                <a:latin typeface="宋体" panose="02010600030101010101" pitchFamily="2" charset="-122"/>
              </a:rPr>
              <a:t>UDP</a:t>
            </a: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3600" dirty="0">
                <a:solidFill>
                  <a:prstClr val="black"/>
                </a:solidFill>
                <a:latin typeface="宋体" panose="02010600030101010101" pitchFamily="2" charset="-122"/>
              </a:rPr>
              <a:t>TCP</a:t>
            </a:r>
            <a:r>
              <a:rPr lang="zh-CN" altLang="en-US" sz="3600" dirty="0">
                <a:solidFill>
                  <a:prstClr val="black"/>
                </a:solidFill>
                <a:latin typeface="宋体" panose="02010600030101010101" pitchFamily="2" charset="-122"/>
              </a:rPr>
              <a:t>传输</a:t>
            </a:r>
            <a:r>
              <a:rPr lang="en-US" altLang="zh-CN" sz="3600" dirty="0">
                <a:solidFill>
                  <a:prstClr val="black"/>
                </a:solidFill>
                <a:latin typeface="宋体" panose="02010600030101010101" pitchFamily="2" charset="-122"/>
              </a:rPr>
              <a:t>2</a:t>
            </a:r>
            <a:endParaRPr lang="zh-CN" altLang="en-US" sz="3600" dirty="0">
              <a:solidFill>
                <a:prstClr val="black"/>
              </a:solidFill>
              <a:latin typeface="宋体" panose="02010600030101010101" pitchFamily="2" charset="-122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D8CE08-F5DF-C921-E3E3-079DD5C2FCF8}"/>
              </a:ext>
            </a:extLst>
          </p:cNvPr>
          <p:cNvSpPr/>
          <p:nvPr/>
        </p:nvSpPr>
        <p:spPr>
          <a:xfrm>
            <a:off x="1620838" y="4162425"/>
            <a:ext cx="6254750" cy="1422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教师：电信学部信通学院陈伟</a:t>
            </a:r>
            <a:endParaRPr kumimoji="1" lang="en-US" altLang="zh-CN" sz="2400" dirty="0">
              <a:solidFill>
                <a:prstClr val="black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邮箱：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chw@mail.xjtu.edu.cn</a:t>
            </a:r>
            <a:r>
              <a:rPr kumimoji="1" lang="en-US" altLang="zh-CN" sz="28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kumimoji="1"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办公室：西一楼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529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55C2F52-3AD0-6D1D-7D9F-6C9F44511F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8000" y="72000"/>
            <a:ext cx="3088800" cy="1085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 descr="selected_powerpoint_bg_2.jpg">
            <a:extLst>
              <a:ext uri="{FF2B5EF4-FFF2-40B4-BE49-F238E27FC236}">
                <a16:creationId xmlns:a16="http://schemas.microsoft.com/office/drawing/2014/main" id="{8A0BC7CF-8C25-F28B-00B8-F945A2934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文本框 1">
            <a:extLst>
              <a:ext uri="{FF2B5EF4-FFF2-40B4-BE49-F238E27FC236}">
                <a16:creationId xmlns:a16="http://schemas.microsoft.com/office/drawing/2014/main" id="{D187E912-9D78-9B64-5EDB-42BF1571D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8613" y="1262063"/>
            <a:ext cx="6223000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latin typeface="Arial" panose="020B0604020202020204" pitchFamily="34" charset="0"/>
                <a:ea typeface="宋体" panose="02010600030101010101" pitchFamily="2" charset="-122"/>
              </a:rPr>
              <a:t>单片机系统软件编程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1.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含操作系统（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linux/andriod/RTOS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2.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不含操作系统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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前后台系统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 中断（事件）驱动系统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 巡回服务系统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 基于定时器的巡回服务系统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6" descr="selected_powerpoint_bg_2.jpg">
            <a:extLst>
              <a:ext uri="{FF2B5EF4-FFF2-40B4-BE49-F238E27FC236}">
                <a16:creationId xmlns:a16="http://schemas.microsoft.com/office/drawing/2014/main" id="{6943742F-B1E3-E79B-EC7E-B068E89DC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文本框 1">
            <a:extLst>
              <a:ext uri="{FF2B5EF4-FFF2-40B4-BE49-F238E27FC236}">
                <a16:creationId xmlns:a16="http://schemas.microsoft.com/office/drawing/2014/main" id="{DED27998-5FA3-2975-A23E-BB1D813DF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3" y="95250"/>
            <a:ext cx="3448050" cy="609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Arial" panose="020B0604020202020204" pitchFamily="34" charset="0"/>
                <a:ea typeface="宋体" panose="02010600030101010101" pitchFamily="2" charset="-122"/>
              </a:rPr>
              <a:t>前后台系统软件程序表现形式：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Arial" panose="020B0604020202020204" pitchFamily="34" charset="0"/>
                <a:ea typeface="宋体" panose="02010600030101010101" pitchFamily="2" charset="-122"/>
              </a:rPr>
              <a:t>前台：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isr1()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   .....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isr2()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  .....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后台：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while(1)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task1();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task2();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task3();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   task4();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   .......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}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9460" name="图片 4">
            <a:extLst>
              <a:ext uri="{FF2B5EF4-FFF2-40B4-BE49-F238E27FC236}">
                <a16:creationId xmlns:a16="http://schemas.microsoft.com/office/drawing/2014/main" id="{A4DFBB9F-4FFC-5B99-1DFE-8DCA9275E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2830513"/>
            <a:ext cx="6715125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文本框 5">
            <a:extLst>
              <a:ext uri="{FF2B5EF4-FFF2-40B4-BE49-F238E27FC236}">
                <a16:creationId xmlns:a16="http://schemas.microsoft.com/office/drawing/2014/main" id="{98523FB0-6BC5-F277-7D95-43587E881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4588" y="1295400"/>
            <a:ext cx="2336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Arial" panose="020B0604020202020204" pitchFamily="34" charset="0"/>
                <a:ea typeface="宋体" panose="02010600030101010101" pitchFamily="2" charset="-122"/>
              </a:rPr>
              <a:t>前后台系统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Arial" panose="020B0604020202020204" pitchFamily="34" charset="0"/>
                <a:ea typeface="宋体" panose="02010600030101010101" pitchFamily="2" charset="-122"/>
              </a:rPr>
              <a:t>（超级循环系统）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6" descr="selected_powerpoint_bg_2.jpg">
            <a:extLst>
              <a:ext uri="{FF2B5EF4-FFF2-40B4-BE49-F238E27FC236}">
                <a16:creationId xmlns:a16="http://schemas.microsoft.com/office/drawing/2014/main" id="{53350ECD-061F-1D2E-EC16-E9383AEC0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文本框 1">
            <a:extLst>
              <a:ext uri="{FF2B5EF4-FFF2-40B4-BE49-F238E27FC236}">
                <a16:creationId xmlns:a16="http://schemas.microsoft.com/office/drawing/2014/main" id="{BD685915-7CAD-7A68-0002-E5C16A210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575" y="4241800"/>
            <a:ext cx="40894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 中断（事件）驱动系统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中断服务程序：外部事件发生时进入中断程序，执行相关的处理，处理完成后回到低功耗状态。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Isr_1() /* 其中的一个中断服务程序*/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/* to do:处理中断事件 */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0484" name="文本框 3">
            <a:extLst>
              <a:ext uri="{FF2B5EF4-FFF2-40B4-BE49-F238E27FC236}">
                <a16:creationId xmlns:a16="http://schemas.microsoft.com/office/drawing/2014/main" id="{977BE016-4FAC-F66A-5806-267EF5801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3638" y="1077913"/>
            <a:ext cx="421163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中断（事件）驱动系统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主程序：只完成系统的初始化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main() /*完成硬件和数据结构的初始化*/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/* to do:系统的初始化 */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while(1)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enter_low_power();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0485" name="文本框 2">
            <a:extLst>
              <a:ext uri="{FF2B5EF4-FFF2-40B4-BE49-F238E27FC236}">
                <a16:creationId xmlns:a16="http://schemas.microsoft.com/office/drawing/2014/main" id="{6981569A-D2C1-93A4-7E90-926F0A4F4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4975"/>
            <a:ext cx="45815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Arial" panose="020B0604020202020204" pitchFamily="34" charset="0"/>
                <a:ea typeface="宋体" panose="02010600030101010101" pitchFamily="2" charset="-122"/>
              </a:rPr>
              <a:t>中断（事件）驱动系统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中断是一种硬件机制，用于通知CPU有个异步事件发生了。中断一旦被识别，CPU保存部分（或全部）上下文即部分或全部寄存器的值，跳转到专门的子程序，称为中断服务子程序（ISR）。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中断服务子程序做事件处理，处理完成后，程序回到：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1. 在前后台系统中，程序回到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后台程序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2. 对非占先式内核而言，程序回到被中断了的任务；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3. 对占先式内核而言，让进入就绪态的优先级最高的任务开始运行。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6" descr="selected_powerpoint_bg_2.jpg">
            <a:extLst>
              <a:ext uri="{FF2B5EF4-FFF2-40B4-BE49-F238E27FC236}">
                <a16:creationId xmlns:a16="http://schemas.microsoft.com/office/drawing/2014/main" id="{162153E0-68BD-123F-21F5-5492F2564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文本框 1">
            <a:extLst>
              <a:ext uri="{FF2B5EF4-FFF2-40B4-BE49-F238E27FC236}">
                <a16:creationId xmlns:a16="http://schemas.microsoft.com/office/drawing/2014/main" id="{CD57B72D-E414-5E6F-CDF2-AC008A166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119063"/>
            <a:ext cx="4208463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 巡回服务系统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main()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/* to do:系统初始化 */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while(1)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action_1();/*巡回检测事件1并处理事件*/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action_2();/*巡回检测事件2并处理事件*/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…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action_n();/*巡回检测事件n并处理事件*/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21508" name="文本框 2">
            <a:extLst>
              <a:ext uri="{FF2B5EF4-FFF2-40B4-BE49-F238E27FC236}">
                <a16:creationId xmlns:a16="http://schemas.microsoft.com/office/drawing/2014/main" id="{0B8798DB-B759-BD4C-554B-D6918181E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4264025"/>
            <a:ext cx="85217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 基于定时器的巡回服务系统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巡回服务系统中的处理器总是处于全速运行的状态，能耗较高。若系统的外部事件发生不是很频繁，可以降低处理器服务事件的频率，这样不会降低响应时间，节省了能耗。即采用基于定时器驱动的巡回服务方法。</a:t>
            </a:r>
          </a:p>
        </p:txBody>
      </p:sp>
      <p:sp>
        <p:nvSpPr>
          <p:cNvPr id="21509" name="文本框 3">
            <a:extLst>
              <a:ext uri="{FF2B5EF4-FFF2-40B4-BE49-F238E27FC236}">
                <a16:creationId xmlns:a16="http://schemas.microsoft.com/office/drawing/2014/main" id="{69C4542A-3DB0-9866-72B0-943E315E4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813" y="700088"/>
            <a:ext cx="247808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状态机编程</a:t>
            </a:r>
          </a:p>
        </p:txBody>
      </p:sp>
      <p:pic>
        <p:nvPicPr>
          <p:cNvPr id="21510" name="图片 4">
            <a:extLst>
              <a:ext uri="{FF2B5EF4-FFF2-40B4-BE49-F238E27FC236}">
                <a16:creationId xmlns:a16="http://schemas.microsoft.com/office/drawing/2014/main" id="{4413A81E-8618-BDAE-D002-A1A69EC14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5" y="1477963"/>
            <a:ext cx="4619625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6" descr="selected_powerpoint_bg_2.jpg">
            <a:extLst>
              <a:ext uri="{FF2B5EF4-FFF2-40B4-BE49-F238E27FC236}">
                <a16:creationId xmlns:a16="http://schemas.microsoft.com/office/drawing/2014/main" id="{0F639628-D4A9-1A70-50DF-EB162EDD7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文本框 1">
            <a:extLst>
              <a:ext uri="{FF2B5EF4-FFF2-40B4-BE49-F238E27FC236}">
                <a16:creationId xmlns:a16="http://schemas.microsoft.com/office/drawing/2014/main" id="{7A3C3D2E-B5A9-05BF-67B4-7D801EE55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128588"/>
            <a:ext cx="8728075" cy="621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Arial" panose="020B0604020202020204" pitchFamily="34" charset="0"/>
                <a:ea typeface="宋体" panose="02010600030101010101" pitchFamily="2" charset="-122"/>
              </a:rPr>
              <a:t>实时操作系统：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分时：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分时系统由分时操作系统，多个任务组成的应用软件构成。分时操作系统使用定时器来调度任务的执行。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从宏观上看，系统中的多个任务并行执行；从微观上看，由于系统只有一个处理器，任务是串行执行的，只是任务的调度和执行的速度很快，用户感觉不到分时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服务和任务的切换。这种系统的运用如Linux操作系统。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2532" name="图片 2">
            <a:extLst>
              <a:ext uri="{FF2B5EF4-FFF2-40B4-BE49-F238E27FC236}">
                <a16:creationId xmlns:a16="http://schemas.microsoft.com/office/drawing/2014/main" id="{C65314BB-467C-7EC5-F63D-B07F0A674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425" y="3463925"/>
            <a:ext cx="5221288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6" descr="selected_powerpoint_bg_2.jpg">
            <a:extLst>
              <a:ext uri="{FF2B5EF4-FFF2-40B4-BE49-F238E27FC236}">
                <a16:creationId xmlns:a16="http://schemas.microsoft.com/office/drawing/2014/main" id="{398430E1-D337-10BA-CA23-3436D76FA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文本框 1">
            <a:extLst>
              <a:ext uri="{FF2B5EF4-FFF2-40B4-BE49-F238E27FC236}">
                <a16:creationId xmlns:a16="http://schemas.microsoft.com/office/drawing/2014/main" id="{6AC230AE-5085-13FD-DD43-9AFAEB12A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03200"/>
            <a:ext cx="85963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实时：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实时操作系统（RTOS）是指能在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确定的时间内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执行其功能并对外部的异步事件做出响应的计算机系统。其操作的正确性不仅依赖于逻辑设计的正确程度，而且与这些操作进行的时间有关。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实时系统有两种类型：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软实时系统：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仅要求事件响应是实时的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，并不要求限定某一任务必须在多长时间内完成 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硬实时系统：不仅要求任务响应要实时，而且要求在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规定的时间内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完成事件的处理 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6" descr="selected_powerpoint_bg_2.jpg">
            <a:extLst>
              <a:ext uri="{FF2B5EF4-FFF2-40B4-BE49-F238E27FC236}">
                <a16:creationId xmlns:a16="http://schemas.microsoft.com/office/drawing/2014/main" id="{9EEBD06F-E0BE-2A6D-8E6D-2F0326C4A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文本框 1">
            <a:extLst>
              <a:ext uri="{FF2B5EF4-FFF2-40B4-BE49-F238E27FC236}">
                <a16:creationId xmlns:a16="http://schemas.microsoft.com/office/drawing/2014/main" id="{41047DA1-EA4E-0087-7077-B61F90573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" y="85725"/>
            <a:ext cx="883285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b="1">
                <a:latin typeface="Arial" panose="020B0604020202020204" pitchFamily="34" charset="0"/>
                <a:ea typeface="宋体" panose="02010600030101010101" pitchFamily="2" charset="-122"/>
              </a:rPr>
              <a:t>实时操作系统的特性：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实时操作系统具有如下功能：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任务管理(多任务和基于优先级的任务调度)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任务间同步和通信(信号量和邮箱等)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存储器优化管理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实时时钟服务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中断管理服务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优点：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分时系统的缺点是无法体现任务的重要性即优先级。与分时系统不同，实时系统赋予系统处理的事件不同的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优先级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。只有较高优先级的任务处理完了后，才处理优先级低的任务。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6" descr="selected_powerpoint_bg_2.jpg">
            <a:extLst>
              <a:ext uri="{FF2B5EF4-FFF2-40B4-BE49-F238E27FC236}">
                <a16:creationId xmlns:a16="http://schemas.microsoft.com/office/drawing/2014/main" id="{D877988A-DC96-C4D5-02D5-97C545D84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文本框 1">
            <a:extLst>
              <a:ext uri="{FF2B5EF4-FFF2-40B4-BE49-F238E27FC236}">
                <a16:creationId xmlns:a16="http://schemas.microsoft.com/office/drawing/2014/main" id="{47AF393D-8E62-B69A-EFF6-C38F0FC17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" y="288925"/>
            <a:ext cx="864076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Arial" panose="020B0604020202020204" pitchFamily="34" charset="0"/>
                <a:ea typeface="宋体" panose="02010600030101010101" pitchFamily="2" charset="-122"/>
              </a:rPr>
              <a:t>实时系统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当系统响应时间很重要时，要使用</a:t>
            </a: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占先式内核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。因此绝大多数商业上销售的实时内核都是占先式内核。最高优先级的任务一旦就绪，总能得到CPU的控制权。当一个运行着的任务使一个比它优先级高的任务进入了就绪状态，当前任务的CPU使用权就被剥夺了，或者说被</a:t>
            </a: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挂起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了，那个高优先级的任务立刻得到了CPU的控制权。如果是中断服务子程序使一个高优先级的任务进入就绪态，中断完成时，中断了的任务被挂起，优先级高的那个任务开始运行。</a:t>
            </a:r>
          </a:p>
        </p:txBody>
      </p:sp>
      <p:pic>
        <p:nvPicPr>
          <p:cNvPr id="25604" name="图片 2">
            <a:extLst>
              <a:ext uri="{FF2B5EF4-FFF2-40B4-BE49-F238E27FC236}">
                <a16:creationId xmlns:a16="http://schemas.microsoft.com/office/drawing/2014/main" id="{7942E31C-D1F7-BA55-9968-826B9FD55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675" y="3032125"/>
            <a:ext cx="4552950" cy="308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6" descr="selected_powerpoint_bg_2.jpg">
            <a:extLst>
              <a:ext uri="{FF2B5EF4-FFF2-40B4-BE49-F238E27FC236}">
                <a16:creationId xmlns:a16="http://schemas.microsoft.com/office/drawing/2014/main" id="{9E4603F0-A89D-3DB7-3B5B-2CB5ACCBB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文本框 1">
            <a:extLst>
              <a:ext uri="{FF2B5EF4-FFF2-40B4-BE49-F238E27FC236}">
                <a16:creationId xmlns:a16="http://schemas.microsoft.com/office/drawing/2014/main" id="{EF30153A-40EC-48D1-FB54-B415B93E7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3622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Arial" panose="020B0604020202020204" pitchFamily="34" charset="0"/>
                <a:ea typeface="宋体" panose="02010600030101010101" pitchFamily="2" charset="-122"/>
              </a:rPr>
              <a:t>RTOS</a:t>
            </a:r>
            <a:r>
              <a:rPr lang="zh-CN" altLang="en-US" sz="3600" b="1">
                <a:latin typeface="Arial" panose="020B0604020202020204" pitchFamily="34" charset="0"/>
                <a:ea typeface="宋体" panose="02010600030101010101" pitchFamily="2" charset="-122"/>
              </a:rPr>
              <a:t>简介</a:t>
            </a:r>
          </a:p>
        </p:txBody>
      </p:sp>
      <p:sp>
        <p:nvSpPr>
          <p:cNvPr id="26628" name="文本框 2">
            <a:extLst>
              <a:ext uri="{FF2B5EF4-FFF2-40B4-BE49-F238E27FC236}">
                <a16:creationId xmlns:a16="http://schemas.microsoft.com/office/drawing/2014/main" id="{E562E765-3C6C-598E-AEE8-F2CFB5DC1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723900"/>
            <a:ext cx="8575675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----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嵌入式操作系统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 基于嵌入式操作系统的内核：小的嵌入式系统开发，通常采用实时多任务操作系统内核(uc-OS, FreeRTOS)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 基于完整的嵌入式操作系统：大的嵌入式系统开发，如PDA,智能手机等，通常采用完整的嵌入式操作系统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嵌入式操作系统运行的必要条件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-----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嵌入式系统软件设计关注点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 ROM空间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 RAM空间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 定时器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 中断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 堆栈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6" descr="selected_powerpoint_bg_2.jpg">
            <a:extLst>
              <a:ext uri="{FF2B5EF4-FFF2-40B4-BE49-F238E27FC236}">
                <a16:creationId xmlns:a16="http://schemas.microsoft.com/office/drawing/2014/main" id="{2965E364-436A-9A9C-922D-0BB11C554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文本框 1">
            <a:extLst>
              <a:ext uri="{FF2B5EF4-FFF2-40B4-BE49-F238E27FC236}">
                <a16:creationId xmlns:a16="http://schemas.microsoft.com/office/drawing/2014/main" id="{FDFAD530-BE40-0185-7A03-9391B490C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3" y="63500"/>
            <a:ext cx="40401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Arial" panose="020B0604020202020204" pitchFamily="34" charset="0"/>
                <a:ea typeface="宋体" panose="02010600030101010101" pitchFamily="2" charset="-122"/>
              </a:rPr>
              <a:t>FREERTOS</a:t>
            </a:r>
            <a:r>
              <a:rPr lang="zh-CN" altLang="en-US" sz="3600" b="1">
                <a:latin typeface="Arial" panose="020B0604020202020204" pitchFamily="34" charset="0"/>
                <a:ea typeface="宋体" panose="02010600030101010101" pitchFamily="2" charset="-122"/>
              </a:rPr>
              <a:t>简介：</a:t>
            </a:r>
          </a:p>
        </p:txBody>
      </p:sp>
      <p:pic>
        <p:nvPicPr>
          <p:cNvPr id="27652" name="图片 2">
            <a:extLst>
              <a:ext uri="{FF2B5EF4-FFF2-40B4-BE49-F238E27FC236}">
                <a16:creationId xmlns:a16="http://schemas.microsoft.com/office/drawing/2014/main" id="{5A2E236E-C225-55DB-1B87-7242D493D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550" y="323850"/>
            <a:ext cx="27908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文本框 3">
            <a:extLst>
              <a:ext uri="{FF2B5EF4-FFF2-40B4-BE49-F238E27FC236}">
                <a16:creationId xmlns:a16="http://schemas.microsoft.com/office/drawing/2014/main" id="{384FEC8D-F987-5C14-706E-EB3AA15A8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3" y="839788"/>
            <a:ext cx="446563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典型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RTOS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的一种，最大特点开源、免费。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7654" name="图片 4">
            <a:extLst>
              <a:ext uri="{FF2B5EF4-FFF2-40B4-BE49-F238E27FC236}">
                <a16:creationId xmlns:a16="http://schemas.microsoft.com/office/drawing/2014/main" id="{AC753531-5646-80EC-995C-3ED8BEA38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0" y="2505075"/>
            <a:ext cx="29051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文本框 5">
            <a:extLst>
              <a:ext uri="{FF2B5EF4-FFF2-40B4-BE49-F238E27FC236}">
                <a16:creationId xmlns:a16="http://schemas.microsoft.com/office/drawing/2014/main" id="{F00FE743-FD86-6AD3-7E2B-8158208F6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00175"/>
            <a:ext cx="572611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作为一个轻量级的操作系统，FreeRTOS提供的功能包括：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任务管理、时间管理、信号量、消息队列、内存管理、记录功能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等，可基本满足较小系统的需要。FreeRTOS内核支持优先级调度算法，每个任务可根据重要程度的不同被赋予一定的优先级，CPU总是让处于就绪态的、优先级最高的任务先运行。FreeRT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O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S内核同时支持轮换调度算法，系统允许不同的任务使用相同的优先级，在没有更高优先级任务就绪的情况下，同一优先级的任务共享CPU的使用时间。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FreeRTOS的内核可根据用户需要设置为</a:t>
            </a: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可剥夺型内核或不可剥夺型内核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。当FreeRTOS被设置为可剥夺型内核时，处于就绪态的高优先级任务能剥夺低优先级任务的CPU使用权，这样可保证系统满足实时性的要求；当FreeRTOS被设置为不可剥夺型内核时，处于就绪态的高优先级任务只有等当前运行任务主动释放CPU的使用权后才能获得运行，这样可提高CPU的运行效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6F2EE319-E8CE-D77C-A3EF-FFA765EB0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网络应用基础</a:t>
            </a:r>
          </a:p>
        </p:txBody>
      </p:sp>
      <p:sp>
        <p:nvSpPr>
          <p:cNvPr id="28675" name="灯片编号占位符 2">
            <a:extLst>
              <a:ext uri="{FF2B5EF4-FFF2-40B4-BE49-F238E27FC236}">
                <a16:creationId xmlns:a16="http://schemas.microsoft.com/office/drawing/2014/main" id="{854C3E7D-5CB6-109B-6150-25885FD45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F22603C-6C20-4307-9AE7-81E4871A63EA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28676" name="Picture 1" descr="C:\Users\user\AppData\Roaming\Tencent\Users\1343659160\QQ\WinTemp\RichOle\A3BT~V%ZC~LG89[VF@_$OEO.png">
            <a:extLst>
              <a:ext uri="{FF2B5EF4-FFF2-40B4-BE49-F238E27FC236}">
                <a16:creationId xmlns:a16="http://schemas.microsoft.com/office/drawing/2014/main" id="{F03E874F-924F-9654-9738-4919BA2DD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38" y="1730375"/>
            <a:ext cx="7381875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6DF60DF1-AA2D-49B2-F21A-A3475DBE3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52388"/>
            <a:ext cx="6340475" cy="523875"/>
          </a:xfrm>
        </p:spPr>
        <p:txBody>
          <a:bodyPr/>
          <a:lstStyle/>
          <a:p>
            <a:r>
              <a:rPr lang="zh-CN" altLang="en-US"/>
              <a:t>实验内容</a:t>
            </a:r>
          </a:p>
        </p:txBody>
      </p:sp>
      <p:sp>
        <p:nvSpPr>
          <p:cNvPr id="29699" name="灯片编号占位符 2">
            <a:extLst>
              <a:ext uri="{FF2B5EF4-FFF2-40B4-BE49-F238E27FC236}">
                <a16:creationId xmlns:a16="http://schemas.microsoft.com/office/drawing/2014/main" id="{4D900FEF-0103-DA2F-C4D7-3FB5370C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CD10E88-4C84-4E75-9386-4099B3E885DA}" type="slidenum">
              <a:rPr lang="en-US" altLang="zh-CN" sz="1400" smtClean="0">
                <a:solidFill>
                  <a:schemeClr val="bg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105476" name="文本框 3">
            <a:extLst>
              <a:ext uri="{FF2B5EF4-FFF2-40B4-BE49-F238E27FC236}">
                <a16:creationId xmlns:a16="http://schemas.microsoft.com/office/drawing/2014/main" id="{0482B017-3EAD-B644-A771-B83EFB553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1381125"/>
            <a:ext cx="8289925" cy="554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  <a:ea typeface="微软雅黑" panose="020B0503020204020204" pitchFamily="34" charset="-122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熟悉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SDK1.5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out_of_box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tcp_socket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udp_socket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例程的程序，了解各函数功能。</a:t>
            </a:r>
          </a:p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编写程序将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CC3200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板卡同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机（或笔记本）之间设置为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UDP 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传输方式，实现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CC3200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板上的温度传感器和加速度传感器等信息传输到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机上运行的网络调试工具显示出来。</a:t>
            </a:r>
          </a:p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编写程序将 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CC3200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板卡同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机（或笔记本）之间设置为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TCP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传输方式，实现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CC3200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板卡分别在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Server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Client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两种模式下，将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CC3200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板上的温度传感器和加速度传感器等信息传输到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PC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机上运行的网络调试工具显示出来。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实验参考：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SDK1.5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中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out_of_box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、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tcp_socket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latin typeface="Arial" panose="020B0604020202020204" pitchFamily="34" charset="0"/>
                <a:ea typeface="宋体" panose="02010600030101010101" pitchFamily="2" charset="-122"/>
              </a:rPr>
              <a:t>udp_socket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例程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资料里的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out_of_box1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例程 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d1fbfxl">
      <a:majorFont>
        <a:latin typeface="Georgia"/>
        <a:ea typeface="微软雅黑"/>
        <a:cs typeface=""/>
      </a:majorFont>
      <a:minorFont>
        <a:latin typeface="Georgia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005D98"/>
        </a:solidFill>
        <a:ln w="0">
          <a:solidFill>
            <a:srgbClr val="005D98"/>
          </a:solidFill>
        </a:ln>
        <a:effectLst>
          <a:outerShdw blurRad="225425" dist="38100" dir="5220000" algn="ctr">
            <a:srgbClr val="000000">
              <a:alpha val="33000"/>
            </a:srgbClr>
          </a:outerShdw>
        </a:effectLst>
      </a:spPr>
      <a:bodyPr rtlCol="0" anchor="ctr">
        <a:sp3d/>
      </a:bodyPr>
      <a:lstStyle>
        <a:defPPr marL="0" algn="ctr" eaLnBrk="0" fontAlgn="ctr" hangingPunct="0">
          <a:spcBef>
            <a:spcPts val="0"/>
          </a:spcBef>
          <a:spcAft>
            <a:spcPts val="0"/>
          </a:spcAft>
          <a:buClr>
            <a:srgbClr val="FF0000"/>
          </a:buClr>
          <a:buSzPct val="70000"/>
          <a:tabLst>
            <a:tab pos="136525" algn="l"/>
          </a:tabLst>
          <a:defRPr sz="1500" b="1" dirty="0" smtClean="0">
            <a:solidFill>
              <a:schemeClr val="bg1"/>
            </a:solidFill>
            <a:latin typeface="微软雅黑" pitchFamily="34" charset="-122"/>
            <a:ea typeface="微软雅黑" pitchFamily="34" charset="-122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课件蓝白色模板.potx" id="{5B1BA259-F0A4-47D0-BF68-057AFEF8E519}" vid="{0D99D3A8-3341-4791-B4B8-783062AFC9A0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30307</TotalTime>
  <Words>1333</Words>
  <Application>Microsoft Office PowerPoint</Application>
  <PresentationFormat>全屏显示(4:3)</PresentationFormat>
  <Paragraphs>135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Georgia</vt:lpstr>
      <vt:lpstr>微软雅黑</vt:lpstr>
      <vt:lpstr>等线</vt:lpstr>
      <vt:lpstr>等线 Light</vt:lpstr>
      <vt:lpstr>Calibri</vt:lpstr>
      <vt:lpstr>黑体</vt:lpstr>
      <vt:lpstr>隶书</vt:lpstr>
      <vt:lpstr>Times New Roman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网络应用基础</vt:lpstr>
      <vt:lpstr>实验内容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chw</dc:creator>
  <cp:lastModifiedBy>Yihao Wang</cp:lastModifiedBy>
  <cp:revision>1662</cp:revision>
  <cp:lastPrinted>2019-05-30T01:21:00Z</cp:lastPrinted>
  <dcterms:created xsi:type="dcterms:W3CDTF">2018-11-16T09:03:03Z</dcterms:created>
  <dcterms:modified xsi:type="dcterms:W3CDTF">2026-05-09T12:01:35Z</dcterms:modified>
</cp:coreProperties>
</file>
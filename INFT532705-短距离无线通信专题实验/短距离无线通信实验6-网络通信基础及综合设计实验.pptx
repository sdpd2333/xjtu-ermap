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4">
  <p:sldMasterIdLst>
    <p:sldMasterId id="2147483669" r:id="rId1"/>
  </p:sldMasterIdLst>
  <p:notesMasterIdLst>
    <p:notesMasterId r:id="rId22"/>
  </p:notesMasterIdLst>
  <p:handoutMasterIdLst>
    <p:handoutMasterId r:id="rId23"/>
  </p:handoutMasterIdLst>
  <p:sldIdLst>
    <p:sldId id="916" r:id="rId2"/>
    <p:sldId id="910" r:id="rId3"/>
    <p:sldId id="835" r:id="rId4"/>
    <p:sldId id="837" r:id="rId5"/>
    <p:sldId id="840" r:id="rId6"/>
    <p:sldId id="838" r:id="rId7"/>
    <p:sldId id="841" r:id="rId8"/>
    <p:sldId id="842" r:id="rId9"/>
    <p:sldId id="843" r:id="rId10"/>
    <p:sldId id="846" r:id="rId11"/>
    <p:sldId id="848" r:id="rId12"/>
    <p:sldId id="967" r:id="rId13"/>
    <p:sldId id="968" r:id="rId14"/>
    <p:sldId id="969" r:id="rId15"/>
    <p:sldId id="970" r:id="rId16"/>
    <p:sldId id="965" r:id="rId17"/>
    <p:sldId id="963" r:id="rId18"/>
    <p:sldId id="971" r:id="rId19"/>
    <p:sldId id="964" r:id="rId20"/>
    <p:sldId id="742" r:id="rId21"/>
  </p:sldIdLst>
  <p:sldSz cx="9144000" cy="6858000" type="screen4x3"/>
  <p:notesSz cx="6761163" cy="99425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7AE"/>
    <a:srgbClr val="4269BD"/>
    <a:srgbClr val="E97C30"/>
    <a:srgbClr val="3A97D7"/>
    <a:srgbClr val="E87E04"/>
    <a:srgbClr val="FFC000"/>
    <a:srgbClr val="1F4E79"/>
    <a:srgbClr val="0070C0"/>
    <a:srgbClr val="2E75B6"/>
    <a:srgbClr val="872E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40" autoAdjust="0"/>
    <p:restoredTop sz="64595" autoAdjust="0"/>
  </p:normalViewPr>
  <p:slideViewPr>
    <p:cSldViewPr snapToGrid="0">
      <p:cViewPr varScale="1">
        <p:scale>
          <a:sx n="121" d="100"/>
          <a:sy n="121" d="100"/>
        </p:scale>
        <p:origin x="65" y="117"/>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8" d="100"/>
          <a:sy n="88" d="100"/>
        </p:scale>
        <p:origin x="2766"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D40A1BC1-FA36-405A-84E5-2ECB11F24F06}" type="datetimeFigureOut">
              <a:rPr lang="zh-CN" altLang="en-US" smtClean="0"/>
              <a:pPr/>
              <a:t>2026/4/24</a:t>
            </a:fld>
            <a:endParaRPr lang="zh-CN" altLang="en-US"/>
          </a:p>
        </p:txBody>
      </p:sp>
      <p:sp>
        <p:nvSpPr>
          <p:cNvPr id="4" name="页脚占位符 3"/>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C2F20590-9981-46CC-AF13-22488216DE8F}" type="slidenum">
              <a:rPr lang="zh-CN" altLang="en-US" smtClean="0"/>
              <a:pPr/>
              <a:t>‹#›</a:t>
            </a:fld>
            <a:endParaRPr lang="zh-CN" altLang="en-US"/>
          </a:p>
        </p:txBody>
      </p:sp>
    </p:spTree>
    <p:extLst>
      <p:ext uri="{BB962C8B-B14F-4D97-AF65-F5344CB8AC3E}">
        <p14:creationId xmlns:p14="http://schemas.microsoft.com/office/powerpoint/2010/main" val="249224819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61489580-3797-4DA2-9E4E-24E61D4E80CF}" type="datetimeFigureOut">
              <a:rPr lang="zh-CN" altLang="en-US" smtClean="0"/>
              <a:pPr/>
              <a:t>2026/4/24</a:t>
            </a:fld>
            <a:endParaRPr lang="zh-CN" altLang="en-US"/>
          </a:p>
        </p:txBody>
      </p:sp>
      <p:sp>
        <p:nvSpPr>
          <p:cNvPr id="4" name="幻灯片图像占位符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4CCF47CB-3076-4026-8B18-63F39C6D1FFE}" type="slidenum">
              <a:rPr lang="zh-CN" altLang="en-US" smtClean="0"/>
              <a:pPr/>
              <a:t>‹#›</a:t>
            </a:fld>
            <a:endParaRPr lang="zh-CN" altLang="en-US"/>
          </a:p>
        </p:txBody>
      </p:sp>
    </p:spTree>
    <p:extLst>
      <p:ext uri="{BB962C8B-B14F-4D97-AF65-F5344CB8AC3E}">
        <p14:creationId xmlns:p14="http://schemas.microsoft.com/office/powerpoint/2010/main" val="82011913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脚占位符 3"/>
          <p:cNvSpPr>
            <a:spLocks noGrp="1"/>
          </p:cNvSpPr>
          <p:nvPr>
            <p:ph type="ftr" sz="quarter" idx="10"/>
          </p:nvPr>
        </p:nvSpPr>
        <p:spPr/>
        <p:txBody>
          <a:bodyPr/>
          <a:lstStyle/>
          <a:p>
            <a:endParaRPr lang="zh-CN" altLang="en-US"/>
          </a:p>
        </p:txBody>
      </p:sp>
      <p:sp>
        <p:nvSpPr>
          <p:cNvPr id="5" name="灯片编号占位符 4"/>
          <p:cNvSpPr>
            <a:spLocks noGrp="1"/>
          </p:cNvSpPr>
          <p:nvPr>
            <p:ph type="sldNum" sz="quarter" idx="11"/>
          </p:nvPr>
        </p:nvSpPr>
        <p:spPr/>
        <p:txBody>
          <a:bodyPr/>
          <a:lstStyle/>
          <a:p>
            <a:fld id="{4CCF47CB-3076-4026-8B18-63F39C6D1FFE}" type="slidenum">
              <a:rPr lang="zh-CN" altLang="en-US" smtClean="0"/>
              <a:pPr/>
              <a:t>9</a:t>
            </a:fld>
            <a:endParaRPr lang="zh-CN" altLang="en-US"/>
          </a:p>
        </p:txBody>
      </p:sp>
    </p:spTree>
    <p:extLst>
      <p:ext uri="{BB962C8B-B14F-4D97-AF65-F5344CB8AC3E}">
        <p14:creationId xmlns:p14="http://schemas.microsoft.com/office/powerpoint/2010/main" val="3373358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67953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3"/>
          <p:cNvSpPr/>
          <p:nvPr userDrawn="1"/>
        </p:nvSpPr>
        <p:spPr>
          <a:xfrm rot="16200000">
            <a:off x="239091" y="113944"/>
            <a:ext cx="812329" cy="800243"/>
          </a:xfrm>
          <a:custGeom>
            <a:avLst/>
            <a:gdLst>
              <a:gd name="connsiteX0" fmla="*/ 0 w 661307"/>
              <a:gd name="connsiteY0" fmla="*/ 0 h 726621"/>
              <a:gd name="connsiteX1" fmla="*/ 661307 w 661307"/>
              <a:gd name="connsiteY1" fmla="*/ 0 h 726621"/>
              <a:gd name="connsiteX2" fmla="*/ 661307 w 661307"/>
              <a:gd name="connsiteY2" fmla="*/ 726621 h 726621"/>
              <a:gd name="connsiteX3" fmla="*/ 0 w 661307"/>
              <a:gd name="connsiteY3" fmla="*/ 726621 h 726621"/>
              <a:gd name="connsiteX4" fmla="*/ 0 w 661307"/>
              <a:gd name="connsiteY4" fmla="*/ 0 h 726621"/>
              <a:gd name="connsiteX0" fmla="*/ 0 w 661307"/>
              <a:gd name="connsiteY0" fmla="*/ 0 h 726621"/>
              <a:gd name="connsiteX1" fmla="*/ 661307 w 661307"/>
              <a:gd name="connsiteY1" fmla="*/ 0 h 726621"/>
              <a:gd name="connsiteX2" fmla="*/ 661307 w 661307"/>
              <a:gd name="connsiteY2" fmla="*/ 726621 h 726621"/>
              <a:gd name="connsiteX3" fmla="*/ 326571 w 661307"/>
              <a:gd name="connsiteY3" fmla="*/ 718457 h 726621"/>
              <a:gd name="connsiteX4" fmla="*/ 0 w 661307"/>
              <a:gd name="connsiteY4" fmla="*/ 726621 h 726621"/>
              <a:gd name="connsiteX5" fmla="*/ 0 w 661307"/>
              <a:gd name="connsiteY5" fmla="*/ 0 h 726621"/>
              <a:gd name="connsiteX0" fmla="*/ 0 w 661307"/>
              <a:gd name="connsiteY0" fmla="*/ 0 h 898071"/>
              <a:gd name="connsiteX1" fmla="*/ 661307 w 661307"/>
              <a:gd name="connsiteY1" fmla="*/ 0 h 898071"/>
              <a:gd name="connsiteX2" fmla="*/ 661307 w 661307"/>
              <a:gd name="connsiteY2" fmla="*/ 726621 h 898071"/>
              <a:gd name="connsiteX3" fmla="*/ 351063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18406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10242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31673 w 661307"/>
              <a:gd name="connsiteY3" fmla="*/ 898071 h 898071"/>
              <a:gd name="connsiteX4" fmla="*/ 0 w 661307"/>
              <a:gd name="connsiteY4" fmla="*/ 726621 h 898071"/>
              <a:gd name="connsiteX5" fmla="*/ 0 w 661307"/>
              <a:gd name="connsiteY5" fmla="*/ 0 h 898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1307" h="898071">
                <a:moveTo>
                  <a:pt x="0" y="0"/>
                </a:moveTo>
                <a:lnTo>
                  <a:pt x="661307" y="0"/>
                </a:lnTo>
                <a:lnTo>
                  <a:pt x="661307" y="726621"/>
                </a:lnTo>
                <a:lnTo>
                  <a:pt x="331673" y="898071"/>
                </a:lnTo>
                <a:lnTo>
                  <a:pt x="0" y="726621"/>
                </a:lnTo>
                <a:lnTo>
                  <a:pt x="0" y="0"/>
                </a:lnTo>
                <a:close/>
              </a:path>
            </a:pathLst>
          </a:custGeom>
          <a:solidFill>
            <a:srgbClr val="1557AE"/>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userDrawn="1"/>
        </p:nvPicPr>
        <p:blipFill rotWithShape="1">
          <a:blip r:embed="rId2" cstate="print">
            <a:biLevel thresh="25000"/>
            <a:extLst>
              <a:ext uri="{28A0092B-C50C-407E-A947-70E740481C1C}">
                <a14:useLocalDpi xmlns:a14="http://schemas.microsoft.com/office/drawing/2010/main" val="0"/>
              </a:ext>
            </a:extLst>
          </a:blip>
          <a:srcRect t="77939" r="87942"/>
          <a:stretch/>
        </p:blipFill>
        <p:spPr>
          <a:xfrm>
            <a:off x="296112" y="195665"/>
            <a:ext cx="619134" cy="636802"/>
          </a:xfrm>
          <a:prstGeom prst="rect">
            <a:avLst/>
          </a:prstGeom>
        </p:spPr>
      </p:pic>
      <p:sp>
        <p:nvSpPr>
          <p:cNvPr id="9" name="矩形 8"/>
          <p:cNvSpPr/>
          <p:nvPr userDrawn="1"/>
        </p:nvSpPr>
        <p:spPr>
          <a:xfrm>
            <a:off x="71934" y="107901"/>
            <a:ext cx="112892" cy="812329"/>
          </a:xfrm>
          <a:prstGeom prst="rect">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过程 8"/>
          <p:cNvSpPr/>
          <p:nvPr userDrawn="1"/>
        </p:nvSpPr>
        <p:spPr>
          <a:xfrm rot="5400000" flipH="1">
            <a:off x="7637105" y="5350752"/>
            <a:ext cx="324399" cy="2689389"/>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9474 w 10000"/>
              <a:gd name="connsiteY2" fmla="*/ 9062 h 10000"/>
              <a:gd name="connsiteX3" fmla="*/ 0 w 10000"/>
              <a:gd name="connsiteY3" fmla="*/ 10000 h 10000"/>
              <a:gd name="connsiteX4" fmla="*/ 0 w 10000"/>
              <a:gd name="connsiteY4" fmla="*/ 0 h 10000"/>
              <a:gd name="connsiteX0" fmla="*/ 0 w 10075"/>
              <a:gd name="connsiteY0" fmla="*/ 0 h 10000"/>
              <a:gd name="connsiteX1" fmla="*/ 10000 w 10075"/>
              <a:gd name="connsiteY1" fmla="*/ 0 h 10000"/>
              <a:gd name="connsiteX2" fmla="*/ 10028 w 10075"/>
              <a:gd name="connsiteY2" fmla="*/ 8891 h 10000"/>
              <a:gd name="connsiteX3" fmla="*/ 0 w 10075"/>
              <a:gd name="connsiteY3" fmla="*/ 10000 h 10000"/>
              <a:gd name="connsiteX4" fmla="*/ 0 w 10075"/>
              <a:gd name="connsiteY4" fmla="*/ 0 h 10000"/>
              <a:gd name="connsiteX0" fmla="*/ 0 w 10335"/>
              <a:gd name="connsiteY0" fmla="*/ 0 h 10000"/>
              <a:gd name="connsiteX1" fmla="*/ 10000 w 10335"/>
              <a:gd name="connsiteY1" fmla="*/ 0 h 10000"/>
              <a:gd name="connsiteX2" fmla="*/ 10305 w 10335"/>
              <a:gd name="connsiteY2" fmla="*/ 8891 h 10000"/>
              <a:gd name="connsiteX3" fmla="*/ 0 w 10335"/>
              <a:gd name="connsiteY3" fmla="*/ 10000 h 10000"/>
              <a:gd name="connsiteX4" fmla="*/ 0 w 10335"/>
              <a:gd name="connsiteY4" fmla="*/ 0 h 10000"/>
              <a:gd name="connsiteX0" fmla="*/ 0 w 10000"/>
              <a:gd name="connsiteY0" fmla="*/ 0 h 10000"/>
              <a:gd name="connsiteX1" fmla="*/ 10000 w 10000"/>
              <a:gd name="connsiteY1" fmla="*/ 0 h 10000"/>
              <a:gd name="connsiteX2" fmla="*/ 9751 w 10000"/>
              <a:gd name="connsiteY2" fmla="*/ 9062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a:p>
        </p:txBody>
      </p:sp>
      <p:sp>
        <p:nvSpPr>
          <p:cNvPr id="11" name="矩形 10"/>
          <p:cNvSpPr/>
          <p:nvPr userDrawn="1"/>
        </p:nvSpPr>
        <p:spPr>
          <a:xfrm>
            <a:off x="6669766" y="6602968"/>
            <a:ext cx="2420500" cy="21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46" b="1" dirty="0">
                <a:solidFill>
                  <a:schemeClr val="bg1"/>
                </a:solidFill>
                <a:latin typeface="微软雅黑" panose="020B0503020204020204" pitchFamily="34" charset="-122"/>
                <a:ea typeface="微软雅黑" panose="020B0503020204020204" pitchFamily="34" charset="-122"/>
              </a:rPr>
              <a:t>西安交通大学</a:t>
            </a:r>
          </a:p>
        </p:txBody>
      </p:sp>
      <p:sp>
        <p:nvSpPr>
          <p:cNvPr id="12" name="流程图: 过程 11"/>
          <p:cNvSpPr/>
          <p:nvPr userDrawn="1"/>
        </p:nvSpPr>
        <p:spPr>
          <a:xfrm rot="5400000">
            <a:off x="3302905" y="3383209"/>
            <a:ext cx="171533" cy="6777344"/>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6616033" y="6503604"/>
            <a:ext cx="2057400" cy="365125"/>
          </a:xfrm>
        </p:spPr>
        <p:txBody>
          <a:bodyPr/>
          <a:lstStyle>
            <a:lvl1pPr>
              <a:defRPr sz="1400" b="1">
                <a:solidFill>
                  <a:schemeClr val="tx1"/>
                </a:solidFill>
              </a:defRPr>
            </a:lvl1pPr>
          </a:lstStyle>
          <a:p>
            <a:fld id="{4FCB24BC-51E0-4A61-A890-4370566F82F1}" type="slidenum">
              <a:rPr lang="zh-CN" altLang="en-US" smtClean="0"/>
              <a:pPr/>
              <a:t>‹#›</a:t>
            </a:fld>
            <a:endParaRPr lang="zh-CN" altLang="en-US" dirty="0"/>
          </a:p>
        </p:txBody>
      </p:sp>
      <p:sp>
        <p:nvSpPr>
          <p:cNvPr id="19" name="标题 18"/>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149368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矩形 3"/>
          <p:cNvSpPr/>
          <p:nvPr userDrawn="1"/>
        </p:nvSpPr>
        <p:spPr>
          <a:xfrm rot="16200000">
            <a:off x="239091" y="113944"/>
            <a:ext cx="812329" cy="800243"/>
          </a:xfrm>
          <a:custGeom>
            <a:avLst/>
            <a:gdLst>
              <a:gd name="connsiteX0" fmla="*/ 0 w 661307"/>
              <a:gd name="connsiteY0" fmla="*/ 0 h 726621"/>
              <a:gd name="connsiteX1" fmla="*/ 661307 w 661307"/>
              <a:gd name="connsiteY1" fmla="*/ 0 h 726621"/>
              <a:gd name="connsiteX2" fmla="*/ 661307 w 661307"/>
              <a:gd name="connsiteY2" fmla="*/ 726621 h 726621"/>
              <a:gd name="connsiteX3" fmla="*/ 0 w 661307"/>
              <a:gd name="connsiteY3" fmla="*/ 726621 h 726621"/>
              <a:gd name="connsiteX4" fmla="*/ 0 w 661307"/>
              <a:gd name="connsiteY4" fmla="*/ 0 h 726621"/>
              <a:gd name="connsiteX0" fmla="*/ 0 w 661307"/>
              <a:gd name="connsiteY0" fmla="*/ 0 h 726621"/>
              <a:gd name="connsiteX1" fmla="*/ 661307 w 661307"/>
              <a:gd name="connsiteY1" fmla="*/ 0 h 726621"/>
              <a:gd name="connsiteX2" fmla="*/ 661307 w 661307"/>
              <a:gd name="connsiteY2" fmla="*/ 726621 h 726621"/>
              <a:gd name="connsiteX3" fmla="*/ 326571 w 661307"/>
              <a:gd name="connsiteY3" fmla="*/ 718457 h 726621"/>
              <a:gd name="connsiteX4" fmla="*/ 0 w 661307"/>
              <a:gd name="connsiteY4" fmla="*/ 726621 h 726621"/>
              <a:gd name="connsiteX5" fmla="*/ 0 w 661307"/>
              <a:gd name="connsiteY5" fmla="*/ 0 h 726621"/>
              <a:gd name="connsiteX0" fmla="*/ 0 w 661307"/>
              <a:gd name="connsiteY0" fmla="*/ 0 h 898071"/>
              <a:gd name="connsiteX1" fmla="*/ 661307 w 661307"/>
              <a:gd name="connsiteY1" fmla="*/ 0 h 898071"/>
              <a:gd name="connsiteX2" fmla="*/ 661307 w 661307"/>
              <a:gd name="connsiteY2" fmla="*/ 726621 h 898071"/>
              <a:gd name="connsiteX3" fmla="*/ 351063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18406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10242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31673 w 661307"/>
              <a:gd name="connsiteY3" fmla="*/ 898071 h 898071"/>
              <a:gd name="connsiteX4" fmla="*/ 0 w 661307"/>
              <a:gd name="connsiteY4" fmla="*/ 726621 h 898071"/>
              <a:gd name="connsiteX5" fmla="*/ 0 w 661307"/>
              <a:gd name="connsiteY5" fmla="*/ 0 h 898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1307" h="898071">
                <a:moveTo>
                  <a:pt x="0" y="0"/>
                </a:moveTo>
                <a:lnTo>
                  <a:pt x="661307" y="0"/>
                </a:lnTo>
                <a:lnTo>
                  <a:pt x="661307" y="726621"/>
                </a:lnTo>
                <a:lnTo>
                  <a:pt x="331673" y="898071"/>
                </a:lnTo>
                <a:lnTo>
                  <a:pt x="0" y="726621"/>
                </a:lnTo>
                <a:lnTo>
                  <a:pt x="0" y="0"/>
                </a:lnTo>
                <a:close/>
              </a:path>
            </a:pathLst>
          </a:custGeom>
          <a:solidFill>
            <a:srgbClr val="1557AE"/>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userDrawn="1"/>
        </p:nvPicPr>
        <p:blipFill rotWithShape="1">
          <a:blip r:embed="rId2" cstate="print">
            <a:biLevel thresh="25000"/>
            <a:extLst>
              <a:ext uri="{28A0092B-C50C-407E-A947-70E740481C1C}">
                <a14:useLocalDpi xmlns:a14="http://schemas.microsoft.com/office/drawing/2010/main" val="0"/>
              </a:ext>
            </a:extLst>
          </a:blip>
          <a:srcRect t="77939" r="87942"/>
          <a:stretch/>
        </p:blipFill>
        <p:spPr>
          <a:xfrm>
            <a:off x="296112" y="195665"/>
            <a:ext cx="619134" cy="636802"/>
          </a:xfrm>
          <a:prstGeom prst="rect">
            <a:avLst/>
          </a:prstGeom>
        </p:spPr>
      </p:pic>
      <p:sp>
        <p:nvSpPr>
          <p:cNvPr id="4" name="矩形 3"/>
          <p:cNvSpPr/>
          <p:nvPr userDrawn="1"/>
        </p:nvSpPr>
        <p:spPr>
          <a:xfrm>
            <a:off x="71934" y="107901"/>
            <a:ext cx="112892" cy="812329"/>
          </a:xfrm>
          <a:prstGeom prst="rect">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过程 8"/>
          <p:cNvSpPr/>
          <p:nvPr userDrawn="1"/>
        </p:nvSpPr>
        <p:spPr>
          <a:xfrm rot="5400000" flipH="1">
            <a:off x="7637105" y="5350752"/>
            <a:ext cx="324399" cy="2689389"/>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9474 w 10000"/>
              <a:gd name="connsiteY2" fmla="*/ 9062 h 10000"/>
              <a:gd name="connsiteX3" fmla="*/ 0 w 10000"/>
              <a:gd name="connsiteY3" fmla="*/ 10000 h 10000"/>
              <a:gd name="connsiteX4" fmla="*/ 0 w 10000"/>
              <a:gd name="connsiteY4" fmla="*/ 0 h 10000"/>
              <a:gd name="connsiteX0" fmla="*/ 0 w 10075"/>
              <a:gd name="connsiteY0" fmla="*/ 0 h 10000"/>
              <a:gd name="connsiteX1" fmla="*/ 10000 w 10075"/>
              <a:gd name="connsiteY1" fmla="*/ 0 h 10000"/>
              <a:gd name="connsiteX2" fmla="*/ 10028 w 10075"/>
              <a:gd name="connsiteY2" fmla="*/ 8891 h 10000"/>
              <a:gd name="connsiteX3" fmla="*/ 0 w 10075"/>
              <a:gd name="connsiteY3" fmla="*/ 10000 h 10000"/>
              <a:gd name="connsiteX4" fmla="*/ 0 w 10075"/>
              <a:gd name="connsiteY4" fmla="*/ 0 h 10000"/>
              <a:gd name="connsiteX0" fmla="*/ 0 w 10335"/>
              <a:gd name="connsiteY0" fmla="*/ 0 h 10000"/>
              <a:gd name="connsiteX1" fmla="*/ 10000 w 10335"/>
              <a:gd name="connsiteY1" fmla="*/ 0 h 10000"/>
              <a:gd name="connsiteX2" fmla="*/ 10305 w 10335"/>
              <a:gd name="connsiteY2" fmla="*/ 8891 h 10000"/>
              <a:gd name="connsiteX3" fmla="*/ 0 w 10335"/>
              <a:gd name="connsiteY3" fmla="*/ 10000 h 10000"/>
              <a:gd name="connsiteX4" fmla="*/ 0 w 10335"/>
              <a:gd name="connsiteY4" fmla="*/ 0 h 10000"/>
              <a:gd name="connsiteX0" fmla="*/ 0 w 10000"/>
              <a:gd name="connsiteY0" fmla="*/ 0 h 10000"/>
              <a:gd name="connsiteX1" fmla="*/ 10000 w 10000"/>
              <a:gd name="connsiteY1" fmla="*/ 0 h 10000"/>
              <a:gd name="connsiteX2" fmla="*/ 9751 w 10000"/>
              <a:gd name="connsiteY2" fmla="*/ 9062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a:p>
        </p:txBody>
      </p:sp>
      <p:sp>
        <p:nvSpPr>
          <p:cNvPr id="6" name="矩形 5"/>
          <p:cNvSpPr/>
          <p:nvPr userDrawn="1"/>
        </p:nvSpPr>
        <p:spPr>
          <a:xfrm>
            <a:off x="6669766" y="6602968"/>
            <a:ext cx="2420500" cy="21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46" b="1" dirty="0">
                <a:solidFill>
                  <a:schemeClr val="bg1"/>
                </a:solidFill>
                <a:latin typeface="微软雅黑" panose="020B0503020204020204" pitchFamily="34" charset="-122"/>
                <a:ea typeface="微软雅黑" panose="020B0503020204020204" pitchFamily="34" charset="-122"/>
              </a:rPr>
              <a:t>西安交通大学</a:t>
            </a:r>
          </a:p>
        </p:txBody>
      </p:sp>
      <p:sp>
        <p:nvSpPr>
          <p:cNvPr id="7" name="流程图: 过程 6"/>
          <p:cNvSpPr/>
          <p:nvPr userDrawn="1"/>
        </p:nvSpPr>
        <p:spPr>
          <a:xfrm rot="5400000">
            <a:off x="3302905" y="3383209"/>
            <a:ext cx="171533" cy="6777344"/>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a:p>
        </p:txBody>
      </p:sp>
    </p:spTree>
    <p:extLst>
      <p:ext uri="{BB962C8B-B14F-4D97-AF65-F5344CB8AC3E}">
        <p14:creationId xmlns:p14="http://schemas.microsoft.com/office/powerpoint/2010/main" val="183504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355761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12773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2389147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2584117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2348051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236335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4077705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2370676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3031126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3" name="Picture 4"/>
          <p:cNvPicPr>
            <a:picLocks noChangeAspect="1" noChangeArrowheads="1"/>
          </p:cNvPicPr>
          <p:nvPr userDrawn="1"/>
        </p:nvPicPr>
        <p:blipFill>
          <a:blip r:embed="rId2">
            <a:duotone>
              <a:prstClr val="black"/>
              <a:schemeClr val="accent5">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6494" r="23326" b="24977"/>
          <a:stretch>
            <a:fillRect/>
          </a:stretch>
        </p:blipFill>
        <p:spPr bwMode="auto">
          <a:xfrm>
            <a:off x="6003925" y="4075113"/>
            <a:ext cx="3140075" cy="27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260529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6457950" y="6419412"/>
            <a:ext cx="2057400" cy="365125"/>
          </a:xfrm>
        </p:spPr>
        <p:txBody>
          <a:bodyPr/>
          <a:lstStyle>
            <a:lvl1pPr>
              <a:defRPr sz="1400" b="1">
                <a:solidFill>
                  <a:schemeClr val="tx1"/>
                </a:solidFill>
              </a:defRPr>
            </a:lvl1pPr>
          </a:lstStyle>
          <a:p>
            <a:fld id="{4FCB24BC-51E0-4A61-A890-4370566F82F1}" type="slidenum">
              <a:rPr lang="zh-CN" altLang="en-US" smtClean="0"/>
              <a:pPr/>
              <a:t>‹#›</a:t>
            </a:fld>
            <a:endParaRPr lang="zh-CN" altLang="en-US" dirty="0"/>
          </a:p>
        </p:txBody>
      </p:sp>
    </p:spTree>
    <p:extLst>
      <p:ext uri="{BB962C8B-B14F-4D97-AF65-F5344CB8AC3E}">
        <p14:creationId xmlns:p14="http://schemas.microsoft.com/office/powerpoint/2010/main" val="34836935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矩形 3"/>
          <p:cNvSpPr/>
          <p:nvPr userDrawn="1"/>
        </p:nvSpPr>
        <p:spPr>
          <a:xfrm rot="16200000">
            <a:off x="239091" y="113944"/>
            <a:ext cx="812329" cy="800243"/>
          </a:xfrm>
          <a:custGeom>
            <a:avLst/>
            <a:gdLst>
              <a:gd name="connsiteX0" fmla="*/ 0 w 661307"/>
              <a:gd name="connsiteY0" fmla="*/ 0 h 726621"/>
              <a:gd name="connsiteX1" fmla="*/ 661307 w 661307"/>
              <a:gd name="connsiteY1" fmla="*/ 0 h 726621"/>
              <a:gd name="connsiteX2" fmla="*/ 661307 w 661307"/>
              <a:gd name="connsiteY2" fmla="*/ 726621 h 726621"/>
              <a:gd name="connsiteX3" fmla="*/ 0 w 661307"/>
              <a:gd name="connsiteY3" fmla="*/ 726621 h 726621"/>
              <a:gd name="connsiteX4" fmla="*/ 0 w 661307"/>
              <a:gd name="connsiteY4" fmla="*/ 0 h 726621"/>
              <a:gd name="connsiteX0" fmla="*/ 0 w 661307"/>
              <a:gd name="connsiteY0" fmla="*/ 0 h 726621"/>
              <a:gd name="connsiteX1" fmla="*/ 661307 w 661307"/>
              <a:gd name="connsiteY1" fmla="*/ 0 h 726621"/>
              <a:gd name="connsiteX2" fmla="*/ 661307 w 661307"/>
              <a:gd name="connsiteY2" fmla="*/ 726621 h 726621"/>
              <a:gd name="connsiteX3" fmla="*/ 326571 w 661307"/>
              <a:gd name="connsiteY3" fmla="*/ 718457 h 726621"/>
              <a:gd name="connsiteX4" fmla="*/ 0 w 661307"/>
              <a:gd name="connsiteY4" fmla="*/ 726621 h 726621"/>
              <a:gd name="connsiteX5" fmla="*/ 0 w 661307"/>
              <a:gd name="connsiteY5" fmla="*/ 0 h 726621"/>
              <a:gd name="connsiteX0" fmla="*/ 0 w 661307"/>
              <a:gd name="connsiteY0" fmla="*/ 0 h 898071"/>
              <a:gd name="connsiteX1" fmla="*/ 661307 w 661307"/>
              <a:gd name="connsiteY1" fmla="*/ 0 h 898071"/>
              <a:gd name="connsiteX2" fmla="*/ 661307 w 661307"/>
              <a:gd name="connsiteY2" fmla="*/ 726621 h 898071"/>
              <a:gd name="connsiteX3" fmla="*/ 351063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18406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10242 w 661307"/>
              <a:gd name="connsiteY3" fmla="*/ 898071 h 898071"/>
              <a:gd name="connsiteX4" fmla="*/ 0 w 661307"/>
              <a:gd name="connsiteY4" fmla="*/ 726621 h 898071"/>
              <a:gd name="connsiteX5" fmla="*/ 0 w 661307"/>
              <a:gd name="connsiteY5" fmla="*/ 0 h 898071"/>
              <a:gd name="connsiteX0" fmla="*/ 0 w 661307"/>
              <a:gd name="connsiteY0" fmla="*/ 0 h 898071"/>
              <a:gd name="connsiteX1" fmla="*/ 661307 w 661307"/>
              <a:gd name="connsiteY1" fmla="*/ 0 h 898071"/>
              <a:gd name="connsiteX2" fmla="*/ 661307 w 661307"/>
              <a:gd name="connsiteY2" fmla="*/ 726621 h 898071"/>
              <a:gd name="connsiteX3" fmla="*/ 331673 w 661307"/>
              <a:gd name="connsiteY3" fmla="*/ 898071 h 898071"/>
              <a:gd name="connsiteX4" fmla="*/ 0 w 661307"/>
              <a:gd name="connsiteY4" fmla="*/ 726621 h 898071"/>
              <a:gd name="connsiteX5" fmla="*/ 0 w 661307"/>
              <a:gd name="connsiteY5" fmla="*/ 0 h 898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1307" h="898071">
                <a:moveTo>
                  <a:pt x="0" y="0"/>
                </a:moveTo>
                <a:lnTo>
                  <a:pt x="661307" y="0"/>
                </a:lnTo>
                <a:lnTo>
                  <a:pt x="661307" y="726621"/>
                </a:lnTo>
                <a:lnTo>
                  <a:pt x="331673" y="898071"/>
                </a:lnTo>
                <a:lnTo>
                  <a:pt x="0" y="726621"/>
                </a:lnTo>
                <a:lnTo>
                  <a:pt x="0" y="0"/>
                </a:lnTo>
                <a:close/>
              </a:path>
            </a:pathLst>
          </a:custGeom>
          <a:solidFill>
            <a:srgbClr val="1557AE"/>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userDrawn="1"/>
        </p:nvPicPr>
        <p:blipFill rotWithShape="1">
          <a:blip r:embed="rId2" cstate="print">
            <a:biLevel thresh="25000"/>
            <a:extLst>
              <a:ext uri="{28A0092B-C50C-407E-A947-70E740481C1C}">
                <a14:useLocalDpi xmlns:a14="http://schemas.microsoft.com/office/drawing/2010/main" val="0"/>
              </a:ext>
            </a:extLst>
          </a:blip>
          <a:srcRect t="77939" r="87942"/>
          <a:stretch/>
        </p:blipFill>
        <p:spPr>
          <a:xfrm>
            <a:off x="296112" y="195665"/>
            <a:ext cx="619134" cy="636802"/>
          </a:xfrm>
          <a:prstGeom prst="rect">
            <a:avLst/>
          </a:prstGeom>
        </p:spPr>
      </p:pic>
      <p:sp>
        <p:nvSpPr>
          <p:cNvPr id="4" name="矩形 3"/>
          <p:cNvSpPr/>
          <p:nvPr userDrawn="1"/>
        </p:nvSpPr>
        <p:spPr>
          <a:xfrm>
            <a:off x="71934" y="107901"/>
            <a:ext cx="112892" cy="812329"/>
          </a:xfrm>
          <a:prstGeom prst="rect">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过程 8"/>
          <p:cNvSpPr/>
          <p:nvPr userDrawn="1"/>
        </p:nvSpPr>
        <p:spPr>
          <a:xfrm rot="5400000" flipH="1">
            <a:off x="7637105" y="5350752"/>
            <a:ext cx="324399" cy="2689389"/>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9474 w 10000"/>
              <a:gd name="connsiteY2" fmla="*/ 9062 h 10000"/>
              <a:gd name="connsiteX3" fmla="*/ 0 w 10000"/>
              <a:gd name="connsiteY3" fmla="*/ 10000 h 10000"/>
              <a:gd name="connsiteX4" fmla="*/ 0 w 10000"/>
              <a:gd name="connsiteY4" fmla="*/ 0 h 10000"/>
              <a:gd name="connsiteX0" fmla="*/ 0 w 10075"/>
              <a:gd name="connsiteY0" fmla="*/ 0 h 10000"/>
              <a:gd name="connsiteX1" fmla="*/ 10000 w 10075"/>
              <a:gd name="connsiteY1" fmla="*/ 0 h 10000"/>
              <a:gd name="connsiteX2" fmla="*/ 10028 w 10075"/>
              <a:gd name="connsiteY2" fmla="*/ 8891 h 10000"/>
              <a:gd name="connsiteX3" fmla="*/ 0 w 10075"/>
              <a:gd name="connsiteY3" fmla="*/ 10000 h 10000"/>
              <a:gd name="connsiteX4" fmla="*/ 0 w 10075"/>
              <a:gd name="connsiteY4" fmla="*/ 0 h 10000"/>
              <a:gd name="connsiteX0" fmla="*/ 0 w 10335"/>
              <a:gd name="connsiteY0" fmla="*/ 0 h 10000"/>
              <a:gd name="connsiteX1" fmla="*/ 10000 w 10335"/>
              <a:gd name="connsiteY1" fmla="*/ 0 h 10000"/>
              <a:gd name="connsiteX2" fmla="*/ 10305 w 10335"/>
              <a:gd name="connsiteY2" fmla="*/ 8891 h 10000"/>
              <a:gd name="connsiteX3" fmla="*/ 0 w 10335"/>
              <a:gd name="connsiteY3" fmla="*/ 10000 h 10000"/>
              <a:gd name="connsiteX4" fmla="*/ 0 w 10335"/>
              <a:gd name="connsiteY4" fmla="*/ 0 h 10000"/>
              <a:gd name="connsiteX0" fmla="*/ 0 w 10000"/>
              <a:gd name="connsiteY0" fmla="*/ 0 h 10000"/>
              <a:gd name="connsiteX1" fmla="*/ 10000 w 10000"/>
              <a:gd name="connsiteY1" fmla="*/ 0 h 10000"/>
              <a:gd name="connsiteX2" fmla="*/ 9751 w 10000"/>
              <a:gd name="connsiteY2" fmla="*/ 9062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a:p>
        </p:txBody>
      </p:sp>
      <p:sp>
        <p:nvSpPr>
          <p:cNvPr id="6" name="矩形 5"/>
          <p:cNvSpPr/>
          <p:nvPr userDrawn="1"/>
        </p:nvSpPr>
        <p:spPr>
          <a:xfrm>
            <a:off x="6669766" y="6602968"/>
            <a:ext cx="2420500" cy="21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46" b="1" dirty="0">
                <a:solidFill>
                  <a:schemeClr val="bg1"/>
                </a:solidFill>
                <a:latin typeface="微软雅黑" panose="020B0503020204020204" pitchFamily="34" charset="-122"/>
                <a:ea typeface="微软雅黑" panose="020B0503020204020204" pitchFamily="34" charset="-122"/>
              </a:rPr>
              <a:t>西安交通大学</a:t>
            </a:r>
          </a:p>
        </p:txBody>
      </p:sp>
      <p:sp>
        <p:nvSpPr>
          <p:cNvPr id="7" name="流程图: 过程 6"/>
          <p:cNvSpPr/>
          <p:nvPr userDrawn="1"/>
        </p:nvSpPr>
        <p:spPr>
          <a:xfrm rot="5400000">
            <a:off x="3302905" y="3383209"/>
            <a:ext cx="171533" cy="6777344"/>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a:p>
        </p:txBody>
      </p:sp>
    </p:spTree>
    <p:extLst>
      <p:ext uri="{BB962C8B-B14F-4D97-AF65-F5344CB8AC3E}">
        <p14:creationId xmlns:p14="http://schemas.microsoft.com/office/powerpoint/2010/main" val="1690172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9144000" cy="6858001"/>
          </a:xfrm>
          <a:prstGeom prst="rect">
            <a:avLst/>
          </a:prstGeom>
        </p:spPr>
      </p:pic>
    </p:spTree>
    <p:extLst>
      <p:ext uri="{BB962C8B-B14F-4D97-AF65-F5344CB8AC3E}">
        <p14:creationId xmlns:p14="http://schemas.microsoft.com/office/powerpoint/2010/main" val="690654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自定义版式">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a:xfrm>
            <a:off x="0" y="360000"/>
            <a:ext cx="3240000" cy="54000"/>
          </a:xfrm>
          <a:prstGeom prst="rect">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5904954" y="360000"/>
            <a:ext cx="3240000" cy="54000"/>
          </a:xfrm>
          <a:prstGeom prst="rect">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402872" y="0"/>
            <a:ext cx="2387241" cy="838595"/>
          </a:xfrm>
          <a:prstGeom prst="rect">
            <a:avLst/>
          </a:prstGeom>
        </p:spPr>
      </p:pic>
    </p:spTree>
    <p:extLst>
      <p:ext uri="{BB962C8B-B14F-4D97-AF65-F5344CB8AC3E}">
        <p14:creationId xmlns:p14="http://schemas.microsoft.com/office/powerpoint/2010/main" val="18873119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379062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l="-159" t="140" r="-477" b="11636"/>
          <a:stretch/>
        </p:blipFill>
        <p:spPr>
          <a:xfrm>
            <a:off x="-14514" y="0"/>
            <a:ext cx="9202057" cy="5588000"/>
          </a:xfrm>
          <a:prstGeom prst="rect">
            <a:avLst/>
          </a:prstGeom>
        </p:spPr>
      </p:pic>
      <p:sp>
        <p:nvSpPr>
          <p:cNvPr id="6" name="矩形 5"/>
          <p:cNvSpPr/>
          <p:nvPr userDrawn="1"/>
        </p:nvSpPr>
        <p:spPr>
          <a:xfrm>
            <a:off x="0" y="-1"/>
            <a:ext cx="9085943" cy="5529943"/>
          </a:xfrm>
          <a:prstGeom prst="rect">
            <a:avLst/>
          </a:prstGeom>
          <a:solidFill>
            <a:srgbClr val="384A5A">
              <a:alpha val="50000"/>
            </a:srgb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436067" y="-79685"/>
            <a:ext cx="2707933" cy="1041512"/>
          </a:xfrm>
          <a:prstGeom prst="rect">
            <a:avLst/>
          </a:prstGeom>
        </p:spPr>
      </p:pic>
    </p:spTree>
    <p:extLst>
      <p:ext uri="{BB962C8B-B14F-4D97-AF65-F5344CB8AC3E}">
        <p14:creationId xmlns:p14="http://schemas.microsoft.com/office/powerpoint/2010/main" val="1218018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CB24BC-51E0-4A61-A890-4370566F82F1}" type="slidenum">
              <a:rPr lang="zh-CN" altLang="en-US" smtClean="0"/>
              <a:t>‹#›</a:t>
            </a:fld>
            <a:endParaRPr lang="zh-CN" altLang="en-US"/>
          </a:p>
        </p:txBody>
      </p:sp>
    </p:spTree>
    <p:extLst>
      <p:ext uri="{BB962C8B-B14F-4D97-AF65-F5344CB8AC3E}">
        <p14:creationId xmlns:p14="http://schemas.microsoft.com/office/powerpoint/2010/main" val="163262398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88"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6" r:id="rId14"/>
    <p:sldLayoutId id="2147483687" r:id="rId15"/>
    <p:sldLayoutId id="2147483655" r:id="rId16"/>
    <p:sldLayoutId id="2147483651" r:id="rId17"/>
    <p:sldLayoutId id="2147483668" r:id="rId18"/>
    <p:sldLayoutId id="2147483665" r:id="rId1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a:extLst>
              <a:ext uri="{FF2B5EF4-FFF2-40B4-BE49-F238E27FC236}">
                <a16:creationId xmlns:a16="http://schemas.microsoft.com/office/drawing/2014/main" id="{2A7F6A6F-E005-49E6-8D7B-A3F8A8EB76BC}"/>
              </a:ext>
            </a:extLst>
          </p:cNvPr>
          <p:cNvPicPr>
            <a:picLocks noChangeAspect="1" noChangeArrowheads="1"/>
          </p:cNvPicPr>
          <p:nvPr/>
        </p:nvPicPr>
        <p:blipFill>
          <a:blip r:embed="rId2">
            <a:duotone>
              <a:prstClr val="black"/>
              <a:schemeClr val="accent1">
                <a:tint val="45000"/>
                <a:satMod val="400000"/>
              </a:schemeClr>
            </a:duotone>
          </a:blip>
          <a:srcRect t="6494" r="23326" b="24977"/>
          <a:stretch>
            <a:fillRect/>
          </a:stretch>
        </p:blipFill>
        <p:spPr bwMode="auto">
          <a:xfrm>
            <a:off x="6003925" y="4075113"/>
            <a:ext cx="3140075" cy="2782887"/>
          </a:xfrm>
          <a:prstGeom prst="rect">
            <a:avLst/>
          </a:prstGeom>
          <a:noFill/>
          <a:ln>
            <a:noFill/>
          </a:ln>
        </p:spPr>
      </p:pic>
      <p:sp>
        <p:nvSpPr>
          <p:cNvPr id="3" name="矩形 2">
            <a:extLst>
              <a:ext uri="{FF2B5EF4-FFF2-40B4-BE49-F238E27FC236}">
                <a16:creationId xmlns:a16="http://schemas.microsoft.com/office/drawing/2014/main" id="{27519EBC-44EC-4365-A1CD-7FB0CEC51C03}"/>
              </a:ext>
            </a:extLst>
          </p:cNvPr>
          <p:cNvSpPr/>
          <p:nvPr/>
        </p:nvSpPr>
        <p:spPr>
          <a:xfrm>
            <a:off x="517525" y="1828800"/>
            <a:ext cx="8108950" cy="1384995"/>
          </a:xfrm>
          <a:prstGeom prst="rect">
            <a:avLst/>
          </a:prstGeom>
          <a:effectLst>
            <a:outerShdw blurRad="50800" dist="38100" dir="5400000" algn="t" rotWithShape="0">
              <a:prstClr val="black">
                <a:alpha val="40000"/>
              </a:prstClr>
            </a:outerShdw>
          </a:effectLst>
        </p:spPr>
        <p:txBody>
          <a:bodyPr>
            <a:spAutoFit/>
          </a:bodyPr>
          <a:lstStyle/>
          <a:p>
            <a:pPr algn="ctr" eaLnBrk="1" fontAlgn="auto" hangingPunct="1">
              <a:spcBef>
                <a:spcPts val="0"/>
              </a:spcBef>
              <a:spcAft>
                <a:spcPts val="0"/>
              </a:spcAft>
              <a:defRPr/>
            </a:pPr>
            <a:r>
              <a:rPr lang="zh-CN" altLang="en-US" sz="4800" dirty="0">
                <a:solidFill>
                  <a:prstClr val="black"/>
                </a:solidFill>
                <a:latin typeface="黑体"/>
                <a:ea typeface="黑体"/>
              </a:rPr>
              <a:t>短距离无线通信专题实验</a:t>
            </a:r>
            <a:endParaRPr lang="en-US" altLang="zh-CN" sz="4800" dirty="0">
              <a:solidFill>
                <a:prstClr val="black"/>
              </a:solidFill>
              <a:latin typeface="黑体"/>
              <a:ea typeface="黑体"/>
            </a:endParaRPr>
          </a:p>
          <a:p>
            <a:pPr algn="ctr" eaLnBrk="1" fontAlgn="auto" hangingPunct="1">
              <a:spcBef>
                <a:spcPts val="0"/>
              </a:spcBef>
              <a:spcAft>
                <a:spcPts val="0"/>
              </a:spcAft>
              <a:defRPr/>
            </a:pPr>
            <a:r>
              <a:rPr lang="zh-CN" altLang="en-US" sz="3600" dirty="0">
                <a:solidFill>
                  <a:prstClr val="black"/>
                </a:solidFill>
                <a:latin typeface="宋体" panose="02010600030101010101" pitchFamily="2" charset="-122"/>
              </a:rPr>
              <a:t>实验</a:t>
            </a:r>
            <a:r>
              <a:rPr lang="en-US" altLang="zh-CN" sz="3600" dirty="0">
                <a:solidFill>
                  <a:prstClr val="black"/>
                </a:solidFill>
                <a:latin typeface="宋体" panose="02010600030101010101" pitchFamily="2" charset="-122"/>
              </a:rPr>
              <a:t>6—</a:t>
            </a:r>
            <a:r>
              <a:rPr lang="zh-CN" altLang="en-US" sz="3600" dirty="0">
                <a:solidFill>
                  <a:prstClr val="black"/>
                </a:solidFill>
                <a:latin typeface="宋体" panose="02010600030101010101" pitchFamily="2" charset="-122"/>
              </a:rPr>
              <a:t>网络通信基础及综合设计实验</a:t>
            </a:r>
            <a:endParaRPr lang="en-US" altLang="zh-CN" sz="3600" dirty="0">
              <a:solidFill>
                <a:prstClr val="black"/>
              </a:solidFill>
              <a:latin typeface="宋体" panose="02010600030101010101" pitchFamily="2" charset="-122"/>
            </a:endParaRPr>
          </a:p>
        </p:txBody>
      </p:sp>
      <p:sp>
        <p:nvSpPr>
          <p:cNvPr id="5" name="矩形 4">
            <a:extLst>
              <a:ext uri="{FF2B5EF4-FFF2-40B4-BE49-F238E27FC236}">
                <a16:creationId xmlns:a16="http://schemas.microsoft.com/office/drawing/2014/main" id="{38E3442E-BC31-4527-AC61-B34A50EAF115}"/>
              </a:ext>
            </a:extLst>
          </p:cNvPr>
          <p:cNvSpPr/>
          <p:nvPr/>
        </p:nvSpPr>
        <p:spPr>
          <a:xfrm>
            <a:off x="1620838" y="4162425"/>
            <a:ext cx="6254750" cy="1422400"/>
          </a:xfrm>
          <a:prstGeom prst="rect">
            <a:avLst/>
          </a:prstGeom>
          <a:effectLst>
            <a:outerShdw blurRad="50800" dist="38100" dir="5400000" algn="t" rotWithShape="0">
              <a:prstClr val="black">
                <a:alpha val="40000"/>
              </a:prstClr>
            </a:outerShdw>
          </a:effectLst>
        </p:spPr>
        <p:txBody>
          <a:bodyPr>
            <a:spAutoFit/>
          </a:bodyPr>
          <a:lstStyle/>
          <a:p>
            <a:pPr eaLnBrk="1" fontAlgn="auto" hangingPunct="1">
              <a:spcBef>
                <a:spcPct val="20000"/>
              </a:spcBef>
              <a:spcAft>
                <a:spcPts val="0"/>
              </a:spcAft>
              <a:defRPr/>
            </a:pPr>
            <a:r>
              <a:rPr kumimoji="1" lang="zh-CN" altLang="en-US" sz="2400" dirty="0">
                <a:solidFill>
                  <a:prstClr val="black"/>
                </a:solidFill>
                <a:latin typeface="隶书" panose="02010509060101010101" pitchFamily="49" charset="-122"/>
                <a:ea typeface="隶书" panose="02010509060101010101" pitchFamily="49" charset="-122"/>
              </a:rPr>
              <a:t>教师：电信学部信通学院陈伟</a:t>
            </a:r>
            <a:endParaRPr kumimoji="1" lang="en-US" altLang="zh-CN" sz="2400" dirty="0">
              <a:solidFill>
                <a:prstClr val="black"/>
              </a:solidFill>
              <a:latin typeface="隶书" panose="02010509060101010101" pitchFamily="49" charset="-122"/>
              <a:ea typeface="隶书" panose="02010509060101010101" pitchFamily="49" charset="-122"/>
            </a:endParaRPr>
          </a:p>
          <a:p>
            <a:pPr eaLnBrk="1" fontAlgn="auto" hangingPunct="1">
              <a:spcBef>
                <a:spcPct val="20000"/>
              </a:spcBef>
              <a:spcAft>
                <a:spcPts val="0"/>
              </a:spcAft>
              <a:defRPr/>
            </a:pPr>
            <a:r>
              <a:rPr kumimoji="1" lang="zh-CN" altLang="en-US" sz="2400" dirty="0">
                <a:solidFill>
                  <a:prstClr val="black"/>
                </a:solidFill>
                <a:latin typeface="隶书" panose="02010509060101010101" pitchFamily="49" charset="-122"/>
                <a:ea typeface="隶书" panose="02010509060101010101" pitchFamily="49" charset="-122"/>
              </a:rPr>
              <a:t>邮箱：</a:t>
            </a:r>
            <a:r>
              <a:rPr kumimoji="1" lang="en-US" altLang="zh-CN" sz="2400" dirty="0">
                <a:solidFill>
                  <a:prstClr val="black"/>
                </a:solidFill>
                <a:latin typeface="Times New Roman" panose="02020603050405020304" pitchFamily="18" charset="0"/>
                <a:ea typeface="隶书" panose="02010509060101010101" pitchFamily="49" charset="-122"/>
              </a:rPr>
              <a:t>chw@mail.xjtu.edu.cn</a:t>
            </a:r>
            <a:r>
              <a:rPr kumimoji="1" lang="en-US" altLang="zh-CN" sz="2800" dirty="0">
                <a:solidFill>
                  <a:prstClr val="black"/>
                </a:solidFill>
                <a:latin typeface="隶书" panose="02010509060101010101" pitchFamily="49" charset="-122"/>
                <a:ea typeface="隶书" panose="02010509060101010101" pitchFamily="49" charset="-122"/>
              </a:rPr>
              <a:t> </a:t>
            </a:r>
          </a:p>
          <a:p>
            <a:pPr eaLnBrk="1" fontAlgn="auto" hangingPunct="1">
              <a:spcBef>
                <a:spcPct val="20000"/>
              </a:spcBef>
              <a:spcAft>
                <a:spcPts val="0"/>
              </a:spcAft>
              <a:defRPr/>
            </a:pPr>
            <a:r>
              <a:rPr kumimoji="1" lang="zh-CN" altLang="en-US" sz="2400" dirty="0">
                <a:solidFill>
                  <a:prstClr val="black"/>
                </a:solidFill>
                <a:latin typeface="Times New Roman" panose="02020603050405020304" pitchFamily="18" charset="0"/>
                <a:ea typeface="隶书" panose="02010509060101010101" pitchFamily="49" charset="-122"/>
              </a:rPr>
              <a:t>办公室：西一楼</a:t>
            </a:r>
            <a:r>
              <a:rPr kumimoji="1" lang="en-US" altLang="zh-CN" sz="2400" dirty="0">
                <a:solidFill>
                  <a:prstClr val="black"/>
                </a:solidFill>
                <a:latin typeface="Times New Roman" panose="02020603050405020304" pitchFamily="18" charset="0"/>
                <a:ea typeface="隶书" panose="02010509060101010101" pitchFamily="49" charset="-122"/>
              </a:rPr>
              <a:t>529</a:t>
            </a:r>
          </a:p>
        </p:txBody>
      </p:sp>
      <p:pic>
        <p:nvPicPr>
          <p:cNvPr id="7" name="图片 6">
            <a:extLst>
              <a:ext uri="{FF2B5EF4-FFF2-40B4-BE49-F238E27FC236}">
                <a16:creationId xmlns:a16="http://schemas.microsoft.com/office/drawing/2014/main" id="{62909D62-437F-4FE3-986A-4052189B1104}"/>
              </a:ext>
            </a:extLst>
          </p:cNvPr>
          <p:cNvPicPr>
            <a:picLocks noChangeAspect="1"/>
          </p:cNvPicPr>
          <p:nvPr/>
        </p:nvPicPr>
        <p:blipFill>
          <a:blip r:embed="rId3" cstate="print">
            <a:duotone>
              <a:schemeClr val="accent5">
                <a:shade val="45000"/>
                <a:satMod val="135000"/>
              </a:schemeClr>
              <a:prstClr val="white"/>
            </a:duotone>
          </a:blip>
          <a:stretch>
            <a:fillRect/>
          </a:stretch>
        </p:blipFill>
        <p:spPr>
          <a:xfrm>
            <a:off x="288000" y="72000"/>
            <a:ext cx="3088800" cy="1085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77500" lnSpcReduction="20000"/>
          </a:bodyPr>
          <a:lstStyle/>
          <a:p>
            <a:pPr>
              <a:lnSpc>
                <a:spcPct val="120000"/>
              </a:lnSpc>
              <a:spcBef>
                <a:spcPts val="0"/>
              </a:spcBef>
            </a:pPr>
            <a:r>
              <a:rPr lang="zh-CN" altLang="en-US" dirty="0"/>
              <a:t>要想让两台计算机进行通信，必须使它们采用相同的信息交换规则。我们把在计算机网络中用于规定信息的格式以及如何发送和接收信息的一套规则称为网络协议（</a:t>
            </a:r>
            <a:r>
              <a:rPr lang="en-US" altLang="zh-CN" dirty="0"/>
              <a:t>network protocol</a:t>
            </a:r>
            <a:r>
              <a:rPr lang="zh-CN" altLang="en-US" dirty="0"/>
              <a:t>）或通信协议（</a:t>
            </a:r>
            <a:r>
              <a:rPr lang="en-US" altLang="zh-CN" dirty="0"/>
              <a:t>communication protocol</a:t>
            </a:r>
            <a:r>
              <a:rPr lang="zh-CN" altLang="en-US" dirty="0"/>
              <a:t>）。</a:t>
            </a:r>
          </a:p>
          <a:p>
            <a:pPr>
              <a:lnSpc>
                <a:spcPct val="120000"/>
              </a:lnSpc>
              <a:spcBef>
                <a:spcPts val="0"/>
              </a:spcBef>
            </a:pPr>
            <a:r>
              <a:rPr lang="zh-CN" altLang="en-US" dirty="0"/>
              <a:t>为了减少网络协议设计的复杂性，网络设计者并不是设计一个单一、巨大的协议来为所有形式的通信规定完整的细节，而是采用把通信问题划分为许多个小问题，然后为每个小问题设计一个单独的协议的方法。这样做使得每个协议的设计、分析、编码和测试都比较容易。</a:t>
            </a:r>
            <a:endParaRPr lang="en-US" altLang="zh-CN" dirty="0"/>
          </a:p>
          <a:p>
            <a:pPr>
              <a:lnSpc>
                <a:spcPct val="120000"/>
              </a:lnSpc>
              <a:spcBef>
                <a:spcPts val="0"/>
              </a:spcBef>
            </a:pPr>
            <a:r>
              <a:rPr lang="zh-CN" altLang="en-US" dirty="0"/>
              <a:t>分层模型（</a:t>
            </a:r>
            <a:r>
              <a:rPr lang="en-US" altLang="zh-CN" dirty="0"/>
              <a:t>layering model</a:t>
            </a:r>
            <a:r>
              <a:rPr lang="zh-CN" altLang="en-US" dirty="0"/>
              <a:t>）是一种用于开发网络协议的设计方法。本质上，分层模型描述了把通信问题分为几个小问题（称为层次）的方法，每个小问题对应于一层。</a:t>
            </a:r>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2</a:t>
            </a:fld>
            <a:endParaRPr lang="zh-CN" altLang="en-US" dirty="0"/>
          </a:p>
        </p:txBody>
      </p:sp>
      <p:sp>
        <p:nvSpPr>
          <p:cNvPr id="5" name="标题 4"/>
          <p:cNvSpPr>
            <a:spLocks noGrp="1"/>
          </p:cNvSpPr>
          <p:nvPr>
            <p:ph type="title"/>
          </p:nvPr>
        </p:nvSpPr>
        <p:spPr/>
        <p:txBody>
          <a:bodyPr/>
          <a:lstStyle/>
          <a:p>
            <a:r>
              <a:rPr lang="en-US" altLang="zh-CN" dirty="0"/>
              <a:t>   </a:t>
            </a:r>
            <a:r>
              <a:rPr lang="zh-CN" altLang="en-US" dirty="0"/>
              <a:t>网络通信基础</a:t>
            </a:r>
          </a:p>
        </p:txBody>
      </p:sp>
    </p:spTree>
    <p:extLst>
      <p:ext uri="{BB962C8B-B14F-4D97-AF65-F5344CB8AC3E}">
        <p14:creationId xmlns:p14="http://schemas.microsoft.com/office/powerpoint/2010/main" val="312472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3</a:t>
            </a:fld>
            <a:endParaRPr lang="zh-CN" altLang="en-US" dirty="0"/>
          </a:p>
        </p:txBody>
      </p:sp>
      <p:sp>
        <p:nvSpPr>
          <p:cNvPr id="5" name="标题 4"/>
          <p:cNvSpPr>
            <a:spLocks noGrp="1"/>
          </p:cNvSpPr>
          <p:nvPr>
            <p:ph type="title"/>
          </p:nvPr>
        </p:nvSpPr>
        <p:spPr/>
        <p:txBody>
          <a:bodyPr>
            <a:normAutofit/>
          </a:bodyPr>
          <a:lstStyle/>
          <a:p>
            <a:pPr algn="ctr"/>
            <a:endParaRPr lang="zh-CN" altLang="en-US" sz="3200" dirty="0"/>
          </a:p>
        </p:txBody>
      </p:sp>
      <p:pic>
        <p:nvPicPr>
          <p:cNvPr id="7" name="图片 6"/>
          <p:cNvPicPr>
            <a:picLocks noChangeAspect="1"/>
          </p:cNvPicPr>
          <p:nvPr/>
        </p:nvPicPr>
        <p:blipFill>
          <a:blip r:embed="rId2"/>
          <a:stretch>
            <a:fillRect/>
          </a:stretch>
        </p:blipFill>
        <p:spPr>
          <a:xfrm>
            <a:off x="765936" y="793750"/>
            <a:ext cx="7612127" cy="4018937"/>
          </a:xfrm>
          <a:prstGeom prst="rect">
            <a:avLst/>
          </a:prstGeom>
        </p:spPr>
      </p:pic>
      <p:sp>
        <p:nvSpPr>
          <p:cNvPr id="8" name="文本框 7"/>
          <p:cNvSpPr txBox="1"/>
          <p:nvPr/>
        </p:nvSpPr>
        <p:spPr>
          <a:xfrm>
            <a:off x="6616033" y="5263978"/>
            <a:ext cx="1412566" cy="369332"/>
          </a:xfrm>
          <a:prstGeom prst="rect">
            <a:avLst/>
          </a:prstGeom>
          <a:noFill/>
        </p:spPr>
        <p:txBody>
          <a:bodyPr wrap="none" rtlCol="0">
            <a:spAutoFit/>
          </a:bodyPr>
          <a:lstStyle/>
          <a:p>
            <a:r>
              <a:rPr lang="en-US" altLang="zh-CN" dirty="0"/>
              <a:t>OSI 7</a:t>
            </a:r>
            <a:r>
              <a:rPr lang="zh-CN" altLang="en-US" dirty="0"/>
              <a:t>层模型</a:t>
            </a:r>
          </a:p>
        </p:txBody>
      </p:sp>
      <p:sp>
        <p:nvSpPr>
          <p:cNvPr id="9" name="文本框 8"/>
          <p:cNvSpPr txBox="1"/>
          <p:nvPr/>
        </p:nvSpPr>
        <p:spPr>
          <a:xfrm>
            <a:off x="1014709" y="5079312"/>
            <a:ext cx="1721946" cy="369332"/>
          </a:xfrm>
          <a:prstGeom prst="rect">
            <a:avLst/>
          </a:prstGeom>
          <a:noFill/>
        </p:spPr>
        <p:txBody>
          <a:bodyPr wrap="none" rtlCol="0">
            <a:spAutoFit/>
          </a:bodyPr>
          <a:lstStyle/>
          <a:p>
            <a:r>
              <a:rPr lang="en-US" altLang="zh-CN" dirty="0"/>
              <a:t>TCP/IP 4</a:t>
            </a:r>
            <a:r>
              <a:rPr lang="zh-CN" altLang="en-US" dirty="0"/>
              <a:t>层模型</a:t>
            </a:r>
          </a:p>
        </p:txBody>
      </p:sp>
    </p:spTree>
    <p:extLst>
      <p:ext uri="{BB962C8B-B14F-4D97-AF65-F5344CB8AC3E}">
        <p14:creationId xmlns:p14="http://schemas.microsoft.com/office/powerpoint/2010/main" val="1406621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传输控制协议 </a:t>
            </a:r>
            <a:r>
              <a:rPr lang="en-US" altLang="zh-CN" dirty="0"/>
              <a:t>TCP </a:t>
            </a:r>
            <a:r>
              <a:rPr lang="zh-CN" altLang="en-US" dirty="0"/>
              <a:t>是</a:t>
            </a:r>
            <a:r>
              <a:rPr lang="en-US" altLang="zh-CN" dirty="0"/>
              <a:t>(transmission control protocol)</a:t>
            </a:r>
            <a:r>
              <a:rPr lang="zh-CN" altLang="en-US" dirty="0"/>
              <a:t>专门用于在不可靠的因特网上提供可靠的、端对端的字节流通信的协议。通过在发送方和接收方分别创建一个称为套接字（</a:t>
            </a:r>
            <a:r>
              <a:rPr lang="en-US" altLang="zh-CN" dirty="0"/>
              <a:t>socket</a:t>
            </a:r>
            <a:r>
              <a:rPr lang="zh-CN" altLang="en-US" dirty="0"/>
              <a:t>）的通信端口就可以获得 </a:t>
            </a:r>
            <a:r>
              <a:rPr lang="en-US" altLang="zh-CN" dirty="0"/>
              <a:t>TCP </a:t>
            </a:r>
            <a:r>
              <a:rPr lang="zh-CN" altLang="en-US" dirty="0"/>
              <a:t>服务。所有的 </a:t>
            </a:r>
            <a:r>
              <a:rPr lang="en-US" altLang="zh-CN" dirty="0"/>
              <a:t>TCP </a:t>
            </a:r>
            <a:r>
              <a:rPr lang="zh-CN" altLang="en-US" dirty="0"/>
              <a:t>连接均是全双工的和点到点的。</a:t>
            </a:r>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4</a:t>
            </a:fld>
            <a:endParaRPr lang="zh-CN" altLang="en-US" dirty="0"/>
          </a:p>
        </p:txBody>
      </p:sp>
      <p:sp>
        <p:nvSpPr>
          <p:cNvPr id="5" name="标题 4"/>
          <p:cNvSpPr>
            <a:spLocks noGrp="1"/>
          </p:cNvSpPr>
          <p:nvPr>
            <p:ph type="title"/>
          </p:nvPr>
        </p:nvSpPr>
        <p:spPr>
          <a:xfrm>
            <a:off x="628650" y="914400"/>
            <a:ext cx="7886700" cy="776288"/>
          </a:xfrm>
        </p:spPr>
        <p:txBody>
          <a:bodyPr/>
          <a:lstStyle/>
          <a:p>
            <a:r>
              <a:rPr lang="en-US" altLang="zh-CN" dirty="0"/>
              <a:t> TCP </a:t>
            </a:r>
            <a:r>
              <a:rPr lang="zh-CN" altLang="en-US" dirty="0"/>
              <a:t>协议</a:t>
            </a:r>
          </a:p>
        </p:txBody>
      </p:sp>
    </p:spTree>
    <p:extLst>
      <p:ext uri="{BB962C8B-B14F-4D97-AF65-F5344CB8AC3E}">
        <p14:creationId xmlns:p14="http://schemas.microsoft.com/office/powerpoint/2010/main" val="1687461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5</a:t>
            </a:fld>
            <a:endParaRPr lang="zh-CN" altLang="en-US" dirty="0"/>
          </a:p>
        </p:txBody>
      </p:sp>
      <p:sp>
        <p:nvSpPr>
          <p:cNvPr id="5" name="标题 4"/>
          <p:cNvSpPr>
            <a:spLocks noGrp="1"/>
          </p:cNvSpPr>
          <p:nvPr>
            <p:ph type="title"/>
          </p:nvPr>
        </p:nvSpPr>
        <p:spPr/>
        <p:txBody>
          <a:bodyPr/>
          <a:lstStyle/>
          <a:p>
            <a:endParaRPr lang="zh-CN" altLang="en-US"/>
          </a:p>
        </p:txBody>
      </p:sp>
      <p:pic>
        <p:nvPicPr>
          <p:cNvPr id="6" name="图片 5"/>
          <p:cNvPicPr>
            <a:picLocks noChangeAspect="1"/>
          </p:cNvPicPr>
          <p:nvPr/>
        </p:nvPicPr>
        <p:blipFill>
          <a:blip r:embed="rId2"/>
          <a:stretch>
            <a:fillRect/>
          </a:stretch>
        </p:blipFill>
        <p:spPr>
          <a:xfrm>
            <a:off x="430945" y="270826"/>
            <a:ext cx="8552418" cy="6069458"/>
          </a:xfrm>
          <a:prstGeom prst="rect">
            <a:avLst/>
          </a:prstGeom>
        </p:spPr>
      </p:pic>
    </p:spTree>
    <p:extLst>
      <p:ext uri="{BB962C8B-B14F-4D97-AF65-F5344CB8AC3E}">
        <p14:creationId xmlns:p14="http://schemas.microsoft.com/office/powerpoint/2010/main" val="3884073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495425"/>
            <a:ext cx="7886700" cy="4351338"/>
          </a:xfrm>
        </p:spPr>
        <p:txBody>
          <a:bodyPr/>
          <a:lstStyle/>
          <a:p>
            <a:r>
              <a:rPr lang="en-US" altLang="zh-CN" dirty="0"/>
              <a:t>TCP </a:t>
            </a:r>
            <a:r>
              <a:rPr lang="zh-CN" altLang="en-US" dirty="0"/>
              <a:t>实体所采用的基本协议是滑动窗口协议。</a:t>
            </a:r>
            <a:endParaRPr lang="en-US" altLang="zh-CN" dirty="0"/>
          </a:p>
          <a:p>
            <a:r>
              <a:rPr lang="zh-CN" altLang="en-US" dirty="0"/>
              <a:t>当发送方传送一个数据报时，它将启动计时器。当该数据报到达目的地后，接收方的 </a:t>
            </a:r>
            <a:r>
              <a:rPr lang="en-US" altLang="zh-CN" dirty="0"/>
              <a:t>TCP </a:t>
            </a:r>
            <a:r>
              <a:rPr lang="zh-CN" altLang="en-US" dirty="0"/>
              <a:t>实体向回发送一个数据报，其中包含有一个确认序号，它等于希望收到的下一个数据报的顺序号。</a:t>
            </a:r>
            <a:endParaRPr lang="en-US" altLang="zh-CN" dirty="0"/>
          </a:p>
          <a:p>
            <a:r>
              <a:rPr lang="zh-CN" altLang="en-US" dirty="0"/>
              <a:t>如果发送方的定时器在确认信息到达之前超时，那么发送方会重发该数据报。</a:t>
            </a:r>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6</a:t>
            </a:fld>
            <a:endParaRPr lang="zh-CN" altLang="en-US" dirty="0"/>
          </a:p>
        </p:txBody>
      </p:sp>
    </p:spTree>
    <p:extLst>
      <p:ext uri="{BB962C8B-B14F-4D97-AF65-F5344CB8AC3E}">
        <p14:creationId xmlns:p14="http://schemas.microsoft.com/office/powerpoint/2010/main" val="3581091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无连接的传输协议 </a:t>
            </a:r>
            <a:r>
              <a:rPr lang="en-US" altLang="zh-CN" dirty="0"/>
              <a:t>UDP</a:t>
            </a:r>
            <a:r>
              <a:rPr lang="zh-CN" altLang="en-US" dirty="0"/>
              <a:t>（</a:t>
            </a:r>
            <a:r>
              <a:rPr lang="en-US" altLang="zh-CN" dirty="0"/>
              <a:t>user data protocol</a:t>
            </a:r>
            <a:r>
              <a:rPr lang="zh-CN" altLang="en-US" dirty="0"/>
              <a:t>）。 </a:t>
            </a:r>
            <a:r>
              <a:rPr lang="en-US" altLang="zh-CN" dirty="0"/>
              <a:t>UDP </a:t>
            </a:r>
            <a:r>
              <a:rPr lang="zh-CN" altLang="en-US" dirty="0"/>
              <a:t>使用底层的因特网协议来传送报文，提供与 </a:t>
            </a:r>
            <a:r>
              <a:rPr lang="en-US" altLang="zh-CN" dirty="0"/>
              <a:t>IP </a:t>
            </a:r>
            <a:r>
              <a:rPr lang="zh-CN" altLang="en-US" dirty="0"/>
              <a:t>一样的不可靠的、无连接的数据报传输服务。</a:t>
            </a:r>
            <a:endParaRPr lang="en-US" altLang="zh-CN" dirty="0"/>
          </a:p>
          <a:p>
            <a:r>
              <a:rPr lang="zh-CN" altLang="en-US" dirty="0"/>
              <a:t>它不使用确认信息对报文的到达进行确认，不对收到的数据报进行排序，也不提供反馈信息来控制机器之间传输的信息流量。</a:t>
            </a:r>
            <a:r>
              <a:rPr lang="en-US" altLang="zh-CN" dirty="0"/>
              <a:t>UDP </a:t>
            </a:r>
            <a:r>
              <a:rPr lang="zh-CN" altLang="en-US" dirty="0"/>
              <a:t>通信的可靠性方面的工作，包括报文的丢失、重复、乱序等现象，由使用 </a:t>
            </a:r>
            <a:r>
              <a:rPr lang="en-US" altLang="zh-CN" dirty="0"/>
              <a:t>UDP </a:t>
            </a:r>
            <a:r>
              <a:rPr lang="zh-CN" altLang="en-US" dirty="0"/>
              <a:t>的应用程序来承担。</a:t>
            </a:r>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7</a:t>
            </a:fld>
            <a:endParaRPr lang="zh-CN" altLang="en-US" dirty="0"/>
          </a:p>
        </p:txBody>
      </p:sp>
      <p:sp>
        <p:nvSpPr>
          <p:cNvPr id="5" name="标题 4"/>
          <p:cNvSpPr>
            <a:spLocks noGrp="1"/>
          </p:cNvSpPr>
          <p:nvPr>
            <p:ph type="title"/>
          </p:nvPr>
        </p:nvSpPr>
        <p:spPr>
          <a:xfrm>
            <a:off x="628650" y="1013254"/>
            <a:ext cx="7886700" cy="677434"/>
          </a:xfrm>
        </p:spPr>
        <p:txBody>
          <a:bodyPr>
            <a:normAutofit fontScale="90000"/>
          </a:bodyPr>
          <a:lstStyle/>
          <a:p>
            <a:r>
              <a:rPr lang="en-US" altLang="zh-CN" dirty="0"/>
              <a:t>UDP </a:t>
            </a:r>
            <a:r>
              <a:rPr lang="zh-CN" altLang="en-US" dirty="0"/>
              <a:t>协议</a:t>
            </a:r>
          </a:p>
        </p:txBody>
      </p:sp>
    </p:spTree>
    <p:extLst>
      <p:ext uri="{BB962C8B-B14F-4D97-AF65-F5344CB8AC3E}">
        <p14:creationId xmlns:p14="http://schemas.microsoft.com/office/powerpoint/2010/main" val="256717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750" y="1253331"/>
            <a:ext cx="7886700" cy="4351338"/>
          </a:xfrm>
        </p:spPr>
        <p:txBody>
          <a:bodyPr/>
          <a:lstStyle/>
          <a:p>
            <a:r>
              <a:rPr lang="zh-CN" altLang="en-US" dirty="0"/>
              <a:t>一个 </a:t>
            </a:r>
            <a:r>
              <a:rPr lang="en-US" altLang="zh-CN" dirty="0"/>
              <a:t>UDP </a:t>
            </a:r>
            <a:r>
              <a:rPr lang="zh-CN" altLang="en-US" dirty="0"/>
              <a:t>数据报包括一个 </a:t>
            </a:r>
            <a:r>
              <a:rPr lang="en-US" altLang="zh-CN" dirty="0"/>
              <a:t>8 </a:t>
            </a:r>
            <a:r>
              <a:rPr lang="zh-CN" altLang="en-US" dirty="0"/>
              <a:t>字节的头和数据部分。报头的格式如图所示，它包括四个长为 </a:t>
            </a:r>
            <a:r>
              <a:rPr lang="en-US" altLang="zh-CN" dirty="0"/>
              <a:t>16 </a:t>
            </a:r>
            <a:r>
              <a:rPr lang="zh-CN" altLang="en-US" dirty="0"/>
              <a:t>比特的字段。</a:t>
            </a:r>
            <a:endParaRPr lang="en-US" altLang="zh-CN" dirty="0"/>
          </a:p>
          <a:p>
            <a:r>
              <a:rPr lang="zh-CN" altLang="en-US" dirty="0"/>
              <a:t>源端口和目的端口的作用与 </a:t>
            </a:r>
            <a:r>
              <a:rPr lang="en-US" altLang="zh-CN" dirty="0"/>
              <a:t>TCP </a:t>
            </a:r>
            <a:r>
              <a:rPr lang="zh-CN" altLang="en-US" dirty="0"/>
              <a:t>中的相同，是用来标明源端和目的端的端口号。</a:t>
            </a:r>
            <a:r>
              <a:rPr lang="en-US" altLang="zh-CN" dirty="0"/>
              <a:t>UDP </a:t>
            </a:r>
            <a:r>
              <a:rPr lang="zh-CN" altLang="en-US" dirty="0"/>
              <a:t>长度字段指明包括 </a:t>
            </a:r>
            <a:r>
              <a:rPr lang="en-US" altLang="zh-CN" dirty="0"/>
              <a:t>8 </a:t>
            </a:r>
            <a:r>
              <a:rPr lang="zh-CN" altLang="en-US" dirty="0"/>
              <a:t>个字节的头和数据在内的数据报长度。</a:t>
            </a:r>
            <a:r>
              <a:rPr lang="en-US" altLang="zh-CN" dirty="0"/>
              <a:t>UDP </a:t>
            </a:r>
            <a:r>
              <a:rPr lang="zh-CN" altLang="en-US" dirty="0"/>
              <a:t>校验和字段是可选项，用于纪录 </a:t>
            </a:r>
            <a:r>
              <a:rPr lang="en-US" altLang="zh-CN" dirty="0"/>
              <a:t>UDP </a:t>
            </a:r>
            <a:r>
              <a:rPr lang="zh-CN" altLang="en-US" dirty="0"/>
              <a:t>头、</a:t>
            </a:r>
            <a:r>
              <a:rPr lang="en-US" altLang="zh-CN" dirty="0"/>
              <a:t>UDP </a:t>
            </a:r>
            <a:r>
              <a:rPr lang="zh-CN" altLang="en-US" dirty="0"/>
              <a:t>伪头、用户数据三者的校验和。</a:t>
            </a:r>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8</a:t>
            </a:fld>
            <a:endParaRPr lang="zh-CN" altLang="en-US" dirty="0"/>
          </a:p>
        </p:txBody>
      </p:sp>
      <p:pic>
        <p:nvPicPr>
          <p:cNvPr id="6" name="图片 5"/>
          <p:cNvPicPr>
            <a:picLocks noChangeAspect="1"/>
          </p:cNvPicPr>
          <p:nvPr/>
        </p:nvPicPr>
        <p:blipFill>
          <a:blip r:embed="rId2"/>
          <a:stretch>
            <a:fillRect/>
          </a:stretch>
        </p:blipFill>
        <p:spPr>
          <a:xfrm>
            <a:off x="347016" y="5130838"/>
            <a:ext cx="8168334" cy="1372766"/>
          </a:xfrm>
          <a:prstGeom prst="rect">
            <a:avLst/>
          </a:prstGeom>
        </p:spPr>
      </p:pic>
    </p:spTree>
    <p:extLst>
      <p:ext uri="{BB962C8B-B14F-4D97-AF65-F5344CB8AC3E}">
        <p14:creationId xmlns:p14="http://schemas.microsoft.com/office/powerpoint/2010/main" val="1211814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9</a:t>
            </a:fld>
            <a:endParaRPr lang="zh-CN" altLang="en-US" dirty="0"/>
          </a:p>
        </p:txBody>
      </p:sp>
      <p:pic>
        <p:nvPicPr>
          <p:cNvPr id="6" name="图片 5"/>
          <p:cNvPicPr>
            <a:picLocks noChangeAspect="1"/>
          </p:cNvPicPr>
          <p:nvPr/>
        </p:nvPicPr>
        <p:blipFill>
          <a:blip r:embed="rId3"/>
          <a:stretch>
            <a:fillRect/>
          </a:stretch>
        </p:blipFill>
        <p:spPr>
          <a:xfrm>
            <a:off x="1093276" y="365125"/>
            <a:ext cx="7321676" cy="6055521"/>
          </a:xfrm>
          <a:prstGeom prst="rect">
            <a:avLst/>
          </a:prstGeom>
        </p:spPr>
      </p:pic>
    </p:spTree>
    <p:extLst>
      <p:ext uri="{BB962C8B-B14F-4D97-AF65-F5344CB8AC3E}">
        <p14:creationId xmlns:p14="http://schemas.microsoft.com/office/powerpoint/2010/main" val="4077499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Socket </a:t>
            </a:r>
            <a:r>
              <a:rPr lang="zh-CN" altLang="en-US" dirty="0"/>
              <a:t>是应用层与 </a:t>
            </a:r>
            <a:r>
              <a:rPr lang="en-US" altLang="zh-CN" dirty="0"/>
              <a:t>TCP/IP </a:t>
            </a:r>
            <a:r>
              <a:rPr lang="zh-CN" altLang="en-US" dirty="0"/>
              <a:t>协议族通信的中间软件抽象层，它是一组接口。在设计模式中，</a:t>
            </a:r>
            <a:r>
              <a:rPr lang="en-US" altLang="zh-CN" dirty="0"/>
              <a:t>Socket </a:t>
            </a:r>
            <a:r>
              <a:rPr lang="zh-CN" altLang="en-US" dirty="0"/>
              <a:t>其实就是一个门面模式，它把复杂的 </a:t>
            </a:r>
            <a:r>
              <a:rPr lang="en-US" altLang="zh-CN" dirty="0"/>
              <a:t>TCP/IP </a:t>
            </a:r>
            <a:r>
              <a:rPr lang="zh-CN" altLang="en-US" dirty="0"/>
              <a:t>协议族隐藏在 </a:t>
            </a:r>
            <a:r>
              <a:rPr lang="en-US" altLang="zh-CN" dirty="0"/>
              <a:t>Socket </a:t>
            </a:r>
            <a:r>
              <a:rPr lang="zh-CN" altLang="en-US" dirty="0"/>
              <a:t>接口后面，对用户来说，一组简单的接口就是全部，让 </a:t>
            </a:r>
            <a:r>
              <a:rPr lang="en-US" altLang="zh-CN" dirty="0"/>
              <a:t>Socket </a:t>
            </a:r>
            <a:r>
              <a:rPr lang="zh-CN" altLang="en-US" dirty="0"/>
              <a:t>去组织数据，以符合指定的协议。</a:t>
            </a:r>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10</a:t>
            </a:fld>
            <a:endParaRPr lang="zh-CN" altLang="en-US" dirty="0"/>
          </a:p>
        </p:txBody>
      </p:sp>
      <p:sp>
        <p:nvSpPr>
          <p:cNvPr id="5" name="标题 4"/>
          <p:cNvSpPr>
            <a:spLocks noGrp="1"/>
          </p:cNvSpPr>
          <p:nvPr>
            <p:ph type="title"/>
          </p:nvPr>
        </p:nvSpPr>
        <p:spPr>
          <a:xfrm>
            <a:off x="965738" y="500062"/>
            <a:ext cx="7886700" cy="1325563"/>
          </a:xfrm>
        </p:spPr>
        <p:txBody>
          <a:bodyPr/>
          <a:lstStyle/>
          <a:p>
            <a:r>
              <a:rPr lang="en-US" altLang="zh-CN" dirty="0"/>
              <a:t>Socket </a:t>
            </a:r>
            <a:r>
              <a:rPr lang="zh-CN" altLang="en-US" dirty="0"/>
              <a:t>套接字</a:t>
            </a:r>
          </a:p>
        </p:txBody>
      </p:sp>
    </p:spTree>
    <p:extLst>
      <p:ext uri="{BB962C8B-B14F-4D97-AF65-F5344CB8AC3E}">
        <p14:creationId xmlns:p14="http://schemas.microsoft.com/office/powerpoint/2010/main" val="2431377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11</a:t>
            </a:fld>
            <a:endParaRPr lang="zh-CN" altLang="en-US" dirty="0"/>
          </a:p>
        </p:txBody>
      </p:sp>
      <p:pic>
        <p:nvPicPr>
          <p:cNvPr id="6" name="图片 5"/>
          <p:cNvPicPr>
            <a:picLocks noChangeAspect="1"/>
          </p:cNvPicPr>
          <p:nvPr/>
        </p:nvPicPr>
        <p:blipFill>
          <a:blip r:embed="rId2"/>
          <a:stretch>
            <a:fillRect/>
          </a:stretch>
        </p:blipFill>
        <p:spPr>
          <a:xfrm>
            <a:off x="1133663" y="332071"/>
            <a:ext cx="6156824" cy="5934586"/>
          </a:xfrm>
          <a:prstGeom prst="rect">
            <a:avLst/>
          </a:prstGeom>
        </p:spPr>
      </p:pic>
    </p:spTree>
    <p:extLst>
      <p:ext uri="{BB962C8B-B14F-4D97-AF65-F5344CB8AC3E}">
        <p14:creationId xmlns:p14="http://schemas.microsoft.com/office/powerpoint/2010/main" val="3377798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CB24BC-51E0-4A61-A890-4370566F82F1}" type="slidenum">
              <a:rPr kumimoji="0" lang="zh-CN" altLang="en-US" sz="1400" b="1"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5" name="图片 2">
            <a:extLst>
              <a:ext uri="{FF2B5EF4-FFF2-40B4-BE49-F238E27FC236}">
                <a16:creationId xmlns:a16="http://schemas.microsoft.com/office/drawing/2014/main" id="{4AEF409E-4F06-473B-A037-A4A5A0968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365" y="843756"/>
            <a:ext cx="3017838"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4">
            <a:extLst>
              <a:ext uri="{FF2B5EF4-FFF2-40B4-BE49-F238E27FC236}">
                <a16:creationId xmlns:a16="http://schemas.microsoft.com/office/drawing/2014/main" id="{DF9AFF61-961A-47B6-97E8-C5479EADF5B6}"/>
              </a:ext>
            </a:extLst>
          </p:cNvPr>
          <p:cNvSpPr txBox="1">
            <a:spLocks noChangeArrowheads="1"/>
          </p:cNvSpPr>
          <p:nvPr/>
        </p:nvSpPr>
        <p:spPr bwMode="auto">
          <a:xfrm>
            <a:off x="4626312" y="1382861"/>
            <a:ext cx="3765448"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几个需要理解的概念：</a:t>
            </a:r>
            <a:endParaRPr lang="en-US" altLang="zh-CN" sz="2400" dirty="0"/>
          </a:p>
          <a:p>
            <a:pPr eaLnBrk="1" hangingPunct="1"/>
            <a:r>
              <a:rPr lang="en-US" altLang="zh-CN" sz="2400" dirty="0"/>
              <a:t>Station</a:t>
            </a:r>
          </a:p>
          <a:p>
            <a:pPr eaLnBrk="1" hangingPunct="1"/>
            <a:r>
              <a:rPr lang="en-US" altLang="zh-CN" sz="2400" dirty="0"/>
              <a:t>AP</a:t>
            </a:r>
          </a:p>
          <a:p>
            <a:pPr eaLnBrk="1" hangingPunct="1"/>
            <a:r>
              <a:rPr lang="en-US" altLang="zh-CN" sz="2400" dirty="0"/>
              <a:t>IP</a:t>
            </a:r>
            <a:r>
              <a:rPr lang="zh-CN" altLang="en-US" sz="2400" dirty="0"/>
              <a:t>地址</a:t>
            </a:r>
            <a:endParaRPr lang="en-US" altLang="zh-CN" sz="2400" dirty="0"/>
          </a:p>
          <a:p>
            <a:pPr eaLnBrk="1" hangingPunct="1"/>
            <a:r>
              <a:rPr lang="zh-CN" altLang="en-US" sz="2400" dirty="0"/>
              <a:t>子网掩码</a:t>
            </a:r>
            <a:endParaRPr lang="en-US" altLang="zh-CN" sz="2400" dirty="0"/>
          </a:p>
          <a:p>
            <a:pPr eaLnBrk="1" hangingPunct="1"/>
            <a:r>
              <a:rPr lang="zh-CN" altLang="en-US" sz="2400" dirty="0"/>
              <a:t>网关</a:t>
            </a:r>
          </a:p>
          <a:p>
            <a:pPr eaLnBrk="1" hangingPunct="1"/>
            <a:r>
              <a:rPr lang="en-US" altLang="zh-CN" sz="2400" dirty="0"/>
              <a:t>TCP/IP</a:t>
            </a:r>
            <a:r>
              <a:rPr lang="zh-CN" altLang="en-US" sz="2400" dirty="0"/>
              <a:t>协议栈</a:t>
            </a:r>
            <a:endParaRPr lang="en-US" altLang="zh-CN" sz="2400" dirty="0"/>
          </a:p>
          <a:p>
            <a:pPr eaLnBrk="1" hangingPunct="1"/>
            <a:r>
              <a:rPr lang="en-US" altLang="zh-CN" sz="2400" dirty="0"/>
              <a:t>TCP</a:t>
            </a:r>
            <a:r>
              <a:rPr lang="zh-CN" altLang="en-US" sz="2400" dirty="0"/>
              <a:t>、</a:t>
            </a:r>
            <a:r>
              <a:rPr lang="en-US" altLang="zh-CN" sz="2400" dirty="0"/>
              <a:t>UDP</a:t>
            </a:r>
          </a:p>
          <a:p>
            <a:r>
              <a:rPr lang="zh-CN" altLang="en-US" sz="2400" dirty="0"/>
              <a:t>端口号</a:t>
            </a:r>
          </a:p>
        </p:txBody>
      </p:sp>
      <p:sp>
        <p:nvSpPr>
          <p:cNvPr id="8" name="文本框 1">
            <a:extLst>
              <a:ext uri="{FF2B5EF4-FFF2-40B4-BE49-F238E27FC236}">
                <a16:creationId xmlns:a16="http://schemas.microsoft.com/office/drawing/2014/main" id="{9380F330-ACDD-4F63-A5AE-3AA5FBB2BDDC}"/>
              </a:ext>
            </a:extLst>
          </p:cNvPr>
          <p:cNvSpPr txBox="1">
            <a:spLocks noChangeArrowheads="1"/>
          </p:cNvSpPr>
          <p:nvPr/>
        </p:nvSpPr>
        <p:spPr bwMode="auto">
          <a:xfrm>
            <a:off x="1127915" y="202406"/>
            <a:ext cx="30527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dirty="0"/>
              <a:t>CC3200 Wi-Fi</a:t>
            </a:r>
          </a:p>
        </p:txBody>
      </p:sp>
    </p:spTree>
    <p:extLst>
      <p:ext uri="{BB962C8B-B14F-4D97-AF65-F5344CB8AC3E}">
        <p14:creationId xmlns:p14="http://schemas.microsoft.com/office/powerpoint/2010/main" val="1564888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CB24BC-51E0-4A61-A890-4370566F82F1}" type="slidenum">
              <a:rPr kumimoji="0" lang="zh-CN" altLang="en-US" sz="1400" b="1"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1">
            <a:extLst>
              <a:ext uri="{FF2B5EF4-FFF2-40B4-BE49-F238E27FC236}">
                <a16:creationId xmlns:a16="http://schemas.microsoft.com/office/drawing/2014/main" id="{9380F330-ACDD-4F63-A5AE-3AA5FBB2BDDC}"/>
              </a:ext>
            </a:extLst>
          </p:cNvPr>
          <p:cNvSpPr txBox="1">
            <a:spLocks noChangeArrowheads="1"/>
          </p:cNvSpPr>
          <p:nvPr/>
        </p:nvSpPr>
        <p:spPr bwMode="auto">
          <a:xfrm>
            <a:off x="1263048" y="202406"/>
            <a:ext cx="3416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36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超声测距传感器</a:t>
            </a:r>
            <a:endParaRPr kumimoji="0" lang="en-US" altLang="zh-CN" sz="36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Text Box 31">
            <a:extLst>
              <a:ext uri="{FF2B5EF4-FFF2-40B4-BE49-F238E27FC236}">
                <a16:creationId xmlns:a16="http://schemas.microsoft.com/office/drawing/2014/main" id="{883E6B1C-E818-461C-A8B7-E5F8694659E8}"/>
              </a:ext>
            </a:extLst>
          </p:cNvPr>
          <p:cNvSpPr txBox="1">
            <a:spLocks noChangeArrowheads="1"/>
          </p:cNvSpPr>
          <p:nvPr/>
        </p:nvSpPr>
        <p:spPr bwMode="auto">
          <a:xfrm>
            <a:off x="1676400" y="5257800"/>
            <a:ext cx="5899150" cy="396875"/>
          </a:xfrm>
          <a:prstGeom prst="rect">
            <a:avLst/>
          </a:prstGeom>
          <a:noFill/>
          <a:ln>
            <a:noFill/>
          </a:ln>
          <a:effectLst/>
        </p:spPr>
        <p:txBody>
          <a:bodyPr wrap="none">
            <a:spAutoFit/>
          </a:bodyPr>
          <a:lstStyle/>
          <a:p>
            <a:pPr eaLnBrk="1" hangingPunct="1">
              <a:defRPr/>
            </a:pPr>
            <a:r>
              <a:rPr lang="en-US" altLang="zh-CN" sz="2000" b="1">
                <a:solidFill>
                  <a:srgbClr val="A50021"/>
                </a:solidFill>
                <a:effectLst>
                  <a:outerShdw blurRad="38100" dist="38100" dir="2700000" algn="tl">
                    <a:srgbClr val="C0C0C0"/>
                  </a:outerShdw>
                </a:effectLst>
                <a:latin typeface="宋体" panose="02010600030101010101" pitchFamily="2" charset="-122"/>
              </a:rPr>
              <a:t>Vcc</a:t>
            </a:r>
            <a:r>
              <a:rPr lang="zh-CN" altLang="en-US" sz="2000" b="1">
                <a:solidFill>
                  <a:srgbClr val="A50021"/>
                </a:solidFill>
                <a:effectLst>
                  <a:outerShdw blurRad="38100" dist="38100" dir="2700000" algn="tl">
                    <a:srgbClr val="C0C0C0"/>
                  </a:outerShdw>
                </a:effectLst>
                <a:latin typeface="宋体" panose="02010600030101010101" pitchFamily="2" charset="-122"/>
              </a:rPr>
              <a:t>、  </a:t>
            </a:r>
            <a:r>
              <a:rPr lang="en-US" altLang="zh-CN" sz="2000" b="1">
                <a:solidFill>
                  <a:srgbClr val="A50021"/>
                </a:solidFill>
                <a:effectLst>
                  <a:outerShdw blurRad="38100" dist="38100" dir="2700000" algn="tl">
                    <a:srgbClr val="C0C0C0"/>
                  </a:outerShdw>
                </a:effectLst>
                <a:latin typeface="宋体" panose="02010600030101010101" pitchFamily="2" charset="-122"/>
              </a:rPr>
              <a:t>Trig</a:t>
            </a:r>
            <a:r>
              <a:rPr lang="zh-CN" altLang="en-US" sz="2000" b="1">
                <a:solidFill>
                  <a:srgbClr val="A50021"/>
                </a:solidFill>
                <a:effectLst>
                  <a:outerShdw blurRad="38100" dist="38100" dir="2700000" algn="tl">
                    <a:srgbClr val="C0C0C0"/>
                  </a:outerShdw>
                </a:effectLst>
                <a:latin typeface="宋体" panose="02010600030101010101" pitchFamily="2" charset="-122"/>
              </a:rPr>
              <a:t>（控制端）、  </a:t>
            </a:r>
            <a:r>
              <a:rPr lang="en-US" altLang="zh-CN" sz="2000" b="1">
                <a:solidFill>
                  <a:srgbClr val="A50021"/>
                </a:solidFill>
                <a:effectLst>
                  <a:outerShdw blurRad="38100" dist="38100" dir="2700000" algn="tl">
                    <a:srgbClr val="C0C0C0"/>
                  </a:outerShdw>
                </a:effectLst>
                <a:latin typeface="宋体" panose="02010600030101010101" pitchFamily="2" charset="-122"/>
              </a:rPr>
              <a:t>Echo</a:t>
            </a:r>
            <a:r>
              <a:rPr lang="zh-CN" altLang="en-US" sz="2000" b="1">
                <a:solidFill>
                  <a:srgbClr val="A50021"/>
                </a:solidFill>
                <a:effectLst>
                  <a:outerShdw blurRad="38100" dist="38100" dir="2700000" algn="tl">
                    <a:srgbClr val="C0C0C0"/>
                  </a:outerShdw>
                </a:effectLst>
                <a:latin typeface="宋体" panose="02010600030101010101" pitchFamily="2" charset="-122"/>
              </a:rPr>
              <a:t>（接收端）、 </a:t>
            </a:r>
            <a:r>
              <a:rPr lang="en-US" altLang="zh-CN" sz="2000" b="1">
                <a:solidFill>
                  <a:srgbClr val="A50021"/>
                </a:solidFill>
                <a:effectLst>
                  <a:outerShdw blurRad="38100" dist="38100" dir="2700000" algn="tl">
                    <a:srgbClr val="C0C0C0"/>
                  </a:outerShdw>
                </a:effectLst>
                <a:latin typeface="宋体" panose="02010600030101010101" pitchFamily="2" charset="-122"/>
              </a:rPr>
              <a:t>Gnd</a:t>
            </a:r>
          </a:p>
        </p:txBody>
      </p:sp>
      <p:sp>
        <p:nvSpPr>
          <p:cNvPr id="10" name="Line 34">
            <a:extLst>
              <a:ext uri="{FF2B5EF4-FFF2-40B4-BE49-F238E27FC236}">
                <a16:creationId xmlns:a16="http://schemas.microsoft.com/office/drawing/2014/main" id="{A5546EE5-A106-4EEE-8F1E-64847FEF386D}"/>
              </a:ext>
            </a:extLst>
          </p:cNvPr>
          <p:cNvSpPr>
            <a:spLocks noChangeShapeType="1"/>
          </p:cNvSpPr>
          <p:nvPr/>
        </p:nvSpPr>
        <p:spPr bwMode="auto">
          <a:xfrm flipH="1">
            <a:off x="2209800" y="4724400"/>
            <a:ext cx="1905000" cy="533400"/>
          </a:xfrm>
          <a:prstGeom prst="line">
            <a:avLst/>
          </a:prstGeom>
          <a:noFill/>
          <a:ln w="38100">
            <a:solidFill>
              <a:srgbClr val="800000"/>
            </a:solidFill>
            <a:round/>
            <a:headEnd/>
            <a:tailEnd/>
          </a:ln>
          <a:effectLst/>
        </p:spPr>
        <p:txBody>
          <a:bodyPr/>
          <a:lstStyle/>
          <a:p>
            <a:pPr eaLnBrk="1" fontAlgn="auto" hangingPunct="1">
              <a:spcBef>
                <a:spcPts val="0"/>
              </a:spcBef>
              <a:spcAft>
                <a:spcPts val="0"/>
              </a:spcAft>
              <a:defRPr/>
            </a:pPr>
            <a:endParaRPr lang="zh-CN" altLang="en-US" kern="0">
              <a:solidFill>
                <a:srgbClr val="000000"/>
              </a:solidFill>
            </a:endParaRPr>
          </a:p>
        </p:txBody>
      </p:sp>
      <p:sp>
        <p:nvSpPr>
          <p:cNvPr id="11" name="Line 35">
            <a:extLst>
              <a:ext uri="{FF2B5EF4-FFF2-40B4-BE49-F238E27FC236}">
                <a16:creationId xmlns:a16="http://schemas.microsoft.com/office/drawing/2014/main" id="{2E0376CA-3EC1-470B-B8F8-66AFACC8053C}"/>
              </a:ext>
            </a:extLst>
          </p:cNvPr>
          <p:cNvSpPr>
            <a:spLocks noChangeShapeType="1"/>
          </p:cNvSpPr>
          <p:nvPr/>
        </p:nvSpPr>
        <p:spPr bwMode="auto">
          <a:xfrm flipH="1">
            <a:off x="3886200" y="4800600"/>
            <a:ext cx="457200" cy="457200"/>
          </a:xfrm>
          <a:prstGeom prst="line">
            <a:avLst/>
          </a:prstGeom>
          <a:noFill/>
          <a:ln w="38100">
            <a:solidFill>
              <a:srgbClr val="800000"/>
            </a:solidFill>
            <a:round/>
            <a:headEnd/>
            <a:tailEnd/>
          </a:ln>
          <a:effectLst/>
        </p:spPr>
        <p:txBody>
          <a:bodyPr/>
          <a:lstStyle/>
          <a:p>
            <a:pPr eaLnBrk="1" fontAlgn="auto" hangingPunct="1">
              <a:spcBef>
                <a:spcPts val="0"/>
              </a:spcBef>
              <a:spcAft>
                <a:spcPts val="0"/>
              </a:spcAft>
              <a:defRPr/>
            </a:pPr>
            <a:endParaRPr lang="zh-CN" altLang="en-US" kern="0">
              <a:solidFill>
                <a:srgbClr val="000000"/>
              </a:solidFill>
            </a:endParaRPr>
          </a:p>
        </p:txBody>
      </p:sp>
      <p:sp>
        <p:nvSpPr>
          <p:cNvPr id="12" name="Line 36">
            <a:extLst>
              <a:ext uri="{FF2B5EF4-FFF2-40B4-BE49-F238E27FC236}">
                <a16:creationId xmlns:a16="http://schemas.microsoft.com/office/drawing/2014/main" id="{8AD61A55-7D1F-4B62-8FE6-C040E5D74E65}"/>
              </a:ext>
            </a:extLst>
          </p:cNvPr>
          <p:cNvSpPr>
            <a:spLocks noChangeShapeType="1"/>
          </p:cNvSpPr>
          <p:nvPr/>
        </p:nvSpPr>
        <p:spPr bwMode="auto">
          <a:xfrm>
            <a:off x="4572000" y="4800600"/>
            <a:ext cx="762000" cy="457200"/>
          </a:xfrm>
          <a:prstGeom prst="line">
            <a:avLst/>
          </a:prstGeom>
          <a:noFill/>
          <a:ln w="38100">
            <a:solidFill>
              <a:srgbClr val="800000"/>
            </a:solidFill>
            <a:round/>
            <a:headEnd/>
            <a:tailEnd/>
          </a:ln>
          <a:effectLst/>
        </p:spPr>
        <p:txBody>
          <a:bodyPr/>
          <a:lstStyle/>
          <a:p>
            <a:pPr eaLnBrk="1" fontAlgn="auto" hangingPunct="1">
              <a:spcBef>
                <a:spcPts val="0"/>
              </a:spcBef>
              <a:spcAft>
                <a:spcPts val="0"/>
              </a:spcAft>
              <a:defRPr/>
            </a:pPr>
            <a:endParaRPr lang="zh-CN" altLang="en-US" kern="0">
              <a:solidFill>
                <a:srgbClr val="000000"/>
              </a:solidFill>
            </a:endParaRPr>
          </a:p>
        </p:txBody>
      </p:sp>
      <p:sp>
        <p:nvSpPr>
          <p:cNvPr id="13" name="Line 37">
            <a:extLst>
              <a:ext uri="{FF2B5EF4-FFF2-40B4-BE49-F238E27FC236}">
                <a16:creationId xmlns:a16="http://schemas.microsoft.com/office/drawing/2014/main" id="{A9A70875-FB76-4AC5-B7E0-DEF8419FEB85}"/>
              </a:ext>
            </a:extLst>
          </p:cNvPr>
          <p:cNvSpPr>
            <a:spLocks noChangeShapeType="1"/>
          </p:cNvSpPr>
          <p:nvPr/>
        </p:nvSpPr>
        <p:spPr bwMode="auto">
          <a:xfrm>
            <a:off x="4876800" y="4724400"/>
            <a:ext cx="2286000" cy="533400"/>
          </a:xfrm>
          <a:prstGeom prst="line">
            <a:avLst/>
          </a:prstGeom>
          <a:noFill/>
          <a:ln w="38100">
            <a:solidFill>
              <a:srgbClr val="800000"/>
            </a:solidFill>
            <a:round/>
            <a:headEnd/>
            <a:tailEnd/>
          </a:ln>
          <a:effectLst/>
        </p:spPr>
        <p:txBody>
          <a:bodyPr/>
          <a:lstStyle/>
          <a:p>
            <a:pPr eaLnBrk="1" fontAlgn="auto" hangingPunct="1">
              <a:spcBef>
                <a:spcPts val="0"/>
              </a:spcBef>
              <a:spcAft>
                <a:spcPts val="0"/>
              </a:spcAft>
              <a:defRPr/>
            </a:pPr>
            <a:endParaRPr lang="zh-CN" altLang="en-US" kern="0">
              <a:solidFill>
                <a:srgbClr val="000000"/>
              </a:solidFill>
            </a:endParaRPr>
          </a:p>
        </p:txBody>
      </p:sp>
      <p:pic>
        <p:nvPicPr>
          <p:cNvPr id="14" name="Picture 40">
            <a:extLst>
              <a:ext uri="{FF2B5EF4-FFF2-40B4-BE49-F238E27FC236}">
                <a16:creationId xmlns:a16="http://schemas.microsoft.com/office/drawing/2014/main" id="{A8FADF4A-DF18-4DC3-ABD9-0D3EFAA4F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600200"/>
            <a:ext cx="510540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565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CB24BC-51E0-4A61-A890-4370566F82F1}" type="slidenum">
              <a:rPr kumimoji="0" lang="zh-CN" altLang="en-US" sz="1400" b="1"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8" name="文本框 1">
            <a:extLst>
              <a:ext uri="{FF2B5EF4-FFF2-40B4-BE49-F238E27FC236}">
                <a16:creationId xmlns:a16="http://schemas.microsoft.com/office/drawing/2014/main" id="{9380F330-ACDD-4F63-A5AE-3AA5FBB2BDDC}"/>
              </a:ext>
            </a:extLst>
          </p:cNvPr>
          <p:cNvSpPr txBox="1">
            <a:spLocks noChangeArrowheads="1"/>
          </p:cNvSpPr>
          <p:nvPr/>
        </p:nvSpPr>
        <p:spPr bwMode="auto">
          <a:xfrm>
            <a:off x="1263048" y="202406"/>
            <a:ext cx="5262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36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超声测距传感器工作原理</a:t>
            </a:r>
            <a:endParaRPr kumimoji="0" lang="en-US" altLang="zh-CN" sz="36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15" name="Picture 20">
            <a:extLst>
              <a:ext uri="{FF2B5EF4-FFF2-40B4-BE49-F238E27FC236}">
                <a16:creationId xmlns:a16="http://schemas.microsoft.com/office/drawing/2014/main" id="{46CAAA87-6DA4-4113-B3F9-89FC98EB9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089" y="848737"/>
            <a:ext cx="68580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9">
            <a:extLst>
              <a:ext uri="{FF2B5EF4-FFF2-40B4-BE49-F238E27FC236}">
                <a16:creationId xmlns:a16="http://schemas.microsoft.com/office/drawing/2014/main" id="{62EE3CFF-E8E3-4391-95E5-B1B8B2A4AB6E}"/>
              </a:ext>
            </a:extLst>
          </p:cNvPr>
          <p:cNvSpPr>
            <a:spLocks noChangeArrowheads="1"/>
          </p:cNvSpPr>
          <p:nvPr/>
        </p:nvSpPr>
        <p:spPr bwMode="auto">
          <a:xfrm>
            <a:off x="1188084" y="4219479"/>
            <a:ext cx="6335712" cy="2124075"/>
          </a:xfrm>
          <a:prstGeom prst="rect">
            <a:avLst/>
          </a:prstGeom>
          <a:noFill/>
          <a:ln>
            <a:noFill/>
          </a:ln>
          <a:effectLst/>
        </p:spPr>
        <p:txBody>
          <a:bodyPr anchor="ctr">
            <a:spAutoFit/>
          </a:bodyPr>
          <a:lstStyle/>
          <a:p>
            <a:pPr eaLnBrk="1" fontAlgn="auto" hangingPunct="1">
              <a:spcBef>
                <a:spcPts val="0"/>
              </a:spcBef>
              <a:spcAft>
                <a:spcPts val="0"/>
              </a:spcAft>
              <a:defRPr/>
            </a:pPr>
            <a:r>
              <a:rPr lang="en-US" altLang="zh-CN" sz="1600" kern="0" dirty="0">
                <a:solidFill>
                  <a:srgbClr val="3333FF"/>
                </a:solidFill>
                <a:latin typeface="宋体" panose="02010600030101010101" pitchFamily="2" charset="-122"/>
              </a:rPr>
              <a:t>(1)</a:t>
            </a:r>
            <a:r>
              <a:rPr lang="zh-CN" altLang="en-US" sz="1600" kern="0" dirty="0">
                <a:solidFill>
                  <a:srgbClr val="3333FF"/>
                </a:solidFill>
                <a:latin typeface="宋体" panose="02010600030101010101" pitchFamily="2" charset="-122"/>
              </a:rPr>
              <a:t>采用</a:t>
            </a:r>
            <a:r>
              <a:rPr lang="en-US" altLang="zh-CN" sz="1600" kern="0" dirty="0">
                <a:solidFill>
                  <a:srgbClr val="3333FF"/>
                </a:solidFill>
                <a:latin typeface="宋体" panose="02010600030101010101" pitchFamily="2" charset="-122"/>
              </a:rPr>
              <a:t>IO</a:t>
            </a:r>
            <a:r>
              <a:rPr lang="zh-CN" altLang="en-US" sz="1600" kern="0" dirty="0">
                <a:solidFill>
                  <a:srgbClr val="3333FF"/>
                </a:solidFill>
                <a:latin typeface="宋体" panose="02010600030101010101" pitchFamily="2" charset="-122"/>
              </a:rPr>
              <a:t>触发测距，给至少</a:t>
            </a:r>
            <a:r>
              <a:rPr lang="en-US" altLang="zh-CN" sz="1600" kern="0" dirty="0">
                <a:solidFill>
                  <a:srgbClr val="3333FF"/>
                </a:solidFill>
                <a:latin typeface="宋体" panose="02010600030101010101" pitchFamily="2" charset="-122"/>
              </a:rPr>
              <a:t>10us</a:t>
            </a:r>
            <a:r>
              <a:rPr lang="zh-CN" altLang="en-US" sz="1600" kern="0" dirty="0">
                <a:solidFill>
                  <a:srgbClr val="3333FF"/>
                </a:solidFill>
                <a:latin typeface="宋体" panose="02010600030101010101" pitchFamily="2" charset="-122"/>
              </a:rPr>
              <a:t>的高电平信号</a:t>
            </a:r>
            <a:r>
              <a:rPr lang="en-US" altLang="zh-CN" sz="1600" kern="0" dirty="0">
                <a:solidFill>
                  <a:srgbClr val="3333FF"/>
                </a:solidFill>
                <a:latin typeface="宋体" panose="02010600030101010101" pitchFamily="2" charset="-122"/>
              </a:rPr>
              <a:t>,</a:t>
            </a:r>
            <a:r>
              <a:rPr lang="zh-CN" altLang="en-US" sz="1600" kern="0" dirty="0">
                <a:solidFill>
                  <a:srgbClr val="3333FF"/>
                </a:solidFill>
                <a:latin typeface="宋体" panose="02010600030101010101" pitchFamily="2" charset="-122"/>
              </a:rPr>
              <a:t>实际</a:t>
            </a:r>
            <a:r>
              <a:rPr lang="en-US" altLang="zh-CN" sz="1600" kern="0" dirty="0">
                <a:solidFill>
                  <a:srgbClr val="3333FF"/>
                </a:solidFill>
                <a:latin typeface="宋体" panose="02010600030101010101" pitchFamily="2" charset="-122"/>
              </a:rPr>
              <a:t>40-50uS</a:t>
            </a:r>
            <a:r>
              <a:rPr lang="zh-CN" altLang="en-US" sz="1600" kern="0" dirty="0">
                <a:solidFill>
                  <a:srgbClr val="3333FF"/>
                </a:solidFill>
                <a:latin typeface="宋体" panose="02010600030101010101" pitchFamily="2" charset="-122"/>
              </a:rPr>
              <a:t>效果好。</a:t>
            </a:r>
            <a:endParaRPr lang="zh-CN" altLang="en-US" sz="1600" kern="0" dirty="0">
              <a:solidFill>
                <a:srgbClr val="000000"/>
              </a:solidFill>
              <a:latin typeface="宋体" panose="02010600030101010101" pitchFamily="2" charset="-122"/>
            </a:endParaRPr>
          </a:p>
          <a:p>
            <a:pPr eaLnBrk="1" fontAlgn="auto" hangingPunct="1">
              <a:spcBef>
                <a:spcPts val="0"/>
              </a:spcBef>
              <a:spcAft>
                <a:spcPts val="0"/>
              </a:spcAft>
              <a:defRPr/>
            </a:pPr>
            <a:r>
              <a:rPr lang="en-US" altLang="zh-CN" sz="1600" kern="0" dirty="0">
                <a:solidFill>
                  <a:srgbClr val="3333FF"/>
                </a:solidFill>
                <a:latin typeface="宋体" panose="02010600030101010101" pitchFamily="2" charset="-122"/>
              </a:rPr>
              <a:t>(2)</a:t>
            </a:r>
            <a:r>
              <a:rPr lang="zh-CN" altLang="en-US" sz="1600" kern="0" dirty="0">
                <a:solidFill>
                  <a:srgbClr val="3333FF"/>
                </a:solidFill>
                <a:latin typeface="宋体" panose="02010600030101010101" pitchFamily="2" charset="-122"/>
              </a:rPr>
              <a:t>模块自动发送</a:t>
            </a:r>
            <a:r>
              <a:rPr lang="en-US" altLang="zh-CN" sz="1600" kern="0" dirty="0">
                <a:solidFill>
                  <a:srgbClr val="3333FF"/>
                </a:solidFill>
                <a:latin typeface="宋体" panose="02010600030101010101" pitchFamily="2" charset="-122"/>
              </a:rPr>
              <a:t>8</a:t>
            </a:r>
            <a:r>
              <a:rPr lang="zh-CN" altLang="en-US" sz="1600" kern="0" dirty="0">
                <a:solidFill>
                  <a:srgbClr val="3333FF"/>
                </a:solidFill>
                <a:latin typeface="宋体" panose="02010600030101010101" pitchFamily="2" charset="-122"/>
              </a:rPr>
              <a:t>个</a:t>
            </a:r>
            <a:r>
              <a:rPr lang="en-US" altLang="zh-CN" sz="1600" kern="0" dirty="0">
                <a:solidFill>
                  <a:srgbClr val="3333FF"/>
                </a:solidFill>
                <a:latin typeface="宋体" panose="02010600030101010101" pitchFamily="2" charset="-122"/>
              </a:rPr>
              <a:t>40khz</a:t>
            </a:r>
            <a:r>
              <a:rPr lang="zh-CN" altLang="en-US" sz="1600" kern="0" dirty="0">
                <a:solidFill>
                  <a:srgbClr val="3333FF"/>
                </a:solidFill>
                <a:latin typeface="宋体" panose="02010600030101010101" pitchFamily="2" charset="-122"/>
              </a:rPr>
              <a:t>的方波。</a:t>
            </a:r>
            <a:endParaRPr lang="zh-CN" altLang="en-US" sz="1600" kern="0" dirty="0">
              <a:solidFill>
                <a:srgbClr val="000000"/>
              </a:solidFill>
              <a:latin typeface="宋体" panose="02010600030101010101" pitchFamily="2" charset="-122"/>
            </a:endParaRPr>
          </a:p>
          <a:p>
            <a:pPr eaLnBrk="1" fontAlgn="auto" hangingPunct="1">
              <a:spcBef>
                <a:spcPts val="0"/>
              </a:spcBef>
              <a:spcAft>
                <a:spcPts val="0"/>
              </a:spcAft>
              <a:defRPr/>
            </a:pPr>
            <a:r>
              <a:rPr lang="en-US" altLang="zh-CN" sz="1600" kern="0" dirty="0">
                <a:solidFill>
                  <a:srgbClr val="3333FF"/>
                </a:solidFill>
                <a:latin typeface="宋体" panose="02010600030101010101" pitchFamily="2" charset="-122"/>
              </a:rPr>
              <a:t>(3)</a:t>
            </a:r>
            <a:r>
              <a:rPr lang="zh-CN" altLang="en-US" sz="1600" kern="0" dirty="0">
                <a:solidFill>
                  <a:srgbClr val="3333FF"/>
                </a:solidFill>
                <a:latin typeface="宋体" panose="02010600030101010101" pitchFamily="2" charset="-122"/>
              </a:rPr>
              <a:t>有信号返回，通过</a:t>
            </a:r>
            <a:r>
              <a:rPr lang="en-US" altLang="zh-CN" sz="1600" kern="0" dirty="0">
                <a:solidFill>
                  <a:srgbClr val="3333FF"/>
                </a:solidFill>
                <a:latin typeface="宋体" panose="02010600030101010101" pitchFamily="2" charset="-122"/>
              </a:rPr>
              <a:t>IO</a:t>
            </a:r>
            <a:r>
              <a:rPr lang="zh-CN" altLang="en-US" sz="1600" kern="0" dirty="0">
                <a:solidFill>
                  <a:srgbClr val="3333FF"/>
                </a:solidFill>
                <a:latin typeface="宋体" panose="02010600030101010101" pitchFamily="2" charset="-122"/>
              </a:rPr>
              <a:t>输出一高电平，高电平持续的时间就是</a:t>
            </a:r>
            <a:r>
              <a:rPr lang="zh-CN" altLang="en-US" sz="1600" kern="0" dirty="0">
                <a:solidFill>
                  <a:srgbClr val="3333FF"/>
                </a:solidFill>
              </a:rPr>
              <a:t>超声</a:t>
            </a:r>
          </a:p>
          <a:p>
            <a:pPr eaLnBrk="1" fontAlgn="auto" hangingPunct="1">
              <a:spcBef>
                <a:spcPts val="0"/>
              </a:spcBef>
              <a:spcAft>
                <a:spcPts val="0"/>
              </a:spcAft>
              <a:defRPr/>
            </a:pPr>
            <a:r>
              <a:rPr lang="zh-CN" altLang="en-US" sz="1600" kern="0" dirty="0">
                <a:solidFill>
                  <a:srgbClr val="3333FF"/>
                </a:solidFill>
              </a:rPr>
              <a:t>     波从发射到返回的时间。</a:t>
            </a:r>
            <a:endParaRPr lang="zh-CN" altLang="en-US" sz="1600" kern="0" dirty="0">
              <a:solidFill>
                <a:srgbClr val="000000"/>
              </a:solidFill>
              <a:latin typeface="宋体" panose="02010600030101010101" pitchFamily="2" charset="-122"/>
            </a:endParaRPr>
          </a:p>
          <a:p>
            <a:pPr eaLnBrk="1" fontAlgn="auto" hangingPunct="1">
              <a:spcBef>
                <a:spcPts val="0"/>
              </a:spcBef>
              <a:spcAft>
                <a:spcPts val="0"/>
              </a:spcAft>
              <a:defRPr/>
            </a:pPr>
            <a:r>
              <a:rPr lang="en-US" altLang="zh-CN" sz="1600" kern="0" dirty="0">
                <a:solidFill>
                  <a:srgbClr val="3333FF"/>
                </a:solidFill>
                <a:latin typeface="宋体" panose="02010600030101010101" pitchFamily="2" charset="-122"/>
              </a:rPr>
              <a:t>(4)</a:t>
            </a:r>
            <a:r>
              <a:rPr lang="zh-CN" altLang="en-US" sz="1600" kern="0" dirty="0">
                <a:solidFill>
                  <a:srgbClr val="3333FF"/>
                </a:solidFill>
                <a:latin typeface="宋体" panose="02010600030101010101" pitchFamily="2" charset="-122"/>
              </a:rPr>
              <a:t>测试距离</a:t>
            </a:r>
            <a:r>
              <a:rPr lang="en-US" altLang="zh-CN" sz="1600" kern="0" dirty="0">
                <a:solidFill>
                  <a:srgbClr val="3333FF"/>
                </a:solidFill>
                <a:latin typeface="宋体" panose="02010600030101010101" pitchFamily="2" charset="-122"/>
              </a:rPr>
              <a:t>=(</a:t>
            </a:r>
            <a:r>
              <a:rPr lang="zh-CN" altLang="en-US" sz="1600" kern="0" dirty="0">
                <a:solidFill>
                  <a:srgbClr val="3333FF"/>
                </a:solidFill>
                <a:latin typeface="宋体" panose="02010600030101010101" pitchFamily="2" charset="-122"/>
              </a:rPr>
              <a:t>高电平时间*声速</a:t>
            </a:r>
            <a:r>
              <a:rPr lang="en-US" altLang="zh-CN" sz="1600" kern="0" dirty="0">
                <a:solidFill>
                  <a:srgbClr val="3333FF"/>
                </a:solidFill>
                <a:latin typeface="宋体" panose="02010600030101010101" pitchFamily="2" charset="-122"/>
              </a:rPr>
              <a:t>(340M/S))/2</a:t>
            </a:r>
            <a:r>
              <a:rPr lang="zh-CN" altLang="en-US" sz="1600" kern="0" dirty="0">
                <a:solidFill>
                  <a:srgbClr val="3333FF"/>
                </a:solidFill>
                <a:latin typeface="宋体" panose="02010600030101010101" pitchFamily="2" charset="-122"/>
              </a:rPr>
              <a:t>。</a:t>
            </a:r>
            <a:endParaRPr lang="en-US" altLang="zh-CN" sz="1600" kern="0" dirty="0">
              <a:solidFill>
                <a:srgbClr val="3333FF"/>
              </a:solidFill>
              <a:latin typeface="宋体" panose="02010600030101010101" pitchFamily="2" charset="-122"/>
            </a:endParaRPr>
          </a:p>
          <a:p>
            <a:pPr eaLnBrk="1" fontAlgn="auto" hangingPunct="1">
              <a:spcBef>
                <a:spcPts val="0"/>
              </a:spcBef>
              <a:spcAft>
                <a:spcPts val="0"/>
              </a:spcAft>
              <a:defRPr/>
            </a:pPr>
            <a:endParaRPr lang="en-US" altLang="zh-CN" sz="1600" kern="0" dirty="0">
              <a:solidFill>
                <a:srgbClr val="3333FF"/>
              </a:solidFill>
              <a:latin typeface="宋体" panose="02010600030101010101" pitchFamily="2" charset="-122"/>
            </a:endParaRPr>
          </a:p>
          <a:p>
            <a:pPr eaLnBrk="1" fontAlgn="auto" hangingPunct="1">
              <a:spcBef>
                <a:spcPts val="0"/>
              </a:spcBef>
              <a:spcAft>
                <a:spcPts val="0"/>
              </a:spcAft>
              <a:defRPr/>
            </a:pPr>
            <a:r>
              <a:rPr lang="zh-CN" altLang="en-US" sz="1600" kern="0" dirty="0">
                <a:solidFill>
                  <a:srgbClr val="3333FF"/>
                </a:solidFill>
                <a:latin typeface="宋体" panose="02010600030101010101" pitchFamily="2" charset="-122"/>
              </a:rPr>
              <a:t>请大家注意：</a:t>
            </a:r>
            <a:r>
              <a:rPr lang="zh-CN" altLang="en-US" sz="1600" kern="0" dirty="0">
                <a:solidFill>
                  <a:srgbClr val="FF0000"/>
                </a:solidFill>
                <a:latin typeface="宋体" panose="02010600030101010101" pitchFamily="2" charset="-122"/>
              </a:rPr>
              <a:t>超声测距传感器用实验板上的</a:t>
            </a:r>
            <a:r>
              <a:rPr lang="en-US" altLang="zh-CN" sz="1600" kern="0" dirty="0">
                <a:solidFill>
                  <a:srgbClr val="FF0000"/>
                </a:solidFill>
                <a:latin typeface="宋体" panose="02010600030101010101" pitchFamily="2" charset="-122"/>
              </a:rPr>
              <a:t>3.3V</a:t>
            </a:r>
            <a:r>
              <a:rPr lang="zh-CN" altLang="en-US" sz="1600" kern="0" dirty="0">
                <a:solidFill>
                  <a:srgbClr val="FF0000"/>
                </a:solidFill>
                <a:latin typeface="宋体" panose="02010600030101010101" pitchFamily="2" charset="-122"/>
              </a:rPr>
              <a:t>工作，不要接到</a:t>
            </a:r>
            <a:r>
              <a:rPr lang="en-US" altLang="zh-CN" sz="1600" kern="0" dirty="0">
                <a:solidFill>
                  <a:srgbClr val="FF0000"/>
                </a:solidFill>
                <a:latin typeface="宋体" panose="02010600030101010101" pitchFamily="2" charset="-122"/>
              </a:rPr>
              <a:t>5V</a:t>
            </a:r>
            <a:r>
              <a:rPr lang="zh-CN" altLang="en-US" sz="1600" kern="0" dirty="0">
                <a:solidFill>
                  <a:srgbClr val="FF0000"/>
                </a:solidFill>
                <a:latin typeface="宋体" panose="02010600030101010101" pitchFamily="2" charset="-122"/>
              </a:rPr>
              <a:t>上，接</a:t>
            </a:r>
            <a:r>
              <a:rPr lang="en-US" altLang="zh-CN" sz="1600" kern="0" dirty="0">
                <a:solidFill>
                  <a:srgbClr val="FF0000"/>
                </a:solidFill>
                <a:latin typeface="宋体" panose="02010600030101010101" pitchFamily="2" charset="-122"/>
              </a:rPr>
              <a:t>5V</a:t>
            </a:r>
            <a:r>
              <a:rPr lang="zh-CN" altLang="en-US" sz="1600" kern="0" dirty="0">
                <a:solidFill>
                  <a:srgbClr val="FF0000"/>
                </a:solidFill>
                <a:latin typeface="宋体" panose="02010600030101010101" pitchFamily="2" charset="-122"/>
              </a:rPr>
              <a:t>会烧单片机管脚。</a:t>
            </a:r>
            <a:endParaRPr lang="zh-CN" altLang="en-US" sz="1000" kern="0"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92052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45825FA1-AEE3-4083-8ABA-AA410CE7910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30319" y="1072321"/>
            <a:ext cx="5094175" cy="4351338"/>
          </a:xfrm>
        </p:spPr>
      </p:pic>
      <p:sp>
        <p:nvSpPr>
          <p:cNvPr id="3" name="页脚占位符 2">
            <a:extLst>
              <a:ext uri="{FF2B5EF4-FFF2-40B4-BE49-F238E27FC236}">
                <a16:creationId xmlns:a16="http://schemas.microsoft.com/office/drawing/2014/main" id="{97694E42-B90A-451F-AA33-292877BA551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459A0EA-5EA0-45C4-8855-948B79F76810}"/>
              </a:ext>
            </a:extLst>
          </p:cNvPr>
          <p:cNvSpPr>
            <a:spLocks noGrp="1"/>
          </p:cNvSpPr>
          <p:nvPr>
            <p:ph type="sldNum" sz="quarter" idx="12"/>
          </p:nvPr>
        </p:nvSpPr>
        <p:spPr/>
        <p:txBody>
          <a:bodyPr/>
          <a:lstStyle/>
          <a:p>
            <a:fld id="{4FCB24BC-51E0-4A61-A890-4370566F82F1}" type="slidenum">
              <a:rPr lang="zh-CN" altLang="en-US" smtClean="0"/>
              <a:pPr/>
              <a:t>15</a:t>
            </a:fld>
            <a:endParaRPr lang="zh-CN" altLang="en-US" dirty="0"/>
          </a:p>
        </p:txBody>
      </p:sp>
      <p:sp>
        <p:nvSpPr>
          <p:cNvPr id="5" name="标题 4">
            <a:extLst>
              <a:ext uri="{FF2B5EF4-FFF2-40B4-BE49-F238E27FC236}">
                <a16:creationId xmlns:a16="http://schemas.microsoft.com/office/drawing/2014/main" id="{7232AC63-F5CE-450D-A218-924E3FC87170}"/>
              </a:ext>
            </a:extLst>
          </p:cNvPr>
          <p:cNvSpPr>
            <a:spLocks noGrp="1"/>
          </p:cNvSpPr>
          <p:nvPr>
            <p:ph type="title"/>
          </p:nvPr>
        </p:nvSpPr>
        <p:spPr>
          <a:xfrm>
            <a:off x="1079093" y="133279"/>
            <a:ext cx="7886700" cy="939042"/>
          </a:xfrm>
        </p:spPr>
        <p:txBody>
          <a:bodyPr>
            <a:normAutofit/>
          </a:bodyPr>
          <a:lstStyle/>
          <a:p>
            <a:r>
              <a:rPr lang="en-US" altLang="zh-CN" sz="2800" b="1" dirty="0"/>
              <a:t>2025</a:t>
            </a:r>
            <a:r>
              <a:rPr lang="zh-CN" altLang="en-US" sz="2800" b="1" dirty="0"/>
              <a:t>年陕西省大学生电子设计竞赛九校联赛题</a:t>
            </a:r>
            <a:br>
              <a:rPr lang="zh-CN" altLang="en-US" sz="2800" b="1" dirty="0"/>
            </a:br>
            <a:r>
              <a:rPr lang="zh-CN" altLang="en-US" sz="2800" b="1" dirty="0"/>
              <a:t>摆动测量系统（</a:t>
            </a:r>
            <a:r>
              <a:rPr lang="en-US" altLang="zh-CN" sz="2800" b="1" dirty="0"/>
              <a:t>C </a:t>
            </a:r>
            <a:r>
              <a:rPr lang="zh-CN" altLang="en-US" sz="2800" b="1" dirty="0"/>
              <a:t>题）</a:t>
            </a:r>
          </a:p>
        </p:txBody>
      </p:sp>
      <p:sp>
        <p:nvSpPr>
          <p:cNvPr id="8" name="文本框 7">
            <a:extLst>
              <a:ext uri="{FF2B5EF4-FFF2-40B4-BE49-F238E27FC236}">
                <a16:creationId xmlns:a16="http://schemas.microsoft.com/office/drawing/2014/main" id="{3EB0E207-0AA5-4D74-B5B2-A9A21D81053A}"/>
              </a:ext>
            </a:extLst>
          </p:cNvPr>
          <p:cNvSpPr txBox="1"/>
          <p:nvPr/>
        </p:nvSpPr>
        <p:spPr>
          <a:xfrm>
            <a:off x="1229712" y="5493212"/>
            <a:ext cx="7328712" cy="646331"/>
          </a:xfrm>
          <a:prstGeom prst="rect">
            <a:avLst/>
          </a:prstGeom>
          <a:noFill/>
        </p:spPr>
        <p:txBody>
          <a:bodyPr wrap="square" rtlCol="0">
            <a:spAutoFit/>
          </a:bodyPr>
          <a:lstStyle/>
          <a:p>
            <a:r>
              <a:rPr lang="zh-CN" altLang="en-US" dirty="0"/>
              <a:t>        题目中测量系统不需要易拉罐外壳，蓝牙改为</a:t>
            </a:r>
            <a:r>
              <a:rPr lang="en-US" altLang="zh-CN" dirty="0"/>
              <a:t>WIFI</a:t>
            </a:r>
            <a:r>
              <a:rPr lang="zh-CN" altLang="en-US" dirty="0"/>
              <a:t>，手机终端扩展为手机终端或电脑，可以采用充电宝或外部供电，发挥部分</a:t>
            </a:r>
            <a:r>
              <a:rPr lang="en-US" altLang="zh-CN" dirty="0"/>
              <a:t>2</a:t>
            </a:r>
            <a:r>
              <a:rPr lang="zh-CN" altLang="en-US" dirty="0"/>
              <a:t>可以不做。</a:t>
            </a:r>
          </a:p>
        </p:txBody>
      </p:sp>
    </p:spTree>
    <p:extLst>
      <p:ext uri="{BB962C8B-B14F-4D97-AF65-F5344CB8AC3E}">
        <p14:creationId xmlns:p14="http://schemas.microsoft.com/office/powerpoint/2010/main" val="3952473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68448" y="1389888"/>
            <a:ext cx="8875552" cy="4202516"/>
          </a:xfrm>
        </p:spPr>
        <p:txBody>
          <a:bodyPr>
            <a:normAutofit/>
          </a:bodyPr>
          <a:lstStyle/>
          <a:p>
            <a:pPr marL="0" indent="0">
              <a:lnSpc>
                <a:spcPct val="120000"/>
              </a:lnSpc>
              <a:spcBef>
                <a:spcPct val="0"/>
              </a:spcBef>
              <a:buNone/>
              <a:defRPr/>
            </a:pPr>
            <a:r>
              <a:rPr lang="zh-CN" altLang="en-US" sz="3400" dirty="0"/>
              <a:t>实验</a:t>
            </a:r>
            <a:r>
              <a:rPr lang="en-US" altLang="zh-CN" sz="3400" dirty="0"/>
              <a:t>1-</a:t>
            </a:r>
            <a:r>
              <a:rPr lang="zh-CN" altLang="en-US" sz="3400" dirty="0"/>
              <a:t>短距离无线通信简介及按键控制跑马灯</a:t>
            </a:r>
            <a:endParaRPr lang="en-US" altLang="zh-CN" sz="3400" dirty="0"/>
          </a:p>
          <a:p>
            <a:pPr marL="0" indent="0">
              <a:lnSpc>
                <a:spcPct val="120000"/>
              </a:lnSpc>
              <a:spcBef>
                <a:spcPct val="0"/>
              </a:spcBef>
              <a:buNone/>
              <a:defRPr/>
            </a:pPr>
            <a:r>
              <a:rPr lang="zh-CN" altLang="en-US" sz="3400" dirty="0"/>
              <a:t>实验</a:t>
            </a:r>
            <a:r>
              <a:rPr lang="en-US" altLang="zh-CN" sz="3400" dirty="0"/>
              <a:t>2-</a:t>
            </a:r>
            <a:r>
              <a:rPr lang="zh-CN" altLang="en-US" sz="3400" dirty="0"/>
              <a:t>串口控制</a:t>
            </a:r>
            <a:r>
              <a:rPr lang="en-US" altLang="zh-CN" sz="3400" dirty="0"/>
              <a:t>LED</a:t>
            </a:r>
            <a:r>
              <a:rPr lang="zh-CN" altLang="en-US" sz="3400" dirty="0"/>
              <a:t>灯亮度</a:t>
            </a:r>
            <a:endParaRPr lang="en-US" altLang="zh-CN" sz="3400" dirty="0"/>
          </a:p>
          <a:p>
            <a:pPr marL="0" indent="0">
              <a:lnSpc>
                <a:spcPct val="120000"/>
              </a:lnSpc>
              <a:spcBef>
                <a:spcPct val="0"/>
              </a:spcBef>
              <a:buNone/>
              <a:defRPr/>
            </a:pPr>
            <a:r>
              <a:rPr lang="zh-CN" altLang="en-US" sz="3400" dirty="0"/>
              <a:t>实验</a:t>
            </a:r>
            <a:r>
              <a:rPr lang="en-US" altLang="zh-CN" sz="3400" dirty="0"/>
              <a:t>3-</a:t>
            </a:r>
            <a:r>
              <a:rPr lang="zh-CN" altLang="en-US" sz="3400" dirty="0"/>
              <a:t>通过</a:t>
            </a:r>
            <a:r>
              <a:rPr lang="en-US" altLang="zh-CN" sz="3400" dirty="0"/>
              <a:t>I2C</a:t>
            </a:r>
            <a:r>
              <a:rPr lang="zh-CN" altLang="en-US" sz="3400" dirty="0"/>
              <a:t>读取传感器信息</a:t>
            </a:r>
            <a:endParaRPr lang="en-US" altLang="zh-CN" sz="3400" dirty="0"/>
          </a:p>
          <a:p>
            <a:pPr marL="0" indent="0">
              <a:lnSpc>
                <a:spcPct val="120000"/>
              </a:lnSpc>
              <a:spcBef>
                <a:spcPct val="0"/>
              </a:spcBef>
              <a:buNone/>
              <a:defRPr/>
            </a:pPr>
            <a:r>
              <a:rPr lang="zh-CN" altLang="en-US" sz="3400" dirty="0"/>
              <a:t>实验</a:t>
            </a:r>
            <a:r>
              <a:rPr lang="en-US" altLang="zh-CN" sz="3400" dirty="0"/>
              <a:t>4-WiFi</a:t>
            </a:r>
            <a:r>
              <a:rPr lang="zh-CN" altLang="en-US" sz="3400" dirty="0"/>
              <a:t>基础与基本连接</a:t>
            </a:r>
            <a:endParaRPr lang="en-US" altLang="zh-CN" sz="3400" dirty="0"/>
          </a:p>
          <a:p>
            <a:pPr marL="0" indent="0">
              <a:lnSpc>
                <a:spcPct val="120000"/>
              </a:lnSpc>
              <a:spcBef>
                <a:spcPct val="0"/>
              </a:spcBef>
              <a:buNone/>
              <a:defRPr/>
            </a:pPr>
            <a:r>
              <a:rPr lang="zh-CN" altLang="en-US" sz="3400" dirty="0"/>
              <a:t>实验</a:t>
            </a:r>
            <a:r>
              <a:rPr lang="en-US" altLang="zh-CN" sz="3400" dirty="0"/>
              <a:t>5-</a:t>
            </a:r>
            <a:r>
              <a:rPr lang="zh-CN" altLang="en-US" sz="3400" dirty="0"/>
              <a:t>基于</a:t>
            </a:r>
            <a:r>
              <a:rPr lang="en-US" altLang="zh-CN" sz="3400" dirty="0" err="1"/>
              <a:t>WiFi</a:t>
            </a:r>
            <a:r>
              <a:rPr lang="zh-CN" altLang="en-US" sz="3400" dirty="0"/>
              <a:t>的</a:t>
            </a:r>
            <a:r>
              <a:rPr lang="en-US" altLang="zh-CN" sz="3400" dirty="0"/>
              <a:t>UDP</a:t>
            </a:r>
            <a:r>
              <a:rPr lang="zh-CN" altLang="en-US" sz="3400" dirty="0"/>
              <a:t>、</a:t>
            </a:r>
            <a:r>
              <a:rPr lang="en-US" altLang="zh-CN" sz="3400" dirty="0"/>
              <a:t>TCP</a:t>
            </a:r>
            <a:r>
              <a:rPr lang="zh-CN" altLang="en-US" sz="3400" dirty="0"/>
              <a:t>传输</a:t>
            </a:r>
            <a:endParaRPr lang="en-US" altLang="zh-CN" sz="3400" dirty="0"/>
          </a:p>
          <a:p>
            <a:pPr marL="0" indent="0">
              <a:lnSpc>
                <a:spcPct val="120000"/>
              </a:lnSpc>
              <a:spcBef>
                <a:spcPct val="0"/>
              </a:spcBef>
              <a:buNone/>
              <a:defRPr/>
            </a:pPr>
            <a:r>
              <a:rPr lang="zh-CN" altLang="en-US" sz="3400" dirty="0"/>
              <a:t>实验</a:t>
            </a:r>
            <a:r>
              <a:rPr lang="en-US" altLang="zh-CN" sz="3400" dirty="0"/>
              <a:t>6-</a:t>
            </a:r>
            <a:r>
              <a:rPr lang="zh-CN" altLang="en-US" sz="3400" dirty="0"/>
              <a:t>网络通信基础及综合设计实验</a:t>
            </a:r>
            <a:endParaRPr lang="zh-CN" altLang="zh-CN" sz="3400" dirty="0"/>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16</a:t>
            </a:fld>
            <a:endParaRPr lang="zh-CN" altLang="en-US" dirty="0"/>
          </a:p>
        </p:txBody>
      </p:sp>
      <p:sp>
        <p:nvSpPr>
          <p:cNvPr id="5" name="标题 4"/>
          <p:cNvSpPr>
            <a:spLocks noGrp="1"/>
          </p:cNvSpPr>
          <p:nvPr>
            <p:ph type="title"/>
          </p:nvPr>
        </p:nvSpPr>
        <p:spPr>
          <a:xfrm>
            <a:off x="1307110" y="681863"/>
            <a:ext cx="6121400" cy="708025"/>
          </a:xfrm>
        </p:spPr>
        <p:txBody>
          <a:bodyPr>
            <a:normAutofit/>
          </a:bodyPr>
          <a:lstStyle/>
          <a:p>
            <a:r>
              <a:rPr lang="zh-CN" altLang="en-US" dirty="0"/>
              <a:t>短距离无线通信实验</a:t>
            </a:r>
          </a:p>
        </p:txBody>
      </p:sp>
    </p:spTree>
    <p:extLst>
      <p:ext uri="{BB962C8B-B14F-4D97-AF65-F5344CB8AC3E}">
        <p14:creationId xmlns:p14="http://schemas.microsoft.com/office/powerpoint/2010/main" val="1812564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5677" y="844550"/>
            <a:ext cx="8261350" cy="5742804"/>
          </a:xfrm>
        </p:spPr>
        <p:txBody>
          <a:bodyPr>
            <a:normAutofit fontScale="85000" lnSpcReduction="20000"/>
          </a:bodyPr>
          <a:lstStyle/>
          <a:p>
            <a:pPr marL="0" indent="0">
              <a:lnSpc>
                <a:spcPct val="120000"/>
              </a:lnSpc>
              <a:spcBef>
                <a:spcPct val="0"/>
              </a:spcBef>
              <a:buNone/>
              <a:defRPr/>
            </a:pPr>
            <a:r>
              <a:rPr lang="zh-CN" altLang="en-US" dirty="0">
                <a:latin typeface="Arial" panose="020B0604020202020204" pitchFamily="34" charset="0"/>
                <a:ea typeface="宋体" panose="02010600030101010101" pitchFamily="2" charset="-122"/>
              </a:rPr>
              <a:t>        综合设计实验</a:t>
            </a: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：编写程序，使 </a:t>
            </a:r>
            <a:r>
              <a:rPr lang="en-US" altLang="zh-CN" dirty="0">
                <a:latin typeface="Arial" panose="020B0604020202020204" pitchFamily="34" charset="0"/>
                <a:ea typeface="宋体" panose="02010600030101010101" pitchFamily="2" charset="-122"/>
              </a:rPr>
              <a:t>CC3200</a:t>
            </a:r>
            <a:r>
              <a:rPr lang="zh-CN" altLang="en-US" dirty="0">
                <a:latin typeface="Arial" panose="020B0604020202020204" pitchFamily="34" charset="0"/>
                <a:ea typeface="宋体" panose="02010600030101010101" pitchFamily="2" charset="-122"/>
              </a:rPr>
              <a:t>板卡同</a:t>
            </a:r>
            <a:r>
              <a:rPr lang="en-US" altLang="zh-CN" dirty="0">
                <a:latin typeface="Arial" panose="020B0604020202020204" pitchFamily="34" charset="0"/>
                <a:ea typeface="宋体" panose="02010600030101010101" pitchFamily="2" charset="-122"/>
              </a:rPr>
              <a:t>PC</a:t>
            </a:r>
            <a:r>
              <a:rPr lang="zh-CN" altLang="en-US" dirty="0">
                <a:latin typeface="Arial" panose="020B0604020202020204" pitchFamily="34" charset="0"/>
                <a:ea typeface="宋体" panose="02010600030101010101" pitchFamily="2" charset="-122"/>
              </a:rPr>
              <a:t>机（或笔记本）之间能进行基于</a:t>
            </a:r>
            <a:r>
              <a:rPr lang="en-US" altLang="zh-CN" dirty="0">
                <a:latin typeface="Arial" panose="020B0604020202020204" pitchFamily="34" charset="0"/>
                <a:ea typeface="宋体" panose="02010600030101010101" pitchFamily="2" charset="-122"/>
              </a:rPr>
              <a:t>WIFI</a:t>
            </a:r>
            <a:r>
              <a:rPr lang="zh-CN" altLang="en-US" dirty="0">
                <a:latin typeface="Arial" panose="020B0604020202020204" pitchFamily="34" charset="0"/>
                <a:ea typeface="宋体" panose="02010600030101010101" pitchFamily="2" charset="-122"/>
              </a:rPr>
              <a:t>的</a:t>
            </a:r>
            <a:r>
              <a:rPr lang="en-US" altLang="zh-CN" dirty="0">
                <a:latin typeface="Arial" panose="020B0604020202020204" pitchFamily="34" charset="0"/>
                <a:ea typeface="宋体" panose="02010600030101010101" pitchFamily="2" charset="-122"/>
              </a:rPr>
              <a:t>TCP</a:t>
            </a:r>
            <a:r>
              <a:rPr lang="zh-CN" altLang="en-US" dirty="0">
                <a:latin typeface="Arial" panose="020B0604020202020204" pitchFamily="34" charset="0"/>
                <a:ea typeface="宋体" panose="02010600030101010101" pitchFamily="2" charset="-122"/>
              </a:rPr>
              <a:t>或</a:t>
            </a:r>
            <a:r>
              <a:rPr lang="en-US" altLang="zh-CN" dirty="0">
                <a:latin typeface="Arial" panose="020B0604020202020204" pitchFamily="34" charset="0"/>
                <a:ea typeface="宋体" panose="02010600030101010101" pitchFamily="2" charset="-122"/>
              </a:rPr>
              <a:t>UDP</a:t>
            </a:r>
            <a:r>
              <a:rPr lang="zh-CN" altLang="en-US" dirty="0">
                <a:latin typeface="Arial" panose="020B0604020202020204" pitchFamily="34" charset="0"/>
                <a:ea typeface="宋体" panose="02010600030101010101" pitchFamily="2" charset="-122"/>
              </a:rPr>
              <a:t>的数据传输。实现</a:t>
            </a:r>
            <a:r>
              <a:rPr lang="en-US" altLang="zh-CN" dirty="0">
                <a:latin typeface="Arial" panose="020B0604020202020204" pitchFamily="34" charset="0"/>
                <a:ea typeface="宋体" panose="02010600030101010101" pitchFamily="2" charset="-122"/>
              </a:rPr>
              <a:t>CC3200</a:t>
            </a:r>
            <a:r>
              <a:rPr lang="zh-CN" altLang="en-US" dirty="0">
                <a:latin typeface="Arial" panose="020B0604020202020204" pitchFamily="34" charset="0"/>
                <a:ea typeface="宋体" panose="02010600030101010101" pitchFamily="2" charset="-122"/>
              </a:rPr>
              <a:t>板上的按键状态、温度信息、三个方向的加速度信息、超声测距传感器的距离信息通过</a:t>
            </a:r>
            <a:r>
              <a:rPr lang="en-US" altLang="zh-CN" dirty="0">
                <a:latin typeface="Arial" panose="020B0604020202020204" pitchFamily="34" charset="0"/>
                <a:ea typeface="宋体" panose="02010600030101010101" pitchFamily="2" charset="-122"/>
              </a:rPr>
              <a:t>WIFI</a:t>
            </a:r>
            <a:r>
              <a:rPr lang="zh-CN" altLang="en-US" dirty="0">
                <a:latin typeface="Arial" panose="020B0604020202020204" pitchFamily="34" charset="0"/>
                <a:ea typeface="宋体" panose="02010600030101010101" pitchFamily="2" charset="-122"/>
              </a:rPr>
              <a:t>传输到</a:t>
            </a:r>
            <a:r>
              <a:rPr lang="en-US" altLang="zh-CN" dirty="0">
                <a:latin typeface="Arial" panose="020B0604020202020204" pitchFamily="34" charset="0"/>
                <a:ea typeface="宋体" panose="02010600030101010101" pitchFamily="2" charset="-122"/>
              </a:rPr>
              <a:t>PC</a:t>
            </a:r>
            <a:r>
              <a:rPr lang="zh-CN" altLang="en-US" dirty="0">
                <a:latin typeface="Arial" panose="020B0604020202020204" pitchFamily="34" charset="0"/>
                <a:ea typeface="宋体" panose="02010600030101010101" pitchFamily="2" charset="-122"/>
              </a:rPr>
              <a:t>机（或笔记本）上并合理显示；</a:t>
            </a:r>
            <a:r>
              <a:rPr lang="en-US" altLang="zh-CN" dirty="0">
                <a:latin typeface="Arial" panose="020B0604020202020204" pitchFamily="34" charset="0"/>
                <a:ea typeface="宋体" panose="02010600030101010101" pitchFamily="2" charset="-122"/>
              </a:rPr>
              <a:t>PC</a:t>
            </a:r>
            <a:r>
              <a:rPr lang="zh-CN" altLang="en-US" dirty="0">
                <a:latin typeface="Arial" panose="020B0604020202020204" pitchFamily="34" charset="0"/>
                <a:ea typeface="宋体" panose="02010600030101010101" pitchFamily="2" charset="-122"/>
              </a:rPr>
              <a:t>机可以通过</a:t>
            </a:r>
            <a:r>
              <a:rPr lang="en-US" altLang="zh-CN" dirty="0">
                <a:latin typeface="Arial" panose="020B0604020202020204" pitchFamily="34" charset="0"/>
                <a:ea typeface="宋体" panose="02010600030101010101" pitchFamily="2" charset="-122"/>
              </a:rPr>
              <a:t>WIFI</a:t>
            </a:r>
            <a:r>
              <a:rPr lang="zh-CN" altLang="en-US" dirty="0">
                <a:latin typeface="Arial" panose="020B0604020202020204" pitchFamily="34" charset="0"/>
                <a:ea typeface="宋体" panose="02010600030101010101" pitchFamily="2" charset="-122"/>
              </a:rPr>
              <a:t>控制</a:t>
            </a:r>
            <a:r>
              <a:rPr lang="en-US" altLang="zh-CN" dirty="0">
                <a:latin typeface="Arial" panose="020B0604020202020204" pitchFamily="34" charset="0"/>
                <a:ea typeface="宋体" panose="02010600030101010101" pitchFamily="2" charset="-122"/>
              </a:rPr>
              <a:t>CC3200</a:t>
            </a:r>
            <a:r>
              <a:rPr lang="zh-CN" altLang="en-US" dirty="0">
                <a:latin typeface="Arial" panose="020B0604020202020204" pitchFamily="34" charset="0"/>
                <a:ea typeface="宋体" panose="02010600030101010101" pitchFamily="2" charset="-122"/>
              </a:rPr>
              <a:t>板上</a:t>
            </a:r>
            <a:r>
              <a:rPr lang="en-US" altLang="zh-CN" dirty="0">
                <a:latin typeface="Arial" panose="020B0604020202020204" pitchFamily="34" charset="0"/>
                <a:ea typeface="宋体" panose="02010600030101010101" pitchFamily="2" charset="-122"/>
              </a:rPr>
              <a:t>LED</a:t>
            </a:r>
            <a:r>
              <a:rPr lang="zh-CN" altLang="en-US" dirty="0">
                <a:latin typeface="Arial" panose="020B0604020202020204" pitchFamily="34" charset="0"/>
                <a:ea typeface="宋体" panose="02010600030101010101" pitchFamily="2" charset="-122"/>
              </a:rPr>
              <a:t>亮度。自由发挥，完成的功能越强、对程序讲述的越好、成绩会越高。</a:t>
            </a:r>
            <a:endParaRPr lang="en-US" altLang="zh-CN" dirty="0">
              <a:latin typeface="Arial" panose="020B0604020202020204" pitchFamily="34" charset="0"/>
              <a:ea typeface="宋体" panose="02010600030101010101" pitchFamily="2" charset="-122"/>
            </a:endParaRPr>
          </a:p>
          <a:p>
            <a:pPr marL="342900" indent="-342900">
              <a:lnSpc>
                <a:spcPct val="120000"/>
              </a:lnSpc>
              <a:spcBef>
                <a:spcPct val="0"/>
              </a:spcBef>
              <a:buFont typeface="+mj-lt"/>
              <a:buAutoNum type="arabicPeriod"/>
              <a:defRPr/>
            </a:pPr>
            <a:endParaRPr lang="en-US" altLang="zh-CN" sz="3800" dirty="0">
              <a:latin typeface="Arial" panose="020B0604020202020204" pitchFamily="34" charset="0"/>
              <a:ea typeface="宋体" panose="02010600030101010101" pitchFamily="2" charset="-122"/>
            </a:endParaRPr>
          </a:p>
          <a:p>
            <a:pPr marL="0" indent="0">
              <a:lnSpc>
                <a:spcPct val="120000"/>
              </a:lnSpc>
              <a:spcBef>
                <a:spcPct val="0"/>
              </a:spcBef>
              <a:buNone/>
              <a:defRPr/>
            </a:pPr>
            <a:r>
              <a:rPr lang="zh-CN" altLang="en-US" dirty="0">
                <a:latin typeface="Arial" panose="020B0604020202020204" pitchFamily="34" charset="0"/>
                <a:ea typeface="宋体" panose="02010600030101010101" pitchFamily="2" charset="-122"/>
              </a:rPr>
              <a:t>        综合设计实验</a:t>
            </a:r>
            <a:r>
              <a:rPr lang="en-US" altLang="zh-CN" dirty="0">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2025</a:t>
            </a:r>
            <a:r>
              <a:rPr lang="zh-CN" altLang="en-US" dirty="0">
                <a:latin typeface="Arial" panose="020B0604020202020204" pitchFamily="34" charset="0"/>
                <a:ea typeface="宋体" panose="02010600030101010101" pitchFamily="2" charset="-122"/>
              </a:rPr>
              <a:t>年陕西省大学生电子设计竞赛九校联赛题摆动测量系统（</a:t>
            </a:r>
            <a:r>
              <a:rPr lang="en-US" altLang="zh-CN" dirty="0">
                <a:latin typeface="Arial" panose="020B0604020202020204" pitchFamily="34" charset="0"/>
                <a:ea typeface="宋体" panose="02010600030101010101" pitchFamily="2" charset="-122"/>
              </a:rPr>
              <a:t>C </a:t>
            </a:r>
            <a:r>
              <a:rPr lang="zh-CN" altLang="en-US" dirty="0">
                <a:latin typeface="Arial" panose="020B0604020202020204" pitchFamily="34" charset="0"/>
                <a:ea typeface="宋体" panose="02010600030101010101" pitchFamily="2" charset="-122"/>
              </a:rPr>
              <a:t>题）（题目调整见前述）</a:t>
            </a:r>
            <a:endParaRPr lang="en-US" altLang="zh-CN" dirty="0">
              <a:latin typeface="Arial" panose="020B0604020202020204" pitchFamily="34" charset="0"/>
              <a:ea typeface="宋体" panose="02010600030101010101" pitchFamily="2" charset="-122"/>
            </a:endParaRPr>
          </a:p>
          <a:p>
            <a:pPr marL="0" indent="0">
              <a:lnSpc>
                <a:spcPct val="120000"/>
              </a:lnSpc>
              <a:spcBef>
                <a:spcPct val="0"/>
              </a:spcBef>
              <a:buNone/>
              <a:defRPr/>
            </a:pPr>
            <a:endParaRPr lang="en-US" altLang="zh-CN" dirty="0">
              <a:latin typeface="Arial" panose="020B0604020202020204" pitchFamily="34" charset="0"/>
              <a:ea typeface="宋体" panose="02010600030101010101" pitchFamily="2" charset="-122"/>
            </a:endParaRPr>
          </a:p>
          <a:p>
            <a:pPr marL="0" indent="0">
              <a:lnSpc>
                <a:spcPct val="120000"/>
              </a:lnSpc>
              <a:spcBef>
                <a:spcPct val="0"/>
              </a:spcBef>
              <a:buNone/>
              <a:defRPr/>
            </a:pPr>
            <a:r>
              <a:rPr lang="zh-CN" altLang="en-US" dirty="0">
                <a:latin typeface="Arial" panose="020B0604020202020204" pitchFamily="34" charset="0"/>
                <a:ea typeface="宋体" panose="02010600030101010101" pitchFamily="2" charset="-122"/>
              </a:rPr>
              <a:t>       综合实验</a:t>
            </a: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和综合实验</a:t>
            </a:r>
            <a:r>
              <a:rPr lang="en-US" altLang="zh-CN" dirty="0">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中选一个完成即可。综合实验</a:t>
            </a:r>
            <a:r>
              <a:rPr lang="en-US" altLang="zh-CN" dirty="0">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没有参考程序，需要自己根据资料编写程序实现功能，难度较大。选综合实验</a:t>
            </a:r>
            <a:r>
              <a:rPr lang="en-US" altLang="zh-CN" dirty="0">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的同学可以得较高的分。</a:t>
            </a:r>
            <a:endParaRPr lang="en-US" altLang="zh-CN" dirty="0">
              <a:latin typeface="Arial" panose="020B0604020202020204" pitchFamily="34" charset="0"/>
              <a:ea typeface="宋体" panose="02010600030101010101" pitchFamily="2" charset="-122"/>
            </a:endParaRPr>
          </a:p>
          <a:p>
            <a:pPr marL="342900" indent="-342900">
              <a:lnSpc>
                <a:spcPct val="120000"/>
              </a:lnSpc>
              <a:spcBef>
                <a:spcPct val="0"/>
              </a:spcBef>
              <a:buFont typeface="+mj-lt"/>
              <a:buAutoNum type="arabicPeriod"/>
              <a:defRPr/>
            </a:pPr>
            <a:endParaRPr lang="en-US" altLang="zh-CN" dirty="0">
              <a:latin typeface="Arial" panose="020B0604020202020204" pitchFamily="34" charset="0"/>
              <a:ea typeface="宋体" panose="02010600030101010101" pitchFamily="2" charset="-122"/>
            </a:endParaRPr>
          </a:p>
          <a:p>
            <a:pPr marL="0" indent="0">
              <a:lnSpc>
                <a:spcPct val="120000"/>
              </a:lnSpc>
              <a:spcBef>
                <a:spcPct val="0"/>
              </a:spcBef>
              <a:buNone/>
              <a:defRPr/>
            </a:pPr>
            <a:endParaRPr lang="zh-CN" altLang="zh-CN" sz="3400" dirty="0"/>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17</a:t>
            </a:fld>
            <a:endParaRPr lang="zh-CN" altLang="en-US" dirty="0"/>
          </a:p>
        </p:txBody>
      </p:sp>
      <p:sp>
        <p:nvSpPr>
          <p:cNvPr id="5" name="标题 4"/>
          <p:cNvSpPr>
            <a:spLocks noGrp="1"/>
          </p:cNvSpPr>
          <p:nvPr>
            <p:ph type="title"/>
          </p:nvPr>
        </p:nvSpPr>
        <p:spPr>
          <a:xfrm>
            <a:off x="971550" y="136525"/>
            <a:ext cx="6121400" cy="708025"/>
          </a:xfrm>
        </p:spPr>
        <p:txBody>
          <a:bodyPr>
            <a:normAutofit/>
          </a:bodyPr>
          <a:lstStyle/>
          <a:p>
            <a:r>
              <a:rPr lang="zh-CN" altLang="en-US" dirty="0"/>
              <a:t>实验</a:t>
            </a:r>
            <a:r>
              <a:rPr lang="en-US" altLang="zh-CN" dirty="0"/>
              <a:t>6</a:t>
            </a:r>
            <a:r>
              <a:rPr lang="zh-CN" altLang="en-US" dirty="0"/>
              <a:t>综合设计</a:t>
            </a:r>
          </a:p>
        </p:txBody>
      </p:sp>
    </p:spTree>
    <p:extLst>
      <p:ext uri="{BB962C8B-B14F-4D97-AF65-F5344CB8AC3E}">
        <p14:creationId xmlns:p14="http://schemas.microsoft.com/office/powerpoint/2010/main" val="2407697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2DBF5E29-AB08-4EFE-B299-5116E66C8B0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879D8B3-F04C-435D-8DFF-E0EA332F372F}"/>
              </a:ext>
            </a:extLst>
          </p:cNvPr>
          <p:cNvSpPr>
            <a:spLocks noGrp="1"/>
          </p:cNvSpPr>
          <p:nvPr>
            <p:ph type="sldNum" sz="quarter" idx="12"/>
          </p:nvPr>
        </p:nvSpPr>
        <p:spPr/>
        <p:txBody>
          <a:bodyPr/>
          <a:lstStyle/>
          <a:p>
            <a:fld id="{4FCB24BC-51E0-4A61-A890-4370566F82F1}" type="slidenum">
              <a:rPr lang="zh-CN" altLang="en-US" smtClean="0"/>
              <a:pPr/>
              <a:t>18</a:t>
            </a:fld>
            <a:endParaRPr lang="zh-CN" altLang="en-US" dirty="0"/>
          </a:p>
        </p:txBody>
      </p:sp>
      <p:sp>
        <p:nvSpPr>
          <p:cNvPr id="5" name="标题 4">
            <a:extLst>
              <a:ext uri="{FF2B5EF4-FFF2-40B4-BE49-F238E27FC236}">
                <a16:creationId xmlns:a16="http://schemas.microsoft.com/office/drawing/2014/main" id="{D1D601FA-308A-44BA-B1DF-8F1A13CDC1B0}"/>
              </a:ext>
            </a:extLst>
          </p:cNvPr>
          <p:cNvSpPr>
            <a:spLocks noGrp="1"/>
          </p:cNvSpPr>
          <p:nvPr>
            <p:ph type="title"/>
          </p:nvPr>
        </p:nvSpPr>
        <p:spPr>
          <a:xfrm>
            <a:off x="1172419" y="136525"/>
            <a:ext cx="6799161" cy="747470"/>
          </a:xfrm>
        </p:spPr>
        <p:txBody>
          <a:bodyPr>
            <a:normAutofit/>
          </a:bodyPr>
          <a:lstStyle/>
          <a:p>
            <a:r>
              <a:rPr lang="zh-CN" altLang="en-US" sz="4000" dirty="0"/>
              <a:t>实验报告格式及要求</a:t>
            </a:r>
          </a:p>
        </p:txBody>
      </p:sp>
      <p:sp>
        <p:nvSpPr>
          <p:cNvPr id="9" name="内容占位符 2">
            <a:extLst>
              <a:ext uri="{FF2B5EF4-FFF2-40B4-BE49-F238E27FC236}">
                <a16:creationId xmlns:a16="http://schemas.microsoft.com/office/drawing/2014/main" id="{4DF621FC-63E3-4AD1-BD76-2ABA43AA3BB3}"/>
              </a:ext>
            </a:extLst>
          </p:cNvPr>
          <p:cNvSpPr txBox="1"/>
          <p:nvPr/>
        </p:nvSpPr>
        <p:spPr>
          <a:xfrm>
            <a:off x="404545" y="967472"/>
            <a:ext cx="8477250" cy="554461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FontTx/>
              <a:buNone/>
              <a:defRPr/>
            </a:pPr>
            <a:r>
              <a:rPr lang="zh-CN" altLang="en-US" sz="1600" dirty="0">
                <a:solidFill>
                  <a:prstClr val="black"/>
                </a:solidFill>
                <a:latin typeface="宋体" panose="02010600030101010101" pitchFamily="2" charset="-122"/>
                <a:ea typeface="宋体"/>
              </a:rPr>
              <a:t>实验报告内容及要求（</a:t>
            </a:r>
            <a:r>
              <a:rPr lang="en-US" altLang="zh-CN" sz="1600" dirty="0">
                <a:solidFill>
                  <a:prstClr val="black"/>
                </a:solidFill>
                <a:latin typeface="宋体" panose="02010600030101010101" pitchFamily="2" charset="-122"/>
                <a:ea typeface="宋体"/>
              </a:rPr>
              <a:t>6</a:t>
            </a:r>
            <a:r>
              <a:rPr lang="zh-CN" altLang="en-US" sz="1600" dirty="0">
                <a:solidFill>
                  <a:prstClr val="black"/>
                </a:solidFill>
                <a:latin typeface="宋体" panose="02010600030101010101" pitchFamily="2" charset="-122"/>
                <a:ea typeface="宋体"/>
              </a:rPr>
              <a:t>个实验的报告写在</a:t>
            </a:r>
            <a:r>
              <a:rPr lang="en-US" altLang="zh-CN" sz="1600" dirty="0">
                <a:solidFill>
                  <a:prstClr val="black"/>
                </a:solidFill>
                <a:latin typeface="宋体" panose="02010600030101010101" pitchFamily="2" charset="-122"/>
                <a:ea typeface="宋体"/>
              </a:rPr>
              <a:t>1</a:t>
            </a:r>
            <a:r>
              <a:rPr lang="zh-CN" altLang="en-US" sz="1600" dirty="0">
                <a:solidFill>
                  <a:prstClr val="black"/>
                </a:solidFill>
                <a:latin typeface="宋体" panose="02010600030101010101" pitchFamily="2" charset="-122"/>
                <a:ea typeface="宋体"/>
              </a:rPr>
              <a:t>个</a:t>
            </a:r>
            <a:r>
              <a:rPr lang="en-US" altLang="zh-CN" sz="1600" dirty="0">
                <a:solidFill>
                  <a:prstClr val="black"/>
                </a:solidFill>
                <a:latin typeface="宋体" panose="02010600030101010101" pitchFamily="2" charset="-122"/>
                <a:ea typeface="宋体"/>
              </a:rPr>
              <a:t>word</a:t>
            </a:r>
            <a:r>
              <a:rPr lang="zh-CN" altLang="en-US" sz="1600" dirty="0">
                <a:solidFill>
                  <a:prstClr val="black"/>
                </a:solidFill>
                <a:latin typeface="宋体" panose="02010600030101010101" pitchFamily="2" charset="-122"/>
                <a:ea typeface="宋体"/>
              </a:rPr>
              <a:t>文件和</a:t>
            </a:r>
            <a:r>
              <a:rPr lang="en-US" altLang="zh-CN" sz="1600" dirty="0">
                <a:solidFill>
                  <a:prstClr val="black"/>
                </a:solidFill>
                <a:latin typeface="宋体" panose="02010600030101010101" pitchFamily="2" charset="-122"/>
                <a:ea typeface="宋体"/>
              </a:rPr>
              <a:t>PDF</a:t>
            </a:r>
            <a:r>
              <a:rPr lang="zh-CN" altLang="en-US" sz="1600" dirty="0">
                <a:solidFill>
                  <a:prstClr val="black"/>
                </a:solidFill>
                <a:latin typeface="宋体" panose="02010600030101010101" pitchFamily="2" charset="-122"/>
                <a:ea typeface="宋体"/>
              </a:rPr>
              <a:t>文件里）</a:t>
            </a:r>
            <a:endParaRPr lang="en-US" altLang="zh-CN" sz="1600" dirty="0">
              <a:solidFill>
                <a:prstClr val="black"/>
              </a:solidFill>
              <a:latin typeface="宋体" panose="02010600030101010101" pitchFamily="2" charset="-122"/>
              <a:ea typeface="宋体"/>
            </a:endParaRPr>
          </a:p>
          <a:p>
            <a:pPr marL="0" indent="0">
              <a:buFontTx/>
              <a:buNone/>
              <a:defRPr/>
            </a:pPr>
            <a:r>
              <a:rPr lang="zh-CN" altLang="en-US" sz="1600" dirty="0">
                <a:solidFill>
                  <a:prstClr val="black"/>
                </a:solidFill>
                <a:latin typeface="宋体" panose="02010600030101010101" pitchFamily="2" charset="-122"/>
                <a:ea typeface="宋体"/>
              </a:rPr>
              <a:t>一、封面内容</a:t>
            </a:r>
          </a:p>
          <a:p>
            <a:pPr marL="0" indent="0">
              <a:buFontTx/>
              <a:buNone/>
              <a:defRPr/>
            </a:pPr>
            <a:r>
              <a:rPr lang="en-US" altLang="zh-CN" sz="1600" dirty="0">
                <a:solidFill>
                  <a:prstClr val="black"/>
                </a:solidFill>
                <a:latin typeface="宋体" panose="02010600030101010101" pitchFamily="2" charset="-122"/>
                <a:ea typeface="宋体"/>
              </a:rPr>
              <a:t>    1</a:t>
            </a:r>
            <a:r>
              <a:rPr lang="zh-CN" altLang="en-US" sz="1600" dirty="0">
                <a:solidFill>
                  <a:prstClr val="black"/>
                </a:solidFill>
                <a:latin typeface="宋体" panose="02010600030101010101" pitchFamily="2" charset="-122"/>
                <a:ea typeface="宋体"/>
              </a:rPr>
              <a:t>、标题：</a:t>
            </a:r>
            <a:r>
              <a:rPr lang="en-US" altLang="zh-CN" sz="1600" dirty="0">
                <a:solidFill>
                  <a:prstClr val="black"/>
                </a:solidFill>
                <a:latin typeface="宋体" panose="02010600030101010101" pitchFamily="2" charset="-122"/>
                <a:ea typeface="宋体"/>
              </a:rPr>
              <a:t>ARM</a:t>
            </a:r>
            <a:r>
              <a:rPr lang="zh-CN" altLang="en-US" sz="1600" dirty="0">
                <a:solidFill>
                  <a:prstClr val="black"/>
                </a:solidFill>
                <a:latin typeface="宋体" panose="02010600030101010101" pitchFamily="2" charset="-122"/>
                <a:ea typeface="宋体"/>
              </a:rPr>
              <a:t>单片机应用专题实验报告</a:t>
            </a:r>
          </a:p>
          <a:p>
            <a:pPr marL="0" indent="0">
              <a:buFontTx/>
              <a:buNone/>
              <a:defRPr/>
            </a:pPr>
            <a:r>
              <a:rPr lang="en-US" altLang="zh-CN" sz="1600" dirty="0">
                <a:solidFill>
                  <a:prstClr val="black"/>
                </a:solidFill>
                <a:latin typeface="宋体" panose="02010600030101010101" pitchFamily="2" charset="-122"/>
                <a:ea typeface="宋体"/>
              </a:rPr>
              <a:t>    2</a:t>
            </a:r>
            <a:r>
              <a:rPr lang="zh-CN" altLang="en-US" sz="1600" dirty="0">
                <a:solidFill>
                  <a:prstClr val="black"/>
                </a:solidFill>
                <a:latin typeface="宋体" panose="02010600030101010101" pitchFamily="2" charset="-122"/>
                <a:ea typeface="宋体"/>
              </a:rPr>
              <a:t>、姓名、学号、班级</a:t>
            </a:r>
          </a:p>
          <a:p>
            <a:pPr marL="0" indent="0">
              <a:buFontTx/>
              <a:buNone/>
              <a:defRPr/>
            </a:pPr>
            <a:r>
              <a:rPr lang="en-US" altLang="zh-CN" sz="1600" dirty="0">
                <a:solidFill>
                  <a:prstClr val="black"/>
                </a:solidFill>
                <a:latin typeface="宋体" panose="02010600030101010101" pitchFamily="2" charset="-122"/>
                <a:ea typeface="宋体"/>
              </a:rPr>
              <a:t>    3</a:t>
            </a:r>
            <a:r>
              <a:rPr lang="zh-CN" altLang="en-US" sz="1600" dirty="0">
                <a:solidFill>
                  <a:prstClr val="black"/>
                </a:solidFill>
                <a:latin typeface="宋体" panose="02010600030101010101" pitchFamily="2" charset="-122"/>
                <a:ea typeface="宋体"/>
              </a:rPr>
              <a:t>、实验指导教师</a:t>
            </a:r>
          </a:p>
          <a:p>
            <a:pPr marL="0" indent="0">
              <a:buFontTx/>
              <a:buNone/>
              <a:defRPr/>
            </a:pPr>
            <a:r>
              <a:rPr lang="en-US" altLang="zh-CN" sz="1600" dirty="0">
                <a:solidFill>
                  <a:prstClr val="black"/>
                </a:solidFill>
                <a:latin typeface="宋体" panose="02010600030101010101" pitchFamily="2" charset="-122"/>
                <a:ea typeface="宋体"/>
              </a:rPr>
              <a:t>    4</a:t>
            </a:r>
            <a:r>
              <a:rPr lang="zh-CN" altLang="en-US" sz="1600" dirty="0">
                <a:solidFill>
                  <a:prstClr val="black"/>
                </a:solidFill>
                <a:latin typeface="宋体" panose="02010600030101010101" pitchFamily="2" charset="-122"/>
                <a:ea typeface="宋体"/>
              </a:rPr>
              <a:t>、实验地点</a:t>
            </a:r>
          </a:p>
          <a:p>
            <a:pPr marL="0" indent="0">
              <a:buFontTx/>
              <a:buNone/>
              <a:defRPr/>
            </a:pPr>
            <a:r>
              <a:rPr lang="en-US" altLang="zh-CN" sz="1600" dirty="0">
                <a:solidFill>
                  <a:prstClr val="black"/>
                </a:solidFill>
                <a:latin typeface="宋体" panose="02010600030101010101" pitchFamily="2" charset="-122"/>
                <a:ea typeface="宋体"/>
              </a:rPr>
              <a:t>    5</a:t>
            </a:r>
            <a:r>
              <a:rPr lang="zh-CN" altLang="en-US" sz="1600" dirty="0">
                <a:solidFill>
                  <a:prstClr val="black"/>
                </a:solidFill>
                <a:latin typeface="宋体" panose="02010600030101010101" pitchFamily="2" charset="-122"/>
                <a:ea typeface="宋体"/>
              </a:rPr>
              <a:t>、联系电话</a:t>
            </a:r>
          </a:p>
          <a:p>
            <a:pPr marL="0" indent="0">
              <a:buFontTx/>
              <a:buNone/>
              <a:defRPr/>
            </a:pPr>
            <a:r>
              <a:rPr lang="zh-CN" altLang="en-US" sz="1600" dirty="0">
                <a:solidFill>
                  <a:prstClr val="black"/>
                </a:solidFill>
                <a:latin typeface="宋体" panose="02010600030101010101" pitchFamily="2" charset="-122"/>
                <a:ea typeface="宋体"/>
              </a:rPr>
              <a:t>二、目录</a:t>
            </a:r>
          </a:p>
          <a:p>
            <a:pPr marL="0" indent="0">
              <a:buFontTx/>
              <a:buNone/>
              <a:defRPr/>
            </a:pPr>
            <a:r>
              <a:rPr lang="zh-CN" altLang="en-US" sz="1600" kern="0" dirty="0">
                <a:solidFill>
                  <a:prstClr val="black"/>
                </a:solidFill>
                <a:latin typeface="宋体" panose="02010600030101010101" pitchFamily="2" charset="-122"/>
                <a:ea typeface="宋体"/>
                <a:cs typeface="宋体" panose="02010600030101010101" pitchFamily="2" charset="-122"/>
              </a:rPr>
              <a:t>三</a:t>
            </a:r>
            <a:r>
              <a:rPr lang="zh-CN" altLang="zh-CN" sz="1600" kern="0" dirty="0">
                <a:solidFill>
                  <a:prstClr val="black"/>
                </a:solidFill>
                <a:latin typeface="宋体" panose="02010600030101010101" pitchFamily="2" charset="-122"/>
                <a:ea typeface="宋体"/>
                <a:cs typeface="宋体" panose="02010600030101010101" pitchFamily="2" charset="-122"/>
              </a:rPr>
              <a:t>、正文内容</a:t>
            </a:r>
            <a:r>
              <a:rPr lang="en-US" altLang="zh-CN" sz="1600" kern="0" dirty="0">
                <a:solidFill>
                  <a:prstClr val="black"/>
                </a:solidFill>
                <a:latin typeface="宋体" panose="02010600030101010101" pitchFamily="2" charset="-122"/>
                <a:ea typeface="宋体"/>
                <a:cs typeface="宋体" panose="02010600030101010101" pitchFamily="2" charset="-122"/>
              </a:rPr>
              <a:t>(</a:t>
            </a:r>
            <a:r>
              <a:rPr lang="zh-CN" altLang="zh-CN" sz="1600" kern="0" dirty="0">
                <a:solidFill>
                  <a:prstClr val="black"/>
                </a:solidFill>
                <a:latin typeface="宋体" panose="02010600030101010101" pitchFamily="2" charset="-122"/>
                <a:ea typeface="宋体"/>
                <a:cs typeface="宋体" panose="02010600030101010101" pitchFamily="2" charset="-122"/>
              </a:rPr>
              <a:t>每个实验都需要写</a:t>
            </a:r>
            <a:r>
              <a:rPr lang="en-US" altLang="zh-CN" sz="1600" kern="0" dirty="0">
                <a:solidFill>
                  <a:prstClr val="black"/>
                </a:solidFill>
                <a:latin typeface="宋体" panose="02010600030101010101" pitchFamily="2" charset="-122"/>
                <a:ea typeface="宋体"/>
                <a:cs typeface="宋体" panose="02010600030101010101" pitchFamily="2" charset="-122"/>
              </a:rPr>
              <a:t>)</a:t>
            </a:r>
            <a:endParaRPr lang="zh-CN" altLang="zh-CN" sz="1600" kern="100" dirty="0">
              <a:solidFill>
                <a:prstClr val="black"/>
              </a:solidFill>
              <a:latin typeface="宋体" panose="02010600030101010101" pitchFamily="2" charset="-122"/>
              <a:ea typeface="宋体"/>
              <a:cs typeface="Times New Roman" panose="02020603050405020304" pitchFamily="18" charset="0"/>
            </a:endParaRPr>
          </a:p>
          <a:p>
            <a:pPr marL="0" indent="0">
              <a:buFontTx/>
              <a:buNone/>
              <a:defRPr/>
            </a:pPr>
            <a:r>
              <a:rPr lang="en-US" altLang="zh-CN" sz="1600" kern="0" dirty="0">
                <a:solidFill>
                  <a:prstClr val="black"/>
                </a:solidFill>
                <a:latin typeface="宋体" panose="02010600030101010101" pitchFamily="2" charset="-122"/>
                <a:ea typeface="宋体"/>
                <a:cs typeface="宋体" panose="02010600030101010101" pitchFamily="2" charset="-122"/>
              </a:rPr>
              <a:t>    1</a:t>
            </a:r>
            <a:r>
              <a:rPr lang="zh-CN" altLang="en-US" sz="1600" kern="0" dirty="0">
                <a:solidFill>
                  <a:prstClr val="black"/>
                </a:solidFill>
                <a:latin typeface="宋体" panose="02010600030101010101" pitchFamily="2" charset="-122"/>
                <a:ea typeface="宋体"/>
                <a:cs typeface="宋体" panose="02010600030101010101" pitchFamily="2" charset="-122"/>
              </a:rPr>
              <a:t>、每个</a:t>
            </a:r>
            <a:r>
              <a:rPr lang="zh-CN" altLang="zh-CN" sz="1600" kern="0" dirty="0">
                <a:solidFill>
                  <a:prstClr val="black"/>
                </a:solidFill>
                <a:latin typeface="宋体" panose="02010600030101010101" pitchFamily="2" charset="-122"/>
                <a:ea typeface="宋体"/>
                <a:cs typeface="宋体" panose="02010600030101010101" pitchFamily="2" charset="-122"/>
              </a:rPr>
              <a:t>实验题目</a:t>
            </a:r>
            <a:r>
              <a:rPr lang="zh-CN" altLang="en-US" sz="1600" kern="0" dirty="0">
                <a:solidFill>
                  <a:prstClr val="black"/>
                </a:solidFill>
                <a:latin typeface="宋体" panose="02010600030101010101" pitchFamily="2" charset="-122"/>
                <a:ea typeface="宋体"/>
                <a:cs typeface="宋体" panose="02010600030101010101" pitchFamily="2" charset="-122"/>
              </a:rPr>
              <a:t>（章节名）</a:t>
            </a:r>
            <a:r>
              <a:rPr lang="zh-CN" altLang="zh-CN" sz="1600" kern="0" dirty="0">
                <a:solidFill>
                  <a:prstClr val="black"/>
                </a:solidFill>
                <a:latin typeface="宋体" panose="02010600030101010101" pitchFamily="2" charset="-122"/>
                <a:ea typeface="宋体"/>
                <a:cs typeface="宋体" panose="02010600030101010101" pitchFamily="2" charset="-122"/>
              </a:rPr>
              <a:t>；</a:t>
            </a:r>
            <a:endParaRPr lang="zh-CN" altLang="zh-CN" sz="1600" kern="100" dirty="0">
              <a:solidFill>
                <a:prstClr val="black"/>
              </a:solidFill>
              <a:latin typeface="宋体" panose="02010600030101010101" pitchFamily="2" charset="-122"/>
              <a:ea typeface="宋体"/>
              <a:cs typeface="Times New Roman" panose="02020603050405020304" pitchFamily="18" charset="0"/>
            </a:endParaRPr>
          </a:p>
          <a:p>
            <a:pPr marL="0" indent="0">
              <a:buFontTx/>
              <a:buNone/>
              <a:defRPr/>
            </a:pPr>
            <a:r>
              <a:rPr lang="en-US" altLang="zh-CN" sz="1600" kern="0" dirty="0">
                <a:solidFill>
                  <a:prstClr val="black"/>
                </a:solidFill>
                <a:latin typeface="宋体" panose="02010600030101010101" pitchFamily="2" charset="-122"/>
                <a:ea typeface="宋体"/>
                <a:cs typeface="宋体" panose="02010600030101010101" pitchFamily="2" charset="-122"/>
              </a:rPr>
              <a:t>    2</a:t>
            </a:r>
            <a:r>
              <a:rPr lang="zh-CN" altLang="en-US" sz="1600" kern="0" dirty="0">
                <a:solidFill>
                  <a:prstClr val="black"/>
                </a:solidFill>
                <a:latin typeface="宋体" panose="02010600030101010101" pitchFamily="2" charset="-122"/>
                <a:ea typeface="宋体"/>
                <a:cs typeface="宋体" panose="02010600030101010101" pitchFamily="2" charset="-122"/>
              </a:rPr>
              <a:t>、每个</a:t>
            </a:r>
            <a:r>
              <a:rPr lang="zh-CN" altLang="zh-CN" sz="1600" kern="0" dirty="0">
                <a:solidFill>
                  <a:prstClr val="black"/>
                </a:solidFill>
                <a:latin typeface="宋体" panose="02010600030101010101" pitchFamily="2" charset="-122"/>
                <a:ea typeface="宋体"/>
                <a:cs typeface="宋体" panose="02010600030101010101" pitchFamily="2" charset="-122"/>
              </a:rPr>
              <a:t>实验实验</a:t>
            </a:r>
            <a:r>
              <a:rPr lang="zh-CN" altLang="en-US" sz="1600" kern="0" dirty="0">
                <a:solidFill>
                  <a:prstClr val="black"/>
                </a:solidFill>
                <a:latin typeface="宋体" panose="02010600030101010101" pitchFamily="2" charset="-122"/>
                <a:ea typeface="宋体"/>
                <a:cs typeface="宋体" panose="02010600030101010101" pitchFamily="2" charset="-122"/>
              </a:rPr>
              <a:t>内容</a:t>
            </a:r>
            <a:r>
              <a:rPr lang="zh-CN" altLang="zh-CN" sz="1600" kern="0" dirty="0">
                <a:solidFill>
                  <a:prstClr val="black"/>
                </a:solidFill>
                <a:latin typeface="宋体" panose="02010600030101010101" pitchFamily="2" charset="-122"/>
                <a:ea typeface="宋体"/>
                <a:cs typeface="宋体" panose="02010600030101010101" pitchFamily="2" charset="-122"/>
              </a:rPr>
              <a:t>说明；</a:t>
            </a:r>
            <a:endParaRPr lang="zh-CN" altLang="zh-CN" sz="1600" kern="100" dirty="0">
              <a:solidFill>
                <a:prstClr val="black"/>
              </a:solidFill>
              <a:latin typeface="宋体" panose="02010600030101010101" pitchFamily="2" charset="-122"/>
              <a:ea typeface="宋体"/>
              <a:cs typeface="Times New Roman" panose="02020603050405020304" pitchFamily="18" charset="0"/>
            </a:endParaRPr>
          </a:p>
          <a:p>
            <a:pPr marL="0" indent="0">
              <a:buFontTx/>
              <a:buNone/>
              <a:defRPr/>
            </a:pPr>
            <a:r>
              <a:rPr lang="en-US" altLang="zh-CN" sz="1600" kern="0" dirty="0">
                <a:solidFill>
                  <a:prstClr val="black"/>
                </a:solidFill>
                <a:latin typeface="宋体" panose="02010600030101010101" pitchFamily="2" charset="-122"/>
                <a:ea typeface="宋体"/>
                <a:cs typeface="宋体" panose="02010600030101010101" pitchFamily="2" charset="-122"/>
              </a:rPr>
              <a:t>    3</a:t>
            </a:r>
            <a:r>
              <a:rPr lang="zh-CN" altLang="en-US" sz="1600" kern="0" dirty="0">
                <a:solidFill>
                  <a:prstClr val="black"/>
                </a:solidFill>
                <a:latin typeface="宋体" panose="02010600030101010101" pitchFamily="2" charset="-122"/>
                <a:ea typeface="宋体"/>
                <a:cs typeface="宋体" panose="02010600030101010101" pitchFamily="2" charset="-122"/>
              </a:rPr>
              <a:t>、每个实验</a:t>
            </a:r>
            <a:r>
              <a:rPr lang="zh-CN" altLang="zh-CN" sz="1600" kern="0" dirty="0">
                <a:solidFill>
                  <a:prstClr val="black"/>
                </a:solidFill>
                <a:latin typeface="宋体" panose="02010600030101010101" pitchFamily="2" charset="-122"/>
                <a:ea typeface="宋体"/>
                <a:cs typeface="宋体" panose="02010600030101010101" pitchFamily="2" charset="-122"/>
              </a:rPr>
              <a:t>所</a:t>
            </a:r>
            <a:r>
              <a:rPr lang="zh-CN" altLang="en-US" sz="1600" kern="0" dirty="0">
                <a:solidFill>
                  <a:prstClr val="black"/>
                </a:solidFill>
                <a:latin typeface="宋体" panose="02010600030101010101" pitchFamily="2" charset="-122"/>
                <a:ea typeface="宋体"/>
                <a:cs typeface="宋体" panose="02010600030101010101" pitchFamily="2" charset="-122"/>
              </a:rPr>
              <a:t>实现的功能及程序说明、程序流程图等</a:t>
            </a:r>
            <a:r>
              <a:rPr lang="zh-CN" altLang="zh-CN" sz="1600" kern="0" dirty="0">
                <a:solidFill>
                  <a:prstClr val="black"/>
                </a:solidFill>
                <a:latin typeface="宋体" panose="02010600030101010101" pitchFamily="2" charset="-122"/>
                <a:ea typeface="宋体"/>
                <a:cs typeface="宋体" panose="02010600030101010101" pitchFamily="2" charset="-122"/>
              </a:rPr>
              <a:t>。请注意在实验过程中保存运行效</a:t>
            </a:r>
            <a:endParaRPr lang="en-US" altLang="zh-CN" sz="1600" kern="0" dirty="0">
              <a:solidFill>
                <a:prstClr val="black"/>
              </a:solidFill>
              <a:latin typeface="宋体" panose="02010600030101010101" pitchFamily="2" charset="-122"/>
              <a:ea typeface="宋体"/>
              <a:cs typeface="宋体" panose="02010600030101010101" pitchFamily="2" charset="-122"/>
            </a:endParaRPr>
          </a:p>
          <a:p>
            <a:pPr marL="0" indent="0">
              <a:buFontTx/>
              <a:buNone/>
              <a:defRPr/>
            </a:pPr>
            <a:r>
              <a:rPr lang="en-US" altLang="zh-CN" sz="1600" kern="0" dirty="0">
                <a:solidFill>
                  <a:prstClr val="black"/>
                </a:solidFill>
                <a:latin typeface="宋体" panose="02010600030101010101" pitchFamily="2" charset="-122"/>
                <a:ea typeface="宋体"/>
                <a:cs typeface="宋体" panose="02010600030101010101" pitchFamily="2" charset="-122"/>
              </a:rPr>
              <a:t>       </a:t>
            </a:r>
            <a:r>
              <a:rPr lang="zh-CN" altLang="zh-CN" sz="1600" kern="0" dirty="0">
                <a:solidFill>
                  <a:prstClr val="black"/>
                </a:solidFill>
                <a:latin typeface="宋体" panose="02010600030101010101" pitchFamily="2" charset="-122"/>
                <a:ea typeface="宋体"/>
                <a:cs typeface="宋体" panose="02010600030101010101" pitchFamily="2" charset="-122"/>
              </a:rPr>
              <a:t>果</a:t>
            </a:r>
            <a:r>
              <a:rPr lang="zh-CN" altLang="en-US" sz="1600" kern="0" dirty="0">
                <a:solidFill>
                  <a:prstClr val="black"/>
                </a:solidFill>
                <a:latin typeface="宋体" panose="02010600030101010101" pitchFamily="2" charset="-122"/>
                <a:ea typeface="宋体"/>
                <a:cs typeface="宋体" panose="02010600030101010101" pitchFamily="2" charset="-122"/>
              </a:rPr>
              <a:t>图片、</a:t>
            </a:r>
            <a:r>
              <a:rPr lang="zh-CN" altLang="zh-CN" sz="1600" kern="0" dirty="0">
                <a:solidFill>
                  <a:prstClr val="black"/>
                </a:solidFill>
                <a:latin typeface="宋体" panose="02010600030101010101" pitchFamily="2" charset="-122"/>
                <a:ea typeface="宋体"/>
                <a:cs typeface="宋体" panose="02010600030101010101" pitchFamily="2" charset="-122"/>
              </a:rPr>
              <a:t>展示界面</a:t>
            </a:r>
            <a:r>
              <a:rPr lang="zh-CN" altLang="en-US" sz="1600" kern="0" dirty="0">
                <a:solidFill>
                  <a:prstClr val="black"/>
                </a:solidFill>
                <a:latin typeface="宋体" panose="02010600030101010101" pitchFamily="2" charset="-122"/>
                <a:ea typeface="宋体"/>
                <a:cs typeface="宋体" panose="02010600030101010101" pitchFamily="2" charset="-122"/>
              </a:rPr>
              <a:t>等，这些可展示在实验报告中</a:t>
            </a:r>
            <a:r>
              <a:rPr lang="zh-CN" altLang="zh-CN" sz="1600" kern="0" dirty="0">
                <a:solidFill>
                  <a:prstClr val="black"/>
                </a:solidFill>
                <a:latin typeface="宋体" panose="02010600030101010101" pitchFamily="2" charset="-122"/>
                <a:ea typeface="宋体"/>
                <a:cs typeface="宋体" panose="02010600030101010101" pitchFamily="2" charset="-122"/>
              </a:rPr>
              <a:t>。</a:t>
            </a:r>
            <a:endParaRPr lang="en-US" altLang="zh-CN" sz="1600" kern="0" dirty="0">
              <a:solidFill>
                <a:prstClr val="black"/>
              </a:solidFill>
              <a:latin typeface="宋体" panose="02010600030101010101" pitchFamily="2" charset="-122"/>
              <a:ea typeface="宋体"/>
              <a:cs typeface="宋体" panose="02010600030101010101" pitchFamily="2" charset="-122"/>
            </a:endParaRPr>
          </a:p>
          <a:p>
            <a:pPr marL="0" indent="0">
              <a:buFontTx/>
              <a:buNone/>
              <a:defRPr/>
            </a:pPr>
            <a:r>
              <a:rPr lang="zh-CN" altLang="en-US" sz="1600" kern="0" dirty="0">
                <a:solidFill>
                  <a:prstClr val="black"/>
                </a:solidFill>
                <a:latin typeface="宋体" panose="02010600030101010101" pitchFamily="2" charset="-122"/>
                <a:ea typeface="宋体"/>
                <a:cs typeface="宋体" panose="02010600030101010101" pitchFamily="2" charset="-122"/>
              </a:rPr>
              <a:t>四</a:t>
            </a:r>
            <a:r>
              <a:rPr lang="zh-CN" altLang="zh-CN" sz="1600" kern="0" dirty="0">
                <a:solidFill>
                  <a:prstClr val="black"/>
                </a:solidFill>
                <a:latin typeface="宋体" panose="02010600030101010101" pitchFamily="2" charset="-122"/>
                <a:ea typeface="宋体"/>
                <a:cs typeface="宋体" panose="02010600030101010101" pitchFamily="2" charset="-122"/>
              </a:rPr>
              <a:t>、实验总结：通过</a:t>
            </a:r>
            <a:r>
              <a:rPr lang="en-US" altLang="zh-CN" sz="1600" kern="0" dirty="0">
                <a:solidFill>
                  <a:prstClr val="black"/>
                </a:solidFill>
                <a:latin typeface="宋体" panose="02010600030101010101" pitchFamily="2" charset="-122"/>
                <a:ea typeface="宋体"/>
                <a:cs typeface="宋体" panose="02010600030101010101" pitchFamily="2" charset="-122"/>
              </a:rPr>
              <a:t>ARM</a:t>
            </a:r>
            <a:r>
              <a:rPr lang="zh-CN" altLang="en-US" sz="1600" kern="0" dirty="0">
                <a:solidFill>
                  <a:prstClr val="black"/>
                </a:solidFill>
                <a:latin typeface="宋体" panose="02010600030101010101" pitchFamily="2" charset="-122"/>
                <a:ea typeface="宋体"/>
                <a:cs typeface="宋体" panose="02010600030101010101" pitchFamily="2" charset="-122"/>
              </a:rPr>
              <a:t>单片机应用专题</a:t>
            </a:r>
            <a:r>
              <a:rPr lang="zh-CN" altLang="zh-CN" sz="1600" kern="0" dirty="0">
                <a:solidFill>
                  <a:prstClr val="black"/>
                </a:solidFill>
                <a:latin typeface="宋体" panose="02010600030101010101" pitchFamily="2" charset="-122"/>
                <a:ea typeface="宋体"/>
                <a:cs typeface="宋体" panose="02010600030101010101" pitchFamily="2" charset="-122"/>
              </a:rPr>
              <a:t>实验，你有哪些收获？</a:t>
            </a:r>
            <a:r>
              <a:rPr lang="zh-CN" altLang="en-US" sz="1600" kern="0" dirty="0">
                <a:solidFill>
                  <a:prstClr val="black"/>
                </a:solidFill>
                <a:latin typeface="宋体" panose="02010600030101010101" pitchFamily="2" charset="-122"/>
                <a:ea typeface="宋体"/>
                <a:cs typeface="宋体" panose="02010600030101010101" pitchFamily="2" charset="-122"/>
              </a:rPr>
              <a:t>实验中遇到的问题及思考。</a:t>
            </a:r>
            <a:endParaRPr lang="en-US" altLang="zh-CN" sz="1600" kern="0" dirty="0">
              <a:solidFill>
                <a:prstClr val="black"/>
              </a:solidFill>
              <a:latin typeface="宋体" panose="02010600030101010101" pitchFamily="2" charset="-122"/>
              <a:ea typeface="宋体"/>
              <a:cs typeface="宋体" panose="02010600030101010101" pitchFamily="2" charset="-122"/>
            </a:endParaRPr>
          </a:p>
          <a:p>
            <a:pPr marL="0" indent="0">
              <a:buFontTx/>
              <a:buNone/>
              <a:defRPr/>
            </a:pPr>
            <a:endParaRPr lang="en-US" altLang="zh-CN" sz="1600" kern="0" dirty="0">
              <a:solidFill>
                <a:prstClr val="black"/>
              </a:solidFill>
              <a:latin typeface="宋体" panose="02010600030101010101" pitchFamily="2" charset="-122"/>
              <a:ea typeface="宋体"/>
              <a:cs typeface="宋体" panose="02010600030101010101" pitchFamily="2" charset="-122"/>
            </a:endParaRPr>
          </a:p>
          <a:p>
            <a:pPr marL="0" indent="0">
              <a:buFontTx/>
              <a:buNone/>
              <a:defRPr/>
            </a:pPr>
            <a:r>
              <a:rPr lang="en-US" altLang="zh-CN" sz="1600" kern="0" dirty="0">
                <a:solidFill>
                  <a:prstClr val="black"/>
                </a:solidFill>
                <a:latin typeface="宋体" panose="02010600030101010101" pitchFamily="2" charset="-122"/>
                <a:ea typeface="宋体"/>
                <a:cs typeface="宋体" panose="02010600030101010101" pitchFamily="2" charset="-122"/>
              </a:rPr>
              <a:t>         </a:t>
            </a:r>
            <a:r>
              <a:rPr lang="zh-CN" altLang="zh-CN" sz="1600" kern="0" dirty="0">
                <a:solidFill>
                  <a:prstClr val="black"/>
                </a:solidFill>
                <a:latin typeface="宋体" panose="02010600030101010101" pitchFamily="2" charset="-122"/>
                <a:ea typeface="宋体"/>
                <a:cs typeface="宋体" panose="02010600030101010101" pitchFamily="2" charset="-122"/>
              </a:rPr>
              <a:t>每个实验（共</a:t>
            </a:r>
            <a:r>
              <a:rPr lang="en-US" altLang="zh-CN" sz="1600" kern="0" dirty="0">
                <a:solidFill>
                  <a:prstClr val="black"/>
                </a:solidFill>
                <a:latin typeface="宋体" panose="02010600030101010101" pitchFamily="2" charset="-122"/>
                <a:ea typeface="宋体"/>
                <a:cs typeface="宋体" panose="02010600030101010101" pitchFamily="2" charset="-122"/>
              </a:rPr>
              <a:t>6</a:t>
            </a:r>
            <a:r>
              <a:rPr lang="zh-CN" altLang="zh-CN" sz="1600" kern="0" dirty="0">
                <a:solidFill>
                  <a:prstClr val="black"/>
                </a:solidFill>
                <a:latin typeface="宋体" panose="02010600030101010101" pitchFamily="2" charset="-122"/>
                <a:ea typeface="宋体"/>
                <a:cs typeface="宋体" panose="02010600030101010101" pitchFamily="2" charset="-122"/>
              </a:rPr>
              <a:t>个实验）都要有正文部分。</a:t>
            </a:r>
            <a:r>
              <a:rPr lang="zh-CN" altLang="en-US" sz="1600" dirty="0">
                <a:solidFill>
                  <a:prstClr val="black"/>
                </a:solidFill>
                <a:latin typeface="宋体" panose="02010600030101010101" pitchFamily="2" charset="-122"/>
                <a:ea typeface="宋体"/>
              </a:rPr>
              <a:t>实验报告模板可下载教务处</a:t>
            </a:r>
            <a:r>
              <a:rPr lang="zh-CN" altLang="en-US" sz="1600" b="1" dirty="0">
                <a:solidFill>
                  <a:srgbClr val="FF0000"/>
                </a:solidFill>
                <a:latin typeface="宋体" panose="02010600030101010101" pitchFamily="2" charset="-122"/>
                <a:ea typeface="宋体"/>
              </a:rPr>
              <a:t>本科毕业设</a:t>
            </a:r>
            <a:endParaRPr lang="en-US" altLang="zh-CN" sz="1600" b="1" dirty="0">
              <a:solidFill>
                <a:srgbClr val="FF0000"/>
              </a:solidFill>
              <a:latin typeface="宋体" panose="02010600030101010101" pitchFamily="2" charset="-122"/>
              <a:ea typeface="宋体"/>
            </a:endParaRPr>
          </a:p>
          <a:p>
            <a:pPr marL="0" indent="0">
              <a:buFontTx/>
              <a:buNone/>
              <a:defRPr/>
            </a:pPr>
            <a:r>
              <a:rPr lang="en-US" altLang="zh-CN" sz="1600" b="1" dirty="0">
                <a:solidFill>
                  <a:srgbClr val="FF0000"/>
                </a:solidFill>
                <a:latin typeface="宋体" panose="02010600030101010101" pitchFamily="2" charset="-122"/>
                <a:ea typeface="宋体"/>
              </a:rPr>
              <a:t>    </a:t>
            </a:r>
            <a:r>
              <a:rPr lang="zh-CN" altLang="en-US" sz="1600" b="1" dirty="0">
                <a:solidFill>
                  <a:srgbClr val="FF0000"/>
                </a:solidFill>
                <a:latin typeface="宋体" panose="02010600030101010101" pitchFamily="2" charset="-122"/>
                <a:ea typeface="宋体"/>
              </a:rPr>
              <a:t>计（论文）模版</a:t>
            </a:r>
            <a:r>
              <a:rPr lang="zh-CN" altLang="en-US" sz="1600" dirty="0">
                <a:solidFill>
                  <a:prstClr val="black"/>
                </a:solidFill>
                <a:latin typeface="宋体" panose="02010600030101010101" pitchFamily="2" charset="-122"/>
                <a:ea typeface="宋体"/>
              </a:rPr>
              <a:t>，在这此基础上进行一定简化。实验报告成绩和最后的综合实验成绩占</a:t>
            </a:r>
            <a:endParaRPr lang="en-US" altLang="zh-CN" sz="1600" dirty="0">
              <a:solidFill>
                <a:prstClr val="black"/>
              </a:solidFill>
              <a:latin typeface="宋体" panose="02010600030101010101" pitchFamily="2" charset="-122"/>
              <a:ea typeface="宋体"/>
            </a:endParaRPr>
          </a:p>
          <a:p>
            <a:pPr marL="0" indent="0">
              <a:buFontTx/>
              <a:buNone/>
              <a:defRPr/>
            </a:pPr>
            <a:r>
              <a:rPr lang="en-US" altLang="zh-CN" sz="1600" dirty="0">
                <a:solidFill>
                  <a:prstClr val="black"/>
                </a:solidFill>
                <a:latin typeface="宋体" panose="02010600030101010101" pitchFamily="2" charset="-122"/>
                <a:ea typeface="宋体"/>
              </a:rPr>
              <a:t>    </a:t>
            </a:r>
            <a:r>
              <a:rPr lang="zh-CN" altLang="en-US" sz="1600" dirty="0">
                <a:solidFill>
                  <a:prstClr val="black"/>
                </a:solidFill>
                <a:latin typeface="宋体" panose="02010600030101010101" pitchFamily="2" charset="-122"/>
                <a:ea typeface="宋体"/>
              </a:rPr>
              <a:t>总成绩的比重较大，请认真撰写实验报告。实验报告只需在思源学堂上提交电子版。</a:t>
            </a:r>
            <a:r>
              <a:rPr lang="en-US" altLang="zh-CN" sz="1600" dirty="0">
                <a:solidFill>
                  <a:prstClr val="black"/>
                </a:solidFill>
                <a:latin typeface="宋体" panose="02010600030101010101" pitchFamily="2" charset="-122"/>
                <a:ea typeface="宋体"/>
              </a:rPr>
              <a:t>    </a:t>
            </a:r>
          </a:p>
          <a:p>
            <a:pPr marL="0" indent="0">
              <a:buFontTx/>
              <a:buNone/>
              <a:defRPr/>
            </a:pPr>
            <a:endParaRPr lang="en-US" altLang="zh-CN" sz="1600" b="1" dirty="0">
              <a:solidFill>
                <a:srgbClr val="FF0000"/>
              </a:solidFill>
              <a:latin typeface="宋体" panose="02010600030101010101" pitchFamily="2" charset="-122"/>
              <a:ea typeface="宋体"/>
            </a:endParaRPr>
          </a:p>
        </p:txBody>
      </p:sp>
    </p:spTree>
    <p:extLst>
      <p:ext uri="{BB962C8B-B14F-4D97-AF65-F5344CB8AC3E}">
        <p14:creationId xmlns:p14="http://schemas.microsoft.com/office/powerpoint/2010/main" val="3760701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6137" y="1171810"/>
            <a:ext cx="7886700" cy="4926752"/>
          </a:xfrm>
        </p:spPr>
        <p:txBody>
          <a:bodyPr>
            <a:normAutofit fontScale="62500" lnSpcReduction="20000"/>
          </a:bodyPr>
          <a:lstStyle/>
          <a:p>
            <a:pPr>
              <a:lnSpc>
                <a:spcPct val="120000"/>
              </a:lnSpc>
            </a:pPr>
            <a:r>
              <a:rPr lang="zh-CN" altLang="en-US" dirty="0"/>
              <a:t>最后成绩是</a:t>
            </a:r>
            <a:r>
              <a:rPr lang="en-US" altLang="zh-CN" dirty="0"/>
              <a:t>6</a:t>
            </a:r>
            <a:r>
              <a:rPr lang="zh-CN" altLang="en-US" dirty="0"/>
              <a:t>个实验的验收成绩和实验报告成绩，共</a:t>
            </a:r>
            <a:r>
              <a:rPr lang="en-US" altLang="zh-CN" dirty="0"/>
              <a:t>7</a:t>
            </a:r>
            <a:r>
              <a:rPr lang="zh-CN" altLang="en-US" dirty="0"/>
              <a:t>个成绩的加权平均，同学们一定要参加每个实验验收并提交实验报告，否则实验成绩会不及格。第</a:t>
            </a:r>
            <a:r>
              <a:rPr lang="en-US" altLang="zh-CN" dirty="0"/>
              <a:t>8</a:t>
            </a:r>
            <a:r>
              <a:rPr lang="zh-CN" altLang="en-US" dirty="0"/>
              <a:t>次实验时，所有同学归还</a:t>
            </a:r>
            <a:r>
              <a:rPr lang="en-US" altLang="zh-CN" dirty="0"/>
              <a:t>CC3200</a:t>
            </a:r>
            <a:r>
              <a:rPr lang="zh-CN" altLang="en-US" dirty="0"/>
              <a:t>实验板和所借的传感器等模块。</a:t>
            </a:r>
          </a:p>
          <a:p>
            <a:pPr>
              <a:lnSpc>
                <a:spcPct val="120000"/>
              </a:lnSpc>
            </a:pPr>
            <a:r>
              <a:rPr lang="zh-CN" altLang="en-US" dirty="0"/>
              <a:t>实验报告只需要提交电子版，不需要再提交纸质版。</a:t>
            </a:r>
            <a:r>
              <a:rPr lang="zh-CN" altLang="en-US" dirty="0">
                <a:solidFill>
                  <a:srgbClr val="FF0000"/>
                </a:solidFill>
              </a:rPr>
              <a:t>实验报告禁止抄袭！</a:t>
            </a:r>
            <a:r>
              <a:rPr lang="zh-CN" altLang="en-US" dirty="0"/>
              <a:t>实验报告应从几个短距离无线通信实验所实现功能的角度以展示实验结果和程序讲述分析为主。</a:t>
            </a:r>
            <a:r>
              <a:rPr lang="zh-CN" altLang="en-US" dirty="0">
                <a:solidFill>
                  <a:srgbClr val="FF0000"/>
                </a:solidFill>
              </a:rPr>
              <a:t>报告中不要大幅粘贴源程序</a:t>
            </a:r>
            <a:r>
              <a:rPr lang="zh-CN" altLang="en-US" dirty="0"/>
              <a:t>，大幅粘贴源程序要扣分。实验报告同时提交报告的</a:t>
            </a:r>
            <a:r>
              <a:rPr lang="en-US" altLang="zh-CN" dirty="0"/>
              <a:t>WORD</a:t>
            </a:r>
            <a:r>
              <a:rPr lang="zh-CN" altLang="en-US" dirty="0"/>
              <a:t>版和</a:t>
            </a:r>
            <a:r>
              <a:rPr lang="en-US" altLang="zh-CN" dirty="0"/>
              <a:t>PDF</a:t>
            </a:r>
            <a:r>
              <a:rPr lang="zh-CN" altLang="en-US" dirty="0"/>
              <a:t>版，文件名分别为：</a:t>
            </a:r>
            <a:r>
              <a:rPr lang="en-US" altLang="zh-CN" dirty="0"/>
              <a:t>2026</a:t>
            </a:r>
            <a:r>
              <a:rPr lang="zh-CN" altLang="en-US" dirty="0"/>
              <a:t>短距离无线通信专题实验</a:t>
            </a:r>
            <a:r>
              <a:rPr lang="en-US" altLang="zh-CN" dirty="0"/>
              <a:t>_</a:t>
            </a:r>
            <a:r>
              <a:rPr lang="zh-CN" altLang="en-US" dirty="0"/>
              <a:t>班级</a:t>
            </a:r>
            <a:r>
              <a:rPr lang="en-US" altLang="zh-CN" dirty="0"/>
              <a:t>_</a:t>
            </a:r>
            <a:r>
              <a:rPr lang="zh-CN" altLang="en-US" dirty="0"/>
              <a:t>姓名</a:t>
            </a:r>
            <a:r>
              <a:rPr lang="en-US" altLang="zh-CN" dirty="0"/>
              <a:t>.doc</a:t>
            </a:r>
            <a:r>
              <a:rPr lang="zh-CN" altLang="en-US" dirty="0"/>
              <a:t>；</a:t>
            </a:r>
            <a:r>
              <a:rPr lang="en-US" altLang="zh-CN" dirty="0"/>
              <a:t>2026</a:t>
            </a:r>
            <a:r>
              <a:rPr lang="zh-CN" altLang="en-US" dirty="0"/>
              <a:t>短距离无线通信专题实验</a:t>
            </a:r>
            <a:r>
              <a:rPr lang="en-US" altLang="zh-CN" dirty="0"/>
              <a:t>_</a:t>
            </a:r>
            <a:r>
              <a:rPr lang="zh-CN" altLang="en-US" dirty="0"/>
              <a:t>班级</a:t>
            </a:r>
            <a:r>
              <a:rPr lang="en-US" altLang="zh-CN" dirty="0"/>
              <a:t>_</a:t>
            </a:r>
            <a:r>
              <a:rPr lang="zh-CN" altLang="en-US" dirty="0"/>
              <a:t>姓名</a:t>
            </a:r>
            <a:r>
              <a:rPr lang="en-US" altLang="zh-CN" dirty="0"/>
              <a:t>.pdf</a:t>
            </a:r>
            <a:r>
              <a:rPr lang="zh-CN" altLang="en-US" dirty="0"/>
              <a:t>。</a:t>
            </a:r>
          </a:p>
          <a:p>
            <a:pPr>
              <a:lnSpc>
                <a:spcPct val="120000"/>
              </a:lnSpc>
            </a:pPr>
            <a:r>
              <a:rPr lang="en-US" altLang="zh-CN" dirty="0"/>
              <a:t>2</a:t>
            </a:r>
            <a:r>
              <a:rPr lang="zh-CN" altLang="en-US" dirty="0"/>
              <a:t>种格式的电子版实验报告和实验</a:t>
            </a:r>
            <a:r>
              <a:rPr lang="en-US" altLang="zh-CN" dirty="0"/>
              <a:t>6</a:t>
            </a:r>
            <a:r>
              <a:rPr lang="zh-CN" altLang="en-US" dirty="0"/>
              <a:t>的工程（包含可编译运行的源代码），请压缩成一个</a:t>
            </a:r>
            <a:r>
              <a:rPr lang="en-US" altLang="zh-CN" dirty="0"/>
              <a:t>ZIP</a:t>
            </a:r>
            <a:r>
              <a:rPr lang="zh-CN" altLang="en-US" dirty="0"/>
              <a:t>文件（可先把整个实验</a:t>
            </a:r>
            <a:r>
              <a:rPr lang="en-US" altLang="zh-CN" dirty="0"/>
              <a:t>6</a:t>
            </a:r>
            <a:r>
              <a:rPr lang="zh-CN" altLang="en-US" dirty="0"/>
              <a:t>的工程压缩为一个文件，再和</a:t>
            </a:r>
            <a:r>
              <a:rPr lang="en-US" altLang="zh-CN" dirty="0"/>
              <a:t>2</a:t>
            </a:r>
            <a:r>
              <a:rPr lang="zh-CN" altLang="en-US" dirty="0"/>
              <a:t>种格式的实验报告压到一起），文件名为：</a:t>
            </a:r>
            <a:r>
              <a:rPr lang="en-US" altLang="zh-CN" dirty="0"/>
              <a:t>2026</a:t>
            </a:r>
            <a:r>
              <a:rPr lang="zh-CN" altLang="en-US" dirty="0"/>
              <a:t>短距离无线通信专题实验</a:t>
            </a:r>
            <a:r>
              <a:rPr lang="en-US" altLang="zh-CN" dirty="0"/>
              <a:t>_</a:t>
            </a:r>
            <a:r>
              <a:rPr lang="zh-CN" altLang="en-US" dirty="0"/>
              <a:t>班级</a:t>
            </a:r>
            <a:r>
              <a:rPr lang="en-US" altLang="zh-CN" dirty="0"/>
              <a:t>_</a:t>
            </a:r>
            <a:r>
              <a:rPr lang="zh-CN" altLang="en-US" dirty="0"/>
              <a:t>姓名</a:t>
            </a:r>
            <a:r>
              <a:rPr lang="en-US" altLang="zh-CN" dirty="0"/>
              <a:t>.ZIP</a:t>
            </a:r>
            <a:r>
              <a:rPr lang="zh-CN" altLang="en-US" dirty="0"/>
              <a:t>。实验报告电子版和实验</a:t>
            </a:r>
            <a:r>
              <a:rPr lang="en-US" altLang="zh-CN" dirty="0"/>
              <a:t>6</a:t>
            </a:r>
            <a:r>
              <a:rPr lang="zh-CN" altLang="en-US" dirty="0"/>
              <a:t>的工程（包含可编译运行的源代码）在</a:t>
            </a:r>
            <a:r>
              <a:rPr lang="zh-CN" altLang="en-US" dirty="0">
                <a:solidFill>
                  <a:srgbClr val="FF0000"/>
                </a:solidFill>
              </a:rPr>
              <a:t>思源学堂</a:t>
            </a:r>
            <a:r>
              <a:rPr lang="zh-CN" altLang="en-US" dirty="0"/>
              <a:t>平台上提交。</a:t>
            </a:r>
            <a:endParaRPr lang="zh-CN" altLang="en-US" dirty="0">
              <a:solidFill>
                <a:srgbClr val="FF0000"/>
              </a:solidFill>
            </a:endParaRPr>
          </a:p>
          <a:p>
            <a:pPr>
              <a:lnSpc>
                <a:spcPct val="120000"/>
              </a:lnSpc>
            </a:pPr>
            <a:r>
              <a:rPr lang="zh-CN" altLang="en-US" dirty="0"/>
              <a:t>提交报告截至日期为第</a:t>
            </a:r>
            <a:r>
              <a:rPr lang="en-US" altLang="zh-CN" dirty="0"/>
              <a:t>8</a:t>
            </a:r>
            <a:r>
              <a:rPr lang="zh-CN" altLang="en-US" dirty="0"/>
              <a:t>次实验结束</a:t>
            </a:r>
            <a:r>
              <a:rPr lang="en-US" altLang="zh-CN" dirty="0"/>
              <a:t>1</a:t>
            </a:r>
            <a:r>
              <a:rPr lang="zh-CN" altLang="en-US" dirty="0"/>
              <a:t>周后第</a:t>
            </a:r>
            <a:r>
              <a:rPr lang="en-US" altLang="zh-CN" dirty="0"/>
              <a:t>12</a:t>
            </a:r>
            <a:r>
              <a:rPr lang="zh-CN" altLang="en-US" dirty="0"/>
              <a:t>周周日（</a:t>
            </a:r>
            <a:r>
              <a:rPr lang="en-US" altLang="zh-CN" dirty="0"/>
              <a:t>5</a:t>
            </a:r>
            <a:r>
              <a:rPr lang="zh-CN" altLang="en-US" dirty="0"/>
              <a:t>月</a:t>
            </a:r>
            <a:r>
              <a:rPr lang="en-US" altLang="zh-CN" dirty="0"/>
              <a:t>24</a:t>
            </a:r>
            <a:r>
              <a:rPr lang="zh-CN" altLang="en-US" dirty="0"/>
              <a:t>日）晚上</a:t>
            </a:r>
            <a:r>
              <a:rPr lang="en-US" altLang="zh-CN" dirty="0"/>
              <a:t>24</a:t>
            </a:r>
            <a:r>
              <a:rPr lang="zh-CN" altLang="en-US" dirty="0"/>
              <a:t>点。</a:t>
            </a:r>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CB24BC-51E0-4A61-A890-4370566F82F1}" type="slidenum">
              <a:rPr lang="zh-CN" altLang="en-US" smtClean="0"/>
              <a:pPr/>
              <a:t>19</a:t>
            </a:fld>
            <a:endParaRPr lang="zh-CN" altLang="en-US" dirty="0"/>
          </a:p>
        </p:txBody>
      </p:sp>
      <p:sp>
        <p:nvSpPr>
          <p:cNvPr id="5" name="标题 4"/>
          <p:cNvSpPr>
            <a:spLocks noGrp="1"/>
          </p:cNvSpPr>
          <p:nvPr>
            <p:ph type="title"/>
          </p:nvPr>
        </p:nvSpPr>
        <p:spPr>
          <a:xfrm>
            <a:off x="1180156" y="183360"/>
            <a:ext cx="3072030" cy="1017400"/>
          </a:xfrm>
        </p:spPr>
        <p:txBody>
          <a:bodyPr>
            <a:normAutofit/>
          </a:bodyPr>
          <a:lstStyle/>
          <a:p>
            <a:r>
              <a:rPr lang="zh-CN" altLang="en-US" sz="4000" dirty="0"/>
              <a:t>注意事项</a:t>
            </a:r>
          </a:p>
        </p:txBody>
      </p:sp>
    </p:spTree>
    <p:extLst>
      <p:ext uri="{BB962C8B-B14F-4D97-AF65-F5344CB8AC3E}">
        <p14:creationId xmlns:p14="http://schemas.microsoft.com/office/powerpoint/2010/main" val="3255296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矩形 1"/>
          <p:cNvSpPr/>
          <p:nvPr/>
        </p:nvSpPr>
        <p:spPr>
          <a:xfrm>
            <a:off x="0" y="2447924"/>
            <a:ext cx="9144000"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 name="图片 6"/>
          <p:cNvPicPr>
            <a:picLocks noChangeAspect="1"/>
          </p:cNvPicPr>
          <p:nvPr/>
        </p:nvPicPr>
        <p:blipFill rotWithShape="1">
          <a:blip r:embed="rId2" cstate="print">
            <a:biLevel thresh="25000"/>
            <a:extLst>
              <a:ext uri="{28A0092B-C50C-407E-A947-70E740481C1C}">
                <a14:useLocalDpi xmlns:a14="http://schemas.microsoft.com/office/drawing/2010/main" val="0"/>
              </a:ext>
            </a:extLst>
          </a:blip>
          <a:srcRect t="77859" r="53863"/>
          <a:stretch/>
        </p:blipFill>
        <p:spPr>
          <a:xfrm>
            <a:off x="206875" y="152400"/>
            <a:ext cx="2517275" cy="679161"/>
          </a:xfrm>
          <a:prstGeom prst="rect">
            <a:avLst/>
          </a:prstGeom>
        </p:spPr>
      </p:pic>
      <p:sp>
        <p:nvSpPr>
          <p:cNvPr id="8" name="矩形 7"/>
          <p:cNvSpPr/>
          <p:nvPr/>
        </p:nvSpPr>
        <p:spPr>
          <a:xfrm>
            <a:off x="517004" y="2588269"/>
            <a:ext cx="8109992" cy="1245341"/>
          </a:xfrm>
          <a:prstGeom prst="rect">
            <a:avLst/>
          </a:prstGeom>
          <a:effectLst>
            <a:outerShdw blurRad="50800" dist="38100" dir="5400000" algn="t" rotWithShape="0">
              <a:prstClr val="black">
                <a:alpha val="40000"/>
              </a:prstClr>
            </a:outerShdw>
          </a:effectLst>
        </p:spPr>
        <p:txBody>
          <a:bodyPr wrap="square">
            <a:spAutoFit/>
          </a:bodyPr>
          <a:lstStyle/>
          <a:p>
            <a:pPr indent="127000" algn="ctr">
              <a:lnSpc>
                <a:spcPct val="120000"/>
              </a:lnSpc>
              <a:spcAft>
                <a:spcPts val="0"/>
              </a:spcAft>
            </a:pPr>
            <a:r>
              <a:rPr lang="zh-CN" altLang="en-US" sz="7200" b="1" kern="100" dirty="0">
                <a:solidFill>
                  <a:srgbClr val="1557AE"/>
                </a:solidFill>
                <a:latin typeface="隶书" panose="02010509060101010101" pitchFamily="49" charset="-122"/>
                <a:ea typeface="隶书" panose="02010509060101010101" pitchFamily="49" charset="-122"/>
                <a:cs typeface="Times New Roman" panose="02020603050405020304" pitchFamily="18" charset="0"/>
              </a:rPr>
              <a:t>谢谢！</a:t>
            </a:r>
            <a:endParaRPr lang="zh-CN" altLang="zh-CN" sz="7200" b="1" kern="100" dirty="0">
              <a:solidFill>
                <a:srgbClr val="1557AE"/>
              </a:solidFill>
              <a:latin typeface="隶书" panose="02010509060101010101" pitchFamily="49" charset="-122"/>
              <a:ea typeface="隶书"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491321078"/>
      </p:ext>
    </p:extLst>
  </p:cSld>
  <p:clrMapOvr>
    <a:masterClrMapping/>
  </p:clrMapOvr>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课件蓝白色模板.potx" id="{5B1BA259-F0A4-47D0-BF68-057AFEF8E519}" vid="{0D99D3A8-3341-4791-B4B8-783062AFC9A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12061</TotalTime>
  <Words>1644</Words>
  <Application>Microsoft Office PowerPoint</Application>
  <PresentationFormat>全屏显示(4:3)</PresentationFormat>
  <Paragraphs>102</Paragraphs>
  <Slides>20</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等线</vt:lpstr>
      <vt:lpstr>等线 Light</vt:lpstr>
      <vt:lpstr>黑体</vt:lpstr>
      <vt:lpstr>隶书</vt:lpstr>
      <vt:lpstr>宋体</vt:lpstr>
      <vt:lpstr>微软雅黑</vt:lpstr>
      <vt:lpstr>Arial</vt:lpstr>
      <vt:lpstr>Calibri</vt:lpstr>
      <vt:lpstr>Times New Roman</vt:lpstr>
      <vt:lpstr>自定义设计方案</vt:lpstr>
      <vt:lpstr>PowerPoint 演示文稿</vt:lpstr>
      <vt:lpstr>   网络通信基础</vt:lpstr>
      <vt:lpstr>PowerPoint 演示文稿</vt:lpstr>
      <vt:lpstr> TCP 协议</vt:lpstr>
      <vt:lpstr>PowerPoint 演示文稿</vt:lpstr>
      <vt:lpstr>PowerPoint 演示文稿</vt:lpstr>
      <vt:lpstr>UDP 协议</vt:lpstr>
      <vt:lpstr>PowerPoint 演示文稿</vt:lpstr>
      <vt:lpstr>PowerPoint 演示文稿</vt:lpstr>
      <vt:lpstr>Socket 套接字</vt:lpstr>
      <vt:lpstr>PowerPoint 演示文稿</vt:lpstr>
      <vt:lpstr>PowerPoint 演示文稿</vt:lpstr>
      <vt:lpstr>PowerPoint 演示文稿</vt:lpstr>
      <vt:lpstr>PowerPoint 演示文稿</vt:lpstr>
      <vt:lpstr>2025年陕西省大学生电子设计竞赛九校联赛题 摆动测量系统（C 题）</vt:lpstr>
      <vt:lpstr>短距离无线通信实验</vt:lpstr>
      <vt:lpstr>实验6综合设计</vt:lpstr>
      <vt:lpstr>实验报告格式及要求</vt:lpstr>
      <vt:lpstr>注意事项</vt:lpstr>
      <vt:lpstr>PowerPoint 演示文稿</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chw</dc:creator>
  <cp:lastModifiedBy>13709129200@139.com</cp:lastModifiedBy>
  <cp:revision>514</cp:revision>
  <cp:lastPrinted>2015-09-08T03:57:43Z</cp:lastPrinted>
  <dcterms:created xsi:type="dcterms:W3CDTF">2015-09-04T08:06:26Z</dcterms:created>
  <dcterms:modified xsi:type="dcterms:W3CDTF">2026-04-24T09:16:28Z</dcterms:modified>
</cp:coreProperties>
</file>
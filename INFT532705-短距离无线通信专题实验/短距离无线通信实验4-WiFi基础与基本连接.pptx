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669" r:id="rId1"/>
  </p:sldMasterIdLst>
  <p:notesMasterIdLst>
    <p:notesMasterId r:id="rId36"/>
  </p:notesMasterIdLst>
  <p:handoutMasterIdLst>
    <p:handoutMasterId r:id="rId37"/>
  </p:handoutMasterIdLst>
  <p:sldIdLst>
    <p:sldId id="916" r:id="rId2"/>
    <p:sldId id="802" r:id="rId3"/>
    <p:sldId id="803" r:id="rId4"/>
    <p:sldId id="811" r:id="rId5"/>
    <p:sldId id="812" r:id="rId6"/>
    <p:sldId id="1034" r:id="rId7"/>
    <p:sldId id="880" r:id="rId8"/>
    <p:sldId id="815" r:id="rId9"/>
    <p:sldId id="881" r:id="rId10"/>
    <p:sldId id="902" r:id="rId11"/>
    <p:sldId id="1036" r:id="rId12"/>
    <p:sldId id="904" r:id="rId13"/>
    <p:sldId id="905" r:id="rId14"/>
    <p:sldId id="907" r:id="rId15"/>
    <p:sldId id="816" r:id="rId16"/>
    <p:sldId id="952" r:id="rId17"/>
    <p:sldId id="826" r:id="rId18"/>
    <p:sldId id="827" r:id="rId19"/>
    <p:sldId id="828" r:id="rId20"/>
    <p:sldId id="829" r:id="rId21"/>
    <p:sldId id="808" r:id="rId22"/>
    <p:sldId id="830" r:id="rId23"/>
    <p:sldId id="831" r:id="rId24"/>
    <p:sldId id="900" r:id="rId25"/>
    <p:sldId id="957" r:id="rId26"/>
    <p:sldId id="956" r:id="rId27"/>
    <p:sldId id="1001" r:id="rId28"/>
    <p:sldId id="1004" r:id="rId29"/>
    <p:sldId id="260" r:id="rId30"/>
    <p:sldId id="261" r:id="rId31"/>
    <p:sldId id="262" r:id="rId32"/>
    <p:sldId id="264" r:id="rId33"/>
    <p:sldId id="1009" r:id="rId34"/>
    <p:sldId id="742" r:id="rId35"/>
  </p:sldIdLst>
  <p:sldSz cx="9144000" cy="6858000" type="screen4x3"/>
  <p:notesSz cx="6761163" cy="99425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7AE"/>
    <a:srgbClr val="4269BD"/>
    <a:srgbClr val="E97C30"/>
    <a:srgbClr val="3A97D7"/>
    <a:srgbClr val="E87E04"/>
    <a:srgbClr val="FFC000"/>
    <a:srgbClr val="1F4E79"/>
    <a:srgbClr val="0070C0"/>
    <a:srgbClr val="2E75B6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7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17280-E3BE-493F-A592-B386A804031C}" type="doc">
      <dgm:prSet loTypeId="urn:microsoft.com/office/officeart/2005/8/layout/hierarchy2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7112AFEA-86A9-4489-9757-2D9ED15797A0}">
      <dgm:prSet phldrT="[文本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 altLang="zh-CN" dirty="0">
              <a:solidFill>
                <a:schemeClr val="tx1"/>
              </a:solidFill>
            </a:rPr>
            <a:t>Wi-Fi</a:t>
          </a:r>
          <a:endParaRPr lang="zh-CN" altLang="en-US" dirty="0">
            <a:solidFill>
              <a:schemeClr val="tx1"/>
            </a:solidFill>
          </a:endParaRPr>
        </a:p>
      </dgm:t>
    </dgm:pt>
    <dgm:pt modelId="{BCABC1B8-7545-4B62-810E-82C272B4A9DB}" type="parTrans" cxnId="{6186E96B-6113-40FE-B4CF-E0264C799036}">
      <dgm:prSet/>
      <dgm:spPr/>
      <dgm:t>
        <a:bodyPr/>
        <a:lstStyle/>
        <a:p>
          <a:endParaRPr lang="zh-CN" altLang="en-US"/>
        </a:p>
      </dgm:t>
    </dgm:pt>
    <dgm:pt modelId="{F4A408FA-CF15-472C-A565-1E4205AF7CCF}" type="sibTrans" cxnId="{6186E96B-6113-40FE-B4CF-E0264C799036}">
      <dgm:prSet/>
      <dgm:spPr/>
      <dgm:t>
        <a:bodyPr/>
        <a:lstStyle/>
        <a:p>
          <a:endParaRPr lang="zh-CN" altLang="en-US"/>
        </a:p>
      </dgm:t>
    </dgm:pt>
    <dgm:pt modelId="{9F11170E-D6C1-43B7-B8F9-C5A5AC072C8D}">
      <dgm:prSet phldrT="[文本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altLang="zh-CN" sz="2400" b="1" dirty="0">
              <a:solidFill>
                <a:schemeClr val="tx1"/>
              </a:solidFill>
            </a:rPr>
            <a:t>AP</a:t>
          </a:r>
        </a:p>
        <a:p>
          <a:r>
            <a:rPr lang="en-US" altLang="zh-CN" sz="2400" dirty="0">
              <a:solidFill>
                <a:schemeClr val="tx1"/>
              </a:solidFill>
            </a:rPr>
            <a:t>(Access Point)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BC998054-E863-4322-8FEF-772460F46C81}" type="parTrans" cxnId="{B3849EEE-A866-407C-822F-2794A3C455A9}">
      <dgm:prSet/>
      <dgm:spPr/>
      <dgm:t>
        <a:bodyPr/>
        <a:lstStyle/>
        <a:p>
          <a:endParaRPr lang="zh-CN" altLang="en-US"/>
        </a:p>
      </dgm:t>
    </dgm:pt>
    <dgm:pt modelId="{1796F600-6B53-4398-AF8A-2F48EC41594C}" type="sibTrans" cxnId="{B3849EEE-A866-407C-822F-2794A3C455A9}">
      <dgm:prSet/>
      <dgm:spPr/>
      <dgm:t>
        <a:bodyPr/>
        <a:lstStyle/>
        <a:p>
          <a:endParaRPr lang="zh-CN" altLang="en-US"/>
        </a:p>
      </dgm:t>
    </dgm:pt>
    <dgm:pt modelId="{BB9EBC5F-D538-4280-A94B-C8F6FF23EE8E}">
      <dgm:prSet phldrT="[文本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altLang="zh-CN" sz="2000" dirty="0">
              <a:solidFill>
                <a:schemeClr val="tx1"/>
              </a:solidFill>
            </a:rPr>
            <a:t>Station</a:t>
          </a:r>
          <a:endParaRPr lang="zh-CN" altLang="en-US" sz="2000" dirty="0">
            <a:solidFill>
              <a:schemeClr val="tx1"/>
            </a:solidFill>
          </a:endParaRPr>
        </a:p>
      </dgm:t>
    </dgm:pt>
    <dgm:pt modelId="{6FE6C4A6-45DA-419D-9160-088CA843EF9C}" type="parTrans" cxnId="{0DA9306E-3A28-4D4F-8B64-1B9F5A36E48A}">
      <dgm:prSet/>
      <dgm:spPr/>
      <dgm:t>
        <a:bodyPr/>
        <a:lstStyle/>
        <a:p>
          <a:endParaRPr lang="zh-CN" altLang="en-US"/>
        </a:p>
      </dgm:t>
    </dgm:pt>
    <dgm:pt modelId="{EB6142B3-5427-4F35-A615-B42E4A487646}" type="sibTrans" cxnId="{0DA9306E-3A28-4D4F-8B64-1B9F5A36E48A}">
      <dgm:prSet/>
      <dgm:spPr/>
      <dgm:t>
        <a:bodyPr/>
        <a:lstStyle/>
        <a:p>
          <a:endParaRPr lang="zh-CN" altLang="en-US"/>
        </a:p>
      </dgm:t>
    </dgm:pt>
    <dgm:pt modelId="{C5D44DF6-AAAF-4F00-8747-E6CD2268E833}">
      <dgm:prSet phldrT="[文本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负责接收由</a:t>
          </a:r>
          <a:r>
            <a: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AP</a:t>
          </a:r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所发射信号的</a:t>
          </a:r>
          <a:r>
            <a: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CLIENT</a:t>
          </a:r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端设备</a:t>
          </a:r>
          <a:endParaRPr lang="zh-CN" altLang="en-US" sz="2000" dirty="0">
            <a:solidFill>
              <a:schemeClr val="tx1"/>
            </a:solidFill>
          </a:endParaRPr>
        </a:p>
      </dgm:t>
    </dgm:pt>
    <dgm:pt modelId="{77B81626-17FD-4EE4-93AB-0D5AEB700F78}" type="sibTrans" cxnId="{E2322A57-F0A6-4F47-85DF-8F16AB71E7A7}">
      <dgm:prSet/>
      <dgm:spPr/>
      <dgm:t>
        <a:bodyPr/>
        <a:lstStyle/>
        <a:p>
          <a:endParaRPr lang="zh-CN" altLang="en-US"/>
        </a:p>
      </dgm:t>
    </dgm:pt>
    <dgm:pt modelId="{2F381740-5A7B-4663-B87B-08FD109A40B2}" type="parTrans" cxnId="{E2322A57-F0A6-4F47-85DF-8F16AB71E7A7}">
      <dgm:prSet/>
      <dgm:spPr/>
      <dgm:t>
        <a:bodyPr/>
        <a:lstStyle/>
        <a:p>
          <a:endParaRPr lang="zh-CN" altLang="en-US"/>
        </a:p>
      </dgm:t>
    </dgm:pt>
    <dgm:pt modelId="{7FF8571F-96FA-45EC-88D1-06C537672439}">
      <dgm:prSet phldrT="[文本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algn="l"/>
          <a:r>
            <a: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AP</a:t>
          </a:r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一般称为网络桥接器或接入点</a:t>
          </a:r>
          <a:r>
            <a: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,</a:t>
          </a:r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 其工作原理相当于一个内置无线发射器的</a:t>
          </a:r>
          <a:r>
            <a: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Hub</a:t>
          </a:r>
          <a:r>
            <a:rPr lang="zh-CN" altLang="en-US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或者是路由</a:t>
          </a:r>
          <a:endParaRPr lang="zh-CN" altLang="en-US" sz="2000" dirty="0">
            <a:solidFill>
              <a:schemeClr val="tx1"/>
            </a:solidFill>
          </a:endParaRPr>
        </a:p>
      </dgm:t>
    </dgm:pt>
    <dgm:pt modelId="{1F57F168-2D8E-48B6-921F-92B83FDED09A}" type="sibTrans" cxnId="{4E6BFF01-0264-48F1-9A1B-4DA4E5213C3C}">
      <dgm:prSet/>
      <dgm:spPr/>
      <dgm:t>
        <a:bodyPr/>
        <a:lstStyle/>
        <a:p>
          <a:endParaRPr lang="zh-CN" altLang="en-US"/>
        </a:p>
      </dgm:t>
    </dgm:pt>
    <dgm:pt modelId="{8167E667-C777-4EDD-9B06-26A6923266D3}" type="parTrans" cxnId="{4E6BFF01-0264-48F1-9A1B-4DA4E5213C3C}">
      <dgm:prSet/>
      <dgm:spPr/>
      <dgm:t>
        <a:bodyPr/>
        <a:lstStyle/>
        <a:p>
          <a:endParaRPr lang="zh-CN" altLang="en-US"/>
        </a:p>
      </dgm:t>
    </dgm:pt>
    <dgm:pt modelId="{DFFA87F1-51DE-4E65-9DFA-2D4344553B0F}" type="pres">
      <dgm:prSet presAssocID="{A5617280-E3BE-493F-A592-B386A804031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D166817-619D-4703-A707-D561BE595333}" type="pres">
      <dgm:prSet presAssocID="{7112AFEA-86A9-4489-9757-2D9ED15797A0}" presName="root1" presStyleCnt="0"/>
      <dgm:spPr/>
    </dgm:pt>
    <dgm:pt modelId="{A4936FC6-7FE0-427D-B3C0-89FAE5731D68}" type="pres">
      <dgm:prSet presAssocID="{7112AFEA-86A9-4489-9757-2D9ED15797A0}" presName="LevelOneTextNode" presStyleLbl="node0" presStyleIdx="0" presStyleCnt="1">
        <dgm:presLayoutVars>
          <dgm:chPref val="3"/>
        </dgm:presLayoutVars>
      </dgm:prSet>
      <dgm:spPr/>
    </dgm:pt>
    <dgm:pt modelId="{AFDB3234-9F34-4ADB-B54E-170AE06203AE}" type="pres">
      <dgm:prSet presAssocID="{7112AFEA-86A9-4489-9757-2D9ED15797A0}" presName="level2hierChild" presStyleCnt="0"/>
      <dgm:spPr/>
    </dgm:pt>
    <dgm:pt modelId="{09DA91C5-A9D1-46D0-8F62-2BF07241C1B4}" type="pres">
      <dgm:prSet presAssocID="{BC998054-E863-4322-8FEF-772460F46C81}" presName="conn2-1" presStyleLbl="parChTrans1D2" presStyleIdx="0" presStyleCnt="2"/>
      <dgm:spPr/>
    </dgm:pt>
    <dgm:pt modelId="{8006C902-1A97-432F-A56D-12B5ED71D8A3}" type="pres">
      <dgm:prSet presAssocID="{BC998054-E863-4322-8FEF-772460F46C81}" presName="connTx" presStyleLbl="parChTrans1D2" presStyleIdx="0" presStyleCnt="2"/>
      <dgm:spPr/>
    </dgm:pt>
    <dgm:pt modelId="{A14D5C87-5DE7-42B7-9A7D-98304092D188}" type="pres">
      <dgm:prSet presAssocID="{9F11170E-D6C1-43B7-B8F9-C5A5AC072C8D}" presName="root2" presStyleCnt="0"/>
      <dgm:spPr/>
    </dgm:pt>
    <dgm:pt modelId="{B4D3B89A-D13C-43BB-86F2-1F72522BD856}" type="pres">
      <dgm:prSet presAssocID="{9F11170E-D6C1-43B7-B8F9-C5A5AC072C8D}" presName="LevelTwoTextNode" presStyleLbl="node2" presStyleIdx="0" presStyleCnt="2" custScaleX="264021" custScaleY="137302" custLinFactNeighborX="763" custLinFactNeighborY="-6108">
        <dgm:presLayoutVars>
          <dgm:chPref val="3"/>
        </dgm:presLayoutVars>
      </dgm:prSet>
      <dgm:spPr/>
    </dgm:pt>
    <dgm:pt modelId="{6FECF1A7-BF7D-422F-91F8-52ABD6B39AFD}" type="pres">
      <dgm:prSet presAssocID="{9F11170E-D6C1-43B7-B8F9-C5A5AC072C8D}" presName="level3hierChild" presStyleCnt="0"/>
      <dgm:spPr/>
    </dgm:pt>
    <dgm:pt modelId="{ECFAB8CC-4D54-4D7B-8E32-D8985B5BE08A}" type="pres">
      <dgm:prSet presAssocID="{8167E667-C777-4EDD-9B06-26A6923266D3}" presName="conn2-1" presStyleLbl="parChTrans1D3" presStyleIdx="0" presStyleCnt="2"/>
      <dgm:spPr/>
    </dgm:pt>
    <dgm:pt modelId="{8CB35A9D-AD2C-47BB-94F4-89B4BA9A62CC}" type="pres">
      <dgm:prSet presAssocID="{8167E667-C777-4EDD-9B06-26A6923266D3}" presName="connTx" presStyleLbl="parChTrans1D3" presStyleIdx="0" presStyleCnt="2"/>
      <dgm:spPr/>
    </dgm:pt>
    <dgm:pt modelId="{FCB94B80-2662-4371-833D-FE6686C98BD7}" type="pres">
      <dgm:prSet presAssocID="{7FF8571F-96FA-45EC-88D1-06C537672439}" presName="root2" presStyleCnt="0"/>
      <dgm:spPr/>
    </dgm:pt>
    <dgm:pt modelId="{41ED5952-E992-4C4E-8D40-2EBCEC1782C0}" type="pres">
      <dgm:prSet presAssocID="{7FF8571F-96FA-45EC-88D1-06C537672439}" presName="LevelTwoTextNode" presStyleLbl="node3" presStyleIdx="0" presStyleCnt="2" custScaleX="383228" custScaleY="614137" custLinFactX="156573" custLinFactY="-75061" custLinFactNeighborX="200000" custLinFactNeighborY="-100000">
        <dgm:presLayoutVars>
          <dgm:chPref val="3"/>
        </dgm:presLayoutVars>
      </dgm:prSet>
      <dgm:spPr/>
    </dgm:pt>
    <dgm:pt modelId="{2D4C1B7E-9A49-446D-9789-66423D8A040C}" type="pres">
      <dgm:prSet presAssocID="{7FF8571F-96FA-45EC-88D1-06C537672439}" presName="level3hierChild" presStyleCnt="0"/>
      <dgm:spPr/>
    </dgm:pt>
    <dgm:pt modelId="{ACCE011F-9513-40A3-B70B-93F64E55E472}" type="pres">
      <dgm:prSet presAssocID="{6FE6C4A6-45DA-419D-9160-088CA843EF9C}" presName="conn2-1" presStyleLbl="parChTrans1D2" presStyleIdx="1" presStyleCnt="2"/>
      <dgm:spPr/>
    </dgm:pt>
    <dgm:pt modelId="{74759804-737C-4B43-9DBF-D61B89FD5B17}" type="pres">
      <dgm:prSet presAssocID="{6FE6C4A6-45DA-419D-9160-088CA843EF9C}" presName="connTx" presStyleLbl="parChTrans1D2" presStyleIdx="1" presStyleCnt="2"/>
      <dgm:spPr/>
    </dgm:pt>
    <dgm:pt modelId="{626ECF5F-B344-42CD-81DE-8582DC89184A}" type="pres">
      <dgm:prSet presAssocID="{BB9EBC5F-D538-4280-A94B-C8F6FF23EE8E}" presName="root2" presStyleCnt="0"/>
      <dgm:spPr/>
    </dgm:pt>
    <dgm:pt modelId="{08D08797-1B26-49F5-B176-C79D14404C0D}" type="pres">
      <dgm:prSet presAssocID="{BB9EBC5F-D538-4280-A94B-C8F6FF23EE8E}" presName="LevelTwoTextNode" presStyleLbl="node2" presStyleIdx="1" presStyleCnt="2" custScaleX="178876" custScaleY="132175" custLinFactNeighborX="763" custLinFactNeighborY="1527">
        <dgm:presLayoutVars>
          <dgm:chPref val="3"/>
        </dgm:presLayoutVars>
      </dgm:prSet>
      <dgm:spPr/>
    </dgm:pt>
    <dgm:pt modelId="{99D694C5-3C82-4561-9354-15BC416B005A}" type="pres">
      <dgm:prSet presAssocID="{BB9EBC5F-D538-4280-A94B-C8F6FF23EE8E}" presName="level3hierChild" presStyleCnt="0"/>
      <dgm:spPr/>
    </dgm:pt>
    <dgm:pt modelId="{4EF35DB6-7930-444E-979C-E622061CEC7A}" type="pres">
      <dgm:prSet presAssocID="{2F381740-5A7B-4663-B87B-08FD109A40B2}" presName="conn2-1" presStyleLbl="parChTrans1D3" presStyleIdx="1" presStyleCnt="2"/>
      <dgm:spPr/>
    </dgm:pt>
    <dgm:pt modelId="{06432A44-565C-4E79-A7DA-64DE523F60AA}" type="pres">
      <dgm:prSet presAssocID="{2F381740-5A7B-4663-B87B-08FD109A40B2}" presName="connTx" presStyleLbl="parChTrans1D3" presStyleIdx="1" presStyleCnt="2"/>
      <dgm:spPr/>
    </dgm:pt>
    <dgm:pt modelId="{2E23598D-845D-4AE6-BAC6-60AFDB0FF994}" type="pres">
      <dgm:prSet presAssocID="{C5D44DF6-AAAF-4F00-8747-E6CD2268E833}" presName="root2" presStyleCnt="0"/>
      <dgm:spPr/>
    </dgm:pt>
    <dgm:pt modelId="{1F36ED2F-21A1-4A5D-8FEF-C1770FF5EEA2}" type="pres">
      <dgm:prSet presAssocID="{C5D44DF6-AAAF-4F00-8747-E6CD2268E833}" presName="LevelTwoTextNode" presStyleLbl="node3" presStyleIdx="1" presStyleCnt="2" custScaleX="312033" custScaleY="344038" custLinFactNeighborX="-2290" custLinFactNeighborY="36646">
        <dgm:presLayoutVars>
          <dgm:chPref val="3"/>
        </dgm:presLayoutVars>
      </dgm:prSet>
      <dgm:spPr/>
    </dgm:pt>
    <dgm:pt modelId="{591E37BB-5497-4765-AE17-0CDCE0EC6BD1}" type="pres">
      <dgm:prSet presAssocID="{C5D44DF6-AAAF-4F00-8747-E6CD2268E833}" presName="level3hierChild" presStyleCnt="0"/>
      <dgm:spPr/>
    </dgm:pt>
  </dgm:ptLst>
  <dgm:cxnLst>
    <dgm:cxn modelId="{4E6BFF01-0264-48F1-9A1B-4DA4E5213C3C}" srcId="{9F11170E-D6C1-43B7-B8F9-C5A5AC072C8D}" destId="{7FF8571F-96FA-45EC-88D1-06C537672439}" srcOrd="0" destOrd="0" parTransId="{8167E667-C777-4EDD-9B06-26A6923266D3}" sibTransId="{1F57F168-2D8E-48B6-921F-92B83FDED09A}"/>
    <dgm:cxn modelId="{62F8CA12-A768-460B-9985-4D1C10C88F83}" type="presOf" srcId="{BC998054-E863-4322-8FEF-772460F46C81}" destId="{09DA91C5-A9D1-46D0-8F62-2BF07241C1B4}" srcOrd="0" destOrd="0" presId="urn:microsoft.com/office/officeart/2005/8/layout/hierarchy2#1"/>
    <dgm:cxn modelId="{64265827-FC0E-492E-88EF-253D5B54DFE2}" type="presOf" srcId="{7112AFEA-86A9-4489-9757-2D9ED15797A0}" destId="{A4936FC6-7FE0-427D-B3C0-89FAE5731D68}" srcOrd="0" destOrd="0" presId="urn:microsoft.com/office/officeart/2005/8/layout/hierarchy2#1"/>
    <dgm:cxn modelId="{DE089727-9EFA-4620-B17B-A8957D532B41}" type="presOf" srcId="{9F11170E-D6C1-43B7-B8F9-C5A5AC072C8D}" destId="{B4D3B89A-D13C-43BB-86F2-1F72522BD856}" srcOrd="0" destOrd="0" presId="urn:microsoft.com/office/officeart/2005/8/layout/hierarchy2#1"/>
    <dgm:cxn modelId="{CB894030-981F-4940-85EE-7914ECB21683}" type="presOf" srcId="{6FE6C4A6-45DA-419D-9160-088CA843EF9C}" destId="{ACCE011F-9513-40A3-B70B-93F64E55E472}" srcOrd="0" destOrd="0" presId="urn:microsoft.com/office/officeart/2005/8/layout/hierarchy2#1"/>
    <dgm:cxn modelId="{6186E96B-6113-40FE-B4CF-E0264C799036}" srcId="{A5617280-E3BE-493F-A592-B386A804031C}" destId="{7112AFEA-86A9-4489-9757-2D9ED15797A0}" srcOrd="0" destOrd="0" parTransId="{BCABC1B8-7545-4B62-810E-82C272B4A9DB}" sibTransId="{F4A408FA-CF15-472C-A565-1E4205AF7CCF}"/>
    <dgm:cxn modelId="{9004996C-7414-4B3D-AA50-BEE1A17B07BB}" type="presOf" srcId="{2F381740-5A7B-4663-B87B-08FD109A40B2}" destId="{4EF35DB6-7930-444E-979C-E622061CEC7A}" srcOrd="0" destOrd="0" presId="urn:microsoft.com/office/officeart/2005/8/layout/hierarchy2#1"/>
    <dgm:cxn modelId="{0DA9306E-3A28-4D4F-8B64-1B9F5A36E48A}" srcId="{7112AFEA-86A9-4489-9757-2D9ED15797A0}" destId="{BB9EBC5F-D538-4280-A94B-C8F6FF23EE8E}" srcOrd="1" destOrd="0" parTransId="{6FE6C4A6-45DA-419D-9160-088CA843EF9C}" sibTransId="{EB6142B3-5427-4F35-A615-B42E4A487646}"/>
    <dgm:cxn modelId="{59D33550-CE9B-48A0-A6B7-64FC4C23C6A9}" type="presOf" srcId="{2F381740-5A7B-4663-B87B-08FD109A40B2}" destId="{06432A44-565C-4E79-A7DA-64DE523F60AA}" srcOrd="1" destOrd="0" presId="urn:microsoft.com/office/officeart/2005/8/layout/hierarchy2#1"/>
    <dgm:cxn modelId="{E2322A57-F0A6-4F47-85DF-8F16AB71E7A7}" srcId="{BB9EBC5F-D538-4280-A94B-C8F6FF23EE8E}" destId="{C5D44DF6-AAAF-4F00-8747-E6CD2268E833}" srcOrd="0" destOrd="0" parTransId="{2F381740-5A7B-4663-B87B-08FD109A40B2}" sibTransId="{77B81626-17FD-4EE4-93AB-0D5AEB700F78}"/>
    <dgm:cxn modelId="{9AAE4C58-1541-4D80-9197-C36FCC722F2D}" type="presOf" srcId="{7FF8571F-96FA-45EC-88D1-06C537672439}" destId="{41ED5952-E992-4C4E-8D40-2EBCEC1782C0}" srcOrd="0" destOrd="0" presId="urn:microsoft.com/office/officeart/2005/8/layout/hierarchy2#1"/>
    <dgm:cxn modelId="{4B6F4A79-16A6-4721-AC30-761899C46555}" type="presOf" srcId="{8167E667-C777-4EDD-9B06-26A6923266D3}" destId="{8CB35A9D-AD2C-47BB-94F4-89B4BA9A62CC}" srcOrd="1" destOrd="0" presId="urn:microsoft.com/office/officeart/2005/8/layout/hierarchy2#1"/>
    <dgm:cxn modelId="{F62D6F99-4219-4F3F-8F1B-684EA9191D57}" type="presOf" srcId="{A5617280-E3BE-493F-A592-B386A804031C}" destId="{DFFA87F1-51DE-4E65-9DFA-2D4344553B0F}" srcOrd="0" destOrd="0" presId="urn:microsoft.com/office/officeart/2005/8/layout/hierarchy2#1"/>
    <dgm:cxn modelId="{D522D69D-D564-42FB-9090-42AC785613B8}" type="presOf" srcId="{BB9EBC5F-D538-4280-A94B-C8F6FF23EE8E}" destId="{08D08797-1B26-49F5-B176-C79D14404C0D}" srcOrd="0" destOrd="0" presId="urn:microsoft.com/office/officeart/2005/8/layout/hierarchy2#1"/>
    <dgm:cxn modelId="{FC5943B2-D137-4AF6-A8F9-03B0A7CA44C3}" type="presOf" srcId="{C5D44DF6-AAAF-4F00-8747-E6CD2268E833}" destId="{1F36ED2F-21A1-4A5D-8FEF-C1770FF5EEA2}" srcOrd="0" destOrd="0" presId="urn:microsoft.com/office/officeart/2005/8/layout/hierarchy2#1"/>
    <dgm:cxn modelId="{296E03EB-D0B7-4B8D-BFF4-6F0DFDA4F591}" type="presOf" srcId="{8167E667-C777-4EDD-9B06-26A6923266D3}" destId="{ECFAB8CC-4D54-4D7B-8E32-D8985B5BE08A}" srcOrd="0" destOrd="0" presId="urn:microsoft.com/office/officeart/2005/8/layout/hierarchy2#1"/>
    <dgm:cxn modelId="{B3849EEE-A866-407C-822F-2794A3C455A9}" srcId="{7112AFEA-86A9-4489-9757-2D9ED15797A0}" destId="{9F11170E-D6C1-43B7-B8F9-C5A5AC072C8D}" srcOrd="0" destOrd="0" parTransId="{BC998054-E863-4322-8FEF-772460F46C81}" sibTransId="{1796F600-6B53-4398-AF8A-2F48EC41594C}"/>
    <dgm:cxn modelId="{E72C9FF0-B3D8-49AC-89C8-26B4F86EA54B}" type="presOf" srcId="{6FE6C4A6-45DA-419D-9160-088CA843EF9C}" destId="{74759804-737C-4B43-9DBF-D61B89FD5B17}" srcOrd="1" destOrd="0" presId="urn:microsoft.com/office/officeart/2005/8/layout/hierarchy2#1"/>
    <dgm:cxn modelId="{4A3547F4-4F8D-4061-850D-03ADB3266D70}" type="presOf" srcId="{BC998054-E863-4322-8FEF-772460F46C81}" destId="{8006C902-1A97-432F-A56D-12B5ED71D8A3}" srcOrd="1" destOrd="0" presId="urn:microsoft.com/office/officeart/2005/8/layout/hierarchy2#1"/>
    <dgm:cxn modelId="{04D64AD8-5DB7-4610-AB7F-4F6900F42B77}" type="presParOf" srcId="{DFFA87F1-51DE-4E65-9DFA-2D4344553B0F}" destId="{8D166817-619D-4703-A707-D561BE595333}" srcOrd="0" destOrd="0" presId="urn:microsoft.com/office/officeart/2005/8/layout/hierarchy2#1"/>
    <dgm:cxn modelId="{F32CDE65-6778-4BC7-A58A-3D0FFF32EED5}" type="presParOf" srcId="{8D166817-619D-4703-A707-D561BE595333}" destId="{A4936FC6-7FE0-427D-B3C0-89FAE5731D68}" srcOrd="0" destOrd="0" presId="urn:microsoft.com/office/officeart/2005/8/layout/hierarchy2#1"/>
    <dgm:cxn modelId="{5A5D02A1-5A0F-4FBD-BF83-F8E3A11ABE25}" type="presParOf" srcId="{8D166817-619D-4703-A707-D561BE595333}" destId="{AFDB3234-9F34-4ADB-B54E-170AE06203AE}" srcOrd="1" destOrd="0" presId="urn:microsoft.com/office/officeart/2005/8/layout/hierarchy2#1"/>
    <dgm:cxn modelId="{5F6CE446-8B56-4C5B-BCCD-D836B980B4FA}" type="presParOf" srcId="{AFDB3234-9F34-4ADB-B54E-170AE06203AE}" destId="{09DA91C5-A9D1-46D0-8F62-2BF07241C1B4}" srcOrd="0" destOrd="0" presId="urn:microsoft.com/office/officeart/2005/8/layout/hierarchy2#1"/>
    <dgm:cxn modelId="{219D5FA8-2E9A-49D6-9CC7-9E28A8E3807D}" type="presParOf" srcId="{09DA91C5-A9D1-46D0-8F62-2BF07241C1B4}" destId="{8006C902-1A97-432F-A56D-12B5ED71D8A3}" srcOrd="0" destOrd="0" presId="urn:microsoft.com/office/officeart/2005/8/layout/hierarchy2#1"/>
    <dgm:cxn modelId="{5A622DAC-11D7-4318-A9FE-648BD0DC9467}" type="presParOf" srcId="{AFDB3234-9F34-4ADB-B54E-170AE06203AE}" destId="{A14D5C87-5DE7-42B7-9A7D-98304092D188}" srcOrd="1" destOrd="0" presId="urn:microsoft.com/office/officeart/2005/8/layout/hierarchy2#1"/>
    <dgm:cxn modelId="{41057F58-6F8D-4315-BCCF-25D3069252EF}" type="presParOf" srcId="{A14D5C87-5DE7-42B7-9A7D-98304092D188}" destId="{B4D3B89A-D13C-43BB-86F2-1F72522BD856}" srcOrd="0" destOrd="0" presId="urn:microsoft.com/office/officeart/2005/8/layout/hierarchy2#1"/>
    <dgm:cxn modelId="{32F4F28B-3E6B-44BE-93BE-14BCF294212A}" type="presParOf" srcId="{A14D5C87-5DE7-42B7-9A7D-98304092D188}" destId="{6FECF1A7-BF7D-422F-91F8-52ABD6B39AFD}" srcOrd="1" destOrd="0" presId="urn:microsoft.com/office/officeart/2005/8/layout/hierarchy2#1"/>
    <dgm:cxn modelId="{E6852B8E-3B7D-4F96-86D8-9658B88FB082}" type="presParOf" srcId="{6FECF1A7-BF7D-422F-91F8-52ABD6B39AFD}" destId="{ECFAB8CC-4D54-4D7B-8E32-D8985B5BE08A}" srcOrd="0" destOrd="0" presId="urn:microsoft.com/office/officeart/2005/8/layout/hierarchy2#1"/>
    <dgm:cxn modelId="{EA760DA2-750B-4AE7-BA48-720CBAA5000D}" type="presParOf" srcId="{ECFAB8CC-4D54-4D7B-8E32-D8985B5BE08A}" destId="{8CB35A9D-AD2C-47BB-94F4-89B4BA9A62CC}" srcOrd="0" destOrd="0" presId="urn:microsoft.com/office/officeart/2005/8/layout/hierarchy2#1"/>
    <dgm:cxn modelId="{A9197C9A-6C20-4F64-9447-83769514747A}" type="presParOf" srcId="{6FECF1A7-BF7D-422F-91F8-52ABD6B39AFD}" destId="{FCB94B80-2662-4371-833D-FE6686C98BD7}" srcOrd="1" destOrd="0" presId="urn:microsoft.com/office/officeart/2005/8/layout/hierarchy2#1"/>
    <dgm:cxn modelId="{CE493545-525F-4353-831D-431A53EA5B24}" type="presParOf" srcId="{FCB94B80-2662-4371-833D-FE6686C98BD7}" destId="{41ED5952-E992-4C4E-8D40-2EBCEC1782C0}" srcOrd="0" destOrd="0" presId="urn:microsoft.com/office/officeart/2005/8/layout/hierarchy2#1"/>
    <dgm:cxn modelId="{ED393E1C-18BB-4F56-B3CD-E3ADB0CD5C68}" type="presParOf" srcId="{FCB94B80-2662-4371-833D-FE6686C98BD7}" destId="{2D4C1B7E-9A49-446D-9789-66423D8A040C}" srcOrd="1" destOrd="0" presId="urn:microsoft.com/office/officeart/2005/8/layout/hierarchy2#1"/>
    <dgm:cxn modelId="{38E06E87-F5DF-4042-96AF-DFC010D79FBB}" type="presParOf" srcId="{AFDB3234-9F34-4ADB-B54E-170AE06203AE}" destId="{ACCE011F-9513-40A3-B70B-93F64E55E472}" srcOrd="2" destOrd="0" presId="urn:microsoft.com/office/officeart/2005/8/layout/hierarchy2#1"/>
    <dgm:cxn modelId="{56070F90-180E-448D-8230-155C605C9592}" type="presParOf" srcId="{ACCE011F-9513-40A3-B70B-93F64E55E472}" destId="{74759804-737C-4B43-9DBF-D61B89FD5B17}" srcOrd="0" destOrd="0" presId="urn:microsoft.com/office/officeart/2005/8/layout/hierarchy2#1"/>
    <dgm:cxn modelId="{C2D70DC3-35B3-4738-A8EF-16BB3E909B8D}" type="presParOf" srcId="{AFDB3234-9F34-4ADB-B54E-170AE06203AE}" destId="{626ECF5F-B344-42CD-81DE-8582DC89184A}" srcOrd="3" destOrd="0" presId="urn:microsoft.com/office/officeart/2005/8/layout/hierarchy2#1"/>
    <dgm:cxn modelId="{3087A28A-35AC-4135-90EC-09517349618C}" type="presParOf" srcId="{626ECF5F-B344-42CD-81DE-8582DC89184A}" destId="{08D08797-1B26-49F5-B176-C79D14404C0D}" srcOrd="0" destOrd="0" presId="urn:microsoft.com/office/officeart/2005/8/layout/hierarchy2#1"/>
    <dgm:cxn modelId="{0BDF5AC0-9490-496B-A6BA-A5ADDE9E7573}" type="presParOf" srcId="{626ECF5F-B344-42CD-81DE-8582DC89184A}" destId="{99D694C5-3C82-4561-9354-15BC416B005A}" srcOrd="1" destOrd="0" presId="urn:microsoft.com/office/officeart/2005/8/layout/hierarchy2#1"/>
    <dgm:cxn modelId="{62AF5DF3-43B7-4EEB-B84A-0B1F72086E49}" type="presParOf" srcId="{99D694C5-3C82-4561-9354-15BC416B005A}" destId="{4EF35DB6-7930-444E-979C-E622061CEC7A}" srcOrd="0" destOrd="0" presId="urn:microsoft.com/office/officeart/2005/8/layout/hierarchy2#1"/>
    <dgm:cxn modelId="{A4E78BF6-1E11-463D-9294-CAC63D280DA6}" type="presParOf" srcId="{4EF35DB6-7930-444E-979C-E622061CEC7A}" destId="{06432A44-565C-4E79-A7DA-64DE523F60AA}" srcOrd="0" destOrd="0" presId="urn:microsoft.com/office/officeart/2005/8/layout/hierarchy2#1"/>
    <dgm:cxn modelId="{07E9796D-A9AA-407E-B59A-681C0BF76AD4}" type="presParOf" srcId="{99D694C5-3C82-4561-9354-15BC416B005A}" destId="{2E23598D-845D-4AE6-BAC6-60AFDB0FF994}" srcOrd="1" destOrd="0" presId="urn:microsoft.com/office/officeart/2005/8/layout/hierarchy2#1"/>
    <dgm:cxn modelId="{16C18EF4-09AA-4638-82EA-BF603D342749}" type="presParOf" srcId="{2E23598D-845D-4AE6-BAC6-60AFDB0FF994}" destId="{1F36ED2F-21A1-4A5D-8FEF-C1770FF5EEA2}" srcOrd="0" destOrd="0" presId="urn:microsoft.com/office/officeart/2005/8/layout/hierarchy2#1"/>
    <dgm:cxn modelId="{BFD54572-8A14-4D76-BA4B-14AA728D2BEF}" type="presParOf" srcId="{2E23598D-845D-4AE6-BAC6-60AFDB0FF994}" destId="{591E37BB-5497-4765-AE17-0CDCE0EC6BD1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36FC6-7FE0-427D-B3C0-89FAE5731D68}">
      <dsp:nvSpPr>
        <dsp:cNvPr id="0" name=""/>
        <dsp:cNvSpPr/>
      </dsp:nvSpPr>
      <dsp:spPr>
        <a:xfrm>
          <a:off x="4311" y="2658748"/>
          <a:ext cx="689412" cy="344706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tx1"/>
              </a:solidFill>
            </a:rPr>
            <a:t>Wi-Fi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14407" y="2668844"/>
        <a:ext cx="669220" cy="324514"/>
      </dsp:txXfrm>
    </dsp:sp>
    <dsp:sp modelId="{09DA91C5-A9D1-46D0-8F62-2BF07241C1B4}">
      <dsp:nvSpPr>
        <dsp:cNvPr id="0" name=""/>
        <dsp:cNvSpPr/>
      </dsp:nvSpPr>
      <dsp:spPr>
        <a:xfrm rot="17276153">
          <a:off x="377956" y="2391036"/>
          <a:ext cx="912560" cy="11919"/>
        </a:xfrm>
        <a:custGeom>
          <a:avLst/>
          <a:gdLst/>
          <a:ahLst/>
          <a:cxnLst/>
          <a:rect l="0" t="0" r="0" b="0"/>
          <a:pathLst>
            <a:path>
              <a:moveTo>
                <a:pt x="0" y="5959"/>
              </a:moveTo>
              <a:lnTo>
                <a:pt x="912560" y="5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11423" y="2374181"/>
        <a:ext cx="45628" cy="45628"/>
      </dsp:txXfrm>
    </dsp:sp>
    <dsp:sp modelId="{B4D3B89A-D13C-43BB-86F2-1F72522BD856}">
      <dsp:nvSpPr>
        <dsp:cNvPr id="0" name=""/>
        <dsp:cNvSpPr/>
      </dsp:nvSpPr>
      <dsp:spPr>
        <a:xfrm>
          <a:off x="974749" y="1726245"/>
          <a:ext cx="1820194" cy="473288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>
              <a:solidFill>
                <a:schemeClr val="tx1"/>
              </a:solidFill>
            </a:rPr>
            <a:t>AP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solidFill>
                <a:schemeClr val="tx1"/>
              </a:solidFill>
            </a:rPr>
            <a:t>(Access Point)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>
        <a:off x="988611" y="1740107"/>
        <a:ext cx="1792470" cy="445564"/>
      </dsp:txXfrm>
    </dsp:sp>
    <dsp:sp modelId="{ECFAB8CC-4D54-4D7B-8E32-D8985B5BE08A}">
      <dsp:nvSpPr>
        <dsp:cNvPr id="0" name=""/>
        <dsp:cNvSpPr/>
      </dsp:nvSpPr>
      <dsp:spPr>
        <a:xfrm rot="17715690">
          <a:off x="2610365" y="1665734"/>
          <a:ext cx="643975" cy="11919"/>
        </a:xfrm>
        <a:custGeom>
          <a:avLst/>
          <a:gdLst/>
          <a:ahLst/>
          <a:cxnLst/>
          <a:rect l="0" t="0" r="0" b="0"/>
          <a:pathLst>
            <a:path>
              <a:moveTo>
                <a:pt x="0" y="5959"/>
              </a:moveTo>
              <a:lnTo>
                <a:pt x="643975" y="59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16253" y="1655594"/>
        <a:ext cx="32198" cy="32198"/>
      </dsp:txXfrm>
    </dsp:sp>
    <dsp:sp modelId="{41ED5952-E992-4C4E-8D40-2EBCEC1782C0}">
      <dsp:nvSpPr>
        <dsp:cNvPr id="0" name=""/>
        <dsp:cNvSpPr/>
      </dsp:nvSpPr>
      <dsp:spPr>
        <a:xfrm>
          <a:off x="3069761" y="322013"/>
          <a:ext cx="2642022" cy="2116969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AP</a:t>
          </a: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一般称为网络桥接器或接入点</a:t>
          </a:r>
          <a:r>
            <a:rPr lang="en-US" altLang="zh-CN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,</a:t>
          </a: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 其工作原理相当于一个内置无线发射器的</a:t>
          </a:r>
          <a:r>
            <a:rPr lang="en-US" altLang="zh-CN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Hub</a:t>
          </a: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或者是路由</a:t>
          </a:r>
          <a:endParaRPr lang="zh-CN" altLang="en-US" sz="2000" kern="1200" dirty="0">
            <a:solidFill>
              <a:schemeClr val="tx1"/>
            </a:solidFill>
          </a:endParaRPr>
        </a:p>
      </dsp:txBody>
      <dsp:txXfrm>
        <a:off x="3131765" y="384017"/>
        <a:ext cx="2518014" cy="1992961"/>
      </dsp:txXfrm>
    </dsp:sp>
    <dsp:sp modelId="{ACCE011F-9513-40A3-B70B-93F64E55E472}">
      <dsp:nvSpPr>
        <dsp:cNvPr id="0" name=""/>
        <dsp:cNvSpPr/>
      </dsp:nvSpPr>
      <dsp:spPr>
        <a:xfrm rot="4315721">
          <a:off x="381263" y="3255770"/>
          <a:ext cx="905946" cy="11919"/>
        </a:xfrm>
        <a:custGeom>
          <a:avLst/>
          <a:gdLst/>
          <a:ahLst/>
          <a:cxnLst/>
          <a:rect l="0" t="0" r="0" b="0"/>
          <a:pathLst>
            <a:path>
              <a:moveTo>
                <a:pt x="0" y="5959"/>
              </a:moveTo>
              <a:lnTo>
                <a:pt x="905946" y="5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11588" y="3239081"/>
        <a:ext cx="45297" cy="45297"/>
      </dsp:txXfrm>
    </dsp:sp>
    <dsp:sp modelId="{08D08797-1B26-49F5-B176-C79D14404C0D}">
      <dsp:nvSpPr>
        <dsp:cNvPr id="0" name=""/>
        <dsp:cNvSpPr/>
      </dsp:nvSpPr>
      <dsp:spPr>
        <a:xfrm>
          <a:off x="974749" y="3464551"/>
          <a:ext cx="1233194" cy="455615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</a:rPr>
            <a:t>Station</a:t>
          </a:r>
          <a:endParaRPr lang="zh-CN" altLang="en-US" sz="2000" kern="1200" dirty="0">
            <a:solidFill>
              <a:schemeClr val="tx1"/>
            </a:solidFill>
          </a:endParaRPr>
        </a:p>
      </dsp:txBody>
      <dsp:txXfrm>
        <a:off x="988094" y="3477896"/>
        <a:ext cx="1206504" cy="428925"/>
      </dsp:txXfrm>
    </dsp:sp>
    <dsp:sp modelId="{4EF35DB6-7930-444E-979C-E622061CEC7A}">
      <dsp:nvSpPr>
        <dsp:cNvPr id="0" name=""/>
        <dsp:cNvSpPr/>
      </dsp:nvSpPr>
      <dsp:spPr>
        <a:xfrm rot="1525198">
          <a:off x="2194292" y="3746928"/>
          <a:ext cx="282020" cy="11919"/>
        </a:xfrm>
        <a:custGeom>
          <a:avLst/>
          <a:gdLst/>
          <a:ahLst/>
          <a:cxnLst/>
          <a:rect l="0" t="0" r="0" b="0"/>
          <a:pathLst>
            <a:path>
              <a:moveTo>
                <a:pt x="0" y="5959"/>
              </a:moveTo>
              <a:lnTo>
                <a:pt x="282020" y="59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28252" y="3745837"/>
        <a:ext cx="14101" cy="14101"/>
      </dsp:txXfrm>
    </dsp:sp>
    <dsp:sp modelId="{1F36ED2F-21A1-4A5D-8FEF-C1770FF5EEA2}">
      <dsp:nvSpPr>
        <dsp:cNvPr id="0" name=""/>
        <dsp:cNvSpPr/>
      </dsp:nvSpPr>
      <dsp:spPr>
        <a:xfrm>
          <a:off x="2462661" y="3220456"/>
          <a:ext cx="2151195" cy="118592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负责接收由</a:t>
          </a:r>
          <a:r>
            <a:rPr lang="en-US" altLang="zh-CN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AP</a:t>
          </a: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所发射信号的</a:t>
          </a:r>
          <a:r>
            <a:rPr lang="en-US" altLang="zh-CN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CLIENT</a:t>
          </a:r>
          <a:r>
            <a:rPr lang="zh-CN" altLang="en-US" sz="200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rPr>
            <a:t>端设备</a:t>
          </a:r>
          <a:endParaRPr lang="zh-CN" altLang="en-US" sz="2000" kern="1200" dirty="0">
            <a:solidFill>
              <a:schemeClr val="tx1"/>
            </a:solidFill>
          </a:endParaRPr>
        </a:p>
      </dsp:txBody>
      <dsp:txXfrm>
        <a:off x="2497395" y="3255190"/>
        <a:ext cx="2081727" cy="1116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pPr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2481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pPr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191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115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IEEE802</a:t>
            </a:r>
            <a:r>
              <a:rPr lang="zh-CN" altLang="en-US" dirty="0"/>
              <a:t>。</a:t>
            </a:r>
            <a:r>
              <a:rPr lang="en-US" altLang="zh-CN" dirty="0"/>
              <a:t>11b/g</a:t>
            </a:r>
            <a:r>
              <a:rPr lang="zh-CN" altLang="en-US" dirty="0"/>
              <a:t>标准工作在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384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3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11" name="矩形 10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12" name="流程图: 过程 11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6616033" y="6503604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4FCB24BC-51E0-4A61-A890-4370566F82F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4936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183504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3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14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1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051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70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676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12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529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19412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4FCB24BC-51E0-4A61-A890-4370566F82F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693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1690172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54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11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37906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t="140" r="-477" b="11636"/>
          <a:stretch/>
        </p:blipFill>
        <p:spPr>
          <a:xfrm>
            <a:off x="-14514" y="0"/>
            <a:ext cx="9202057" cy="558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-1"/>
            <a:ext cx="9085943" cy="5529943"/>
          </a:xfrm>
          <a:prstGeom prst="rect">
            <a:avLst/>
          </a:prstGeom>
          <a:solidFill>
            <a:srgbClr val="384A5A">
              <a:alpha val="5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067" y="-79685"/>
            <a:ext cx="2707933" cy="104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18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/>
          <p:cNvSpPr/>
          <p:nvPr userDrawn="1"/>
        </p:nvSpPr>
        <p:spPr>
          <a:xfrm rot="5400000">
            <a:off x="-47062" y="263186"/>
            <a:ext cx="739101" cy="64498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441431" y="523084"/>
            <a:ext cx="739101" cy="125186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过程 7"/>
          <p:cNvSpPr/>
          <p:nvPr userDrawn="1"/>
        </p:nvSpPr>
        <p:spPr>
          <a:xfrm rot="5400000">
            <a:off x="4486270" y="2200275"/>
            <a:ext cx="171450" cy="9144001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过程 8"/>
          <p:cNvSpPr/>
          <p:nvPr userDrawn="1"/>
        </p:nvSpPr>
        <p:spPr>
          <a:xfrm rot="5400000" flipH="1">
            <a:off x="8184229" y="5850177"/>
            <a:ext cx="327501" cy="159203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6" r="53951"/>
          <a:stretch/>
        </p:blipFill>
        <p:spPr>
          <a:xfrm>
            <a:off x="7829550" y="6523381"/>
            <a:ext cx="1154166" cy="3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686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24BC-51E0-4A61-A890-4370566F82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6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88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6" r:id="rId14"/>
    <p:sldLayoutId id="2147483687" r:id="rId15"/>
    <p:sldLayoutId id="2147483655" r:id="rId16"/>
    <p:sldLayoutId id="2147483651" r:id="rId17"/>
    <p:sldLayoutId id="2147483668" r:id="rId18"/>
    <p:sldLayoutId id="2147483665" r:id="rId19"/>
    <p:sldLayoutId id="2147483689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17004" y="1829102"/>
            <a:ext cx="8109992" cy="13849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短距离无线通信专题实验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实验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4-WiFi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基础与基本连接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20784" y="4163160"/>
            <a:ext cx="6254770" cy="1421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教师：电信学部信通学院陈伟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邮箱：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chw@mail.xjtu.edu.cn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办公室：西一楼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529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72000"/>
            <a:ext cx="3088800" cy="10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567872" y="242820"/>
            <a:ext cx="1683456" cy="707886"/>
          </a:xfrm>
          <a:prstGeom prst="rect">
            <a:avLst/>
          </a:prstGeom>
          <a:noFill/>
        </p:spPr>
        <p:txBody>
          <a:bodyPr wrap="none" lIns="324000" rIns="324000">
            <a:spAutoFit/>
          </a:bodyPr>
          <a:lstStyle/>
          <a:p>
            <a:r>
              <a:rPr lang="zh-CN" altLang="en-US" sz="4000" b="1" dirty="0">
                <a:solidFill>
                  <a:srgbClr val="1557AE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提纲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1" t="6494" r="5193" b="-474"/>
          <a:stretch/>
        </p:blipFill>
        <p:spPr bwMode="auto">
          <a:xfrm>
            <a:off x="0" y="1483953"/>
            <a:ext cx="4135395" cy="468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1238944" y="2372932"/>
            <a:ext cx="6036932" cy="498365"/>
            <a:chOff x="2161996" y="2196133"/>
            <a:chExt cx="6936456" cy="572623"/>
          </a:xfrm>
        </p:grpSpPr>
        <p:sp>
          <p:nvSpPr>
            <p:cNvPr id="6" name="单圆角矩形 3"/>
            <p:cNvSpPr>
              <a:spLocks noChangeArrowheads="1"/>
            </p:cNvSpPr>
            <p:nvPr/>
          </p:nvSpPr>
          <p:spPr bwMode="auto">
            <a:xfrm flipH="1">
              <a:off x="2161996" y="2196133"/>
              <a:ext cx="1071852" cy="57262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r>
                <a:rPr lang="en-US" altLang="zh-CN" sz="2092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9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4"/>
            <p:cNvSpPr>
              <a:spLocks noChangeArrowheads="1"/>
            </p:cNvSpPr>
            <p:nvPr/>
          </p:nvSpPr>
          <p:spPr bwMode="auto">
            <a:xfrm>
              <a:off x="3240286" y="2196133"/>
              <a:ext cx="5858166" cy="57262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800" b="1" dirty="0" err="1">
                  <a:solidFill>
                    <a:schemeClr val="tx2">
                      <a:lumMod val="50000"/>
                    </a:schemeClr>
                  </a:solidFill>
                  <a:latin typeface="微软雅黑" pitchFamily="34" charset="-122"/>
                  <a:ea typeface="微软雅黑" panose="020B0503020204020204" pitchFamily="34" charset="-122"/>
                </a:rPr>
                <a:t>WiFi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itchFamily="34" charset="-122"/>
                  <a:ea typeface="微软雅黑" panose="020B0503020204020204" pitchFamily="34" charset="-122"/>
                </a:rPr>
                <a:t>简介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38944" y="3784944"/>
            <a:ext cx="6036932" cy="499867"/>
            <a:chOff x="2161996" y="3854032"/>
            <a:chExt cx="6936456" cy="574349"/>
          </a:xfrm>
        </p:grpSpPr>
        <p:sp>
          <p:nvSpPr>
            <p:cNvPr id="9" name="单圆角矩形 5"/>
            <p:cNvSpPr>
              <a:spLocks noChangeArrowheads="1"/>
            </p:cNvSpPr>
            <p:nvPr/>
          </p:nvSpPr>
          <p:spPr bwMode="auto">
            <a:xfrm flipH="1">
              <a:off x="2161996" y="3854032"/>
              <a:ext cx="1071852" cy="570788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287 h 495119"/>
                <a:gd name="T6" fmla="*/ 528638 w 528877"/>
                <a:gd name="T7" fmla="*/ 493713 h 495119"/>
                <a:gd name="T8" fmla="*/ 0 w 528877"/>
                <a:gd name="T9" fmla="*/ 493713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 typeface="Arial" pitchFamily="34" charset="0"/>
                <a:buNone/>
              </a:pPr>
              <a:r>
                <a:rPr lang="en-US" altLang="zh-CN" sz="2092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9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6"/>
            <p:cNvSpPr>
              <a:spLocks noChangeArrowheads="1"/>
            </p:cNvSpPr>
            <p:nvPr/>
          </p:nvSpPr>
          <p:spPr bwMode="auto">
            <a:xfrm>
              <a:off x="3240286" y="3857593"/>
              <a:ext cx="5858166" cy="570788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800" b="1" dirty="0" err="1">
                  <a:solidFill>
                    <a:schemeClr val="tx2">
                      <a:lumMod val="50000"/>
                    </a:schemeClr>
                  </a:solidFill>
                  <a:latin typeface="微软雅黑" pitchFamily="34" charset="-122"/>
                  <a:ea typeface="微软雅黑" panose="020B0503020204020204" pitchFamily="34" charset="-122"/>
                </a:rPr>
                <a:t>WiFi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itchFamily="34" charset="-122"/>
                  <a:ea typeface="微软雅黑" panose="020B0503020204020204" pitchFamily="34" charset="-122"/>
                </a:rPr>
                <a:t>网络参数设置</a:t>
              </a:r>
            </a:p>
          </p:txBody>
        </p:sp>
      </p:grp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2177400" y="3080112"/>
            <a:ext cx="5098476" cy="498365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2800" b="1" dirty="0" err="1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anose="020B0503020204020204" pitchFamily="34" charset="-122"/>
              </a:rPr>
              <a:t>连接过程</a:t>
            </a:r>
          </a:p>
        </p:txBody>
      </p:sp>
      <p:sp>
        <p:nvSpPr>
          <p:cNvPr id="20" name="单圆角矩形 3"/>
          <p:cNvSpPr>
            <a:spLocks noChangeArrowheads="1"/>
          </p:cNvSpPr>
          <p:nvPr/>
        </p:nvSpPr>
        <p:spPr bwMode="auto">
          <a:xfrm flipH="1">
            <a:off x="1249241" y="3058117"/>
            <a:ext cx="932854" cy="498365"/>
          </a:xfrm>
          <a:custGeom>
            <a:avLst/>
            <a:gdLst>
              <a:gd name="T0" fmla="*/ 0 w 528877"/>
              <a:gd name="T1" fmla="*/ 0 h 495119"/>
              <a:gd name="T2" fmla="*/ 446154 w 528877"/>
              <a:gd name="T3" fmla="*/ 0 h 495119"/>
              <a:gd name="T4" fmla="*/ 528638 w 528877"/>
              <a:gd name="T5" fmla="*/ 82551 h 495119"/>
              <a:gd name="T6" fmla="*/ 528638 w 528877"/>
              <a:gd name="T7" fmla="*/ 495300 h 495119"/>
              <a:gd name="T8" fmla="*/ 0 w 528877"/>
              <a:gd name="T9" fmla="*/ 495300 h 495119"/>
              <a:gd name="T10" fmla="*/ 0 w 528877"/>
              <a:gd name="T11" fmla="*/ 0 h 4951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28877"/>
              <a:gd name="T19" fmla="*/ 0 h 495119"/>
              <a:gd name="T20" fmla="*/ 528877 w 528877"/>
              <a:gd name="T21" fmla="*/ 495119 h 49511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28877" h="495119">
                <a:moveTo>
                  <a:pt x="0" y="0"/>
                </a:moveTo>
                <a:lnTo>
                  <a:pt x="446356" y="0"/>
                </a:lnTo>
                <a:cubicBezTo>
                  <a:pt x="491931" y="0"/>
                  <a:pt x="528877" y="36946"/>
                  <a:pt x="528877" y="82521"/>
                </a:cubicBezTo>
                <a:lnTo>
                  <a:pt x="528877" y="495119"/>
                </a:lnTo>
                <a:lnTo>
                  <a:pt x="0" y="49511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en-US" altLang="zh-CN" sz="209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092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27151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47924"/>
            <a:ext cx="9144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75129" y="1250721"/>
            <a:ext cx="3368871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25000" b="0" i="0" u="none" strike="noStrike" kern="1200" cap="none" spc="0" normalizeH="0" baseline="0" noProof="0" dirty="0">
              <a:ln w="28575">
                <a:solidFill>
                  <a:prstClr val="white"/>
                </a:solidFill>
              </a:ln>
              <a:gradFill flip="none" rotWithShape="1">
                <a:gsLst>
                  <a:gs pos="0">
                    <a:srgbClr val="30579B">
                      <a:shade val="30000"/>
                      <a:satMod val="115000"/>
                    </a:srgbClr>
                  </a:gs>
                  <a:gs pos="50000">
                    <a:srgbClr val="30579B">
                      <a:shade val="67500"/>
                      <a:satMod val="115000"/>
                    </a:srgbClr>
                  </a:gs>
                  <a:gs pos="100000">
                    <a:srgbClr val="30579B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Franklin Gothic Demi Cond" panose="020B07060304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5977" y="2972578"/>
            <a:ext cx="23535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err="1">
                <a:solidFill>
                  <a:srgbClr val="3763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4000" b="1" dirty="0">
                <a:solidFill>
                  <a:srgbClr val="3763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3763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06875" y="152400"/>
            <a:ext cx="2517275" cy="67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5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586582"/>
            <a:ext cx="5530850" cy="45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文本框 2"/>
          <p:cNvSpPr txBox="1">
            <a:spLocks noChangeArrowheads="1"/>
          </p:cNvSpPr>
          <p:nvPr/>
        </p:nvSpPr>
        <p:spPr bwMode="auto">
          <a:xfrm>
            <a:off x="5980113" y="312271"/>
            <a:ext cx="296545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c：波速(光速是一个常量，真空中约等于3×108m/s) 单位：m/s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f：频率（单位：Hz,1MHz=1000kHz=1×106Hz）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λ：波长（单位：m）</a:t>
            </a:r>
          </a:p>
          <a:p>
            <a:pPr eaLnBrk="1" hangingPunct="1"/>
            <a:r>
              <a:rPr lang="zh-CN" altLang="en-US" dirty="0"/>
              <a:t>真空中电磁波的波速为c，它等于波长λ和频率f的乘积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c=λf</a:t>
            </a:r>
          </a:p>
          <a:p>
            <a:pPr eaLnBrk="1" hangingPunct="1"/>
            <a:r>
              <a:rPr lang="zh-CN" altLang="en-US" dirty="0"/>
              <a:t>无线电波在空间中的传播方式有以下情况：直射、反射、折射、穿透、</a:t>
            </a:r>
            <a:r>
              <a:rPr lang="zh-CN" altLang="en-US" dirty="0">
                <a:solidFill>
                  <a:srgbClr val="FF0000"/>
                </a:solidFill>
              </a:rPr>
              <a:t>绕射（衍射）</a:t>
            </a:r>
            <a:r>
              <a:rPr lang="zh-CN" altLang="en-US" dirty="0"/>
              <a:t>和散射。</a:t>
            </a:r>
          </a:p>
        </p:txBody>
      </p:sp>
      <p:sp>
        <p:nvSpPr>
          <p:cNvPr id="16389" name="文本框 3"/>
          <p:cNvSpPr txBox="1">
            <a:spLocks noChangeArrowheads="1"/>
          </p:cNvSpPr>
          <p:nvPr/>
        </p:nvSpPr>
        <p:spPr bwMode="auto">
          <a:xfrm>
            <a:off x="77788" y="4976539"/>
            <a:ext cx="88677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在电磁波传播过程中遇到障碍物，这个障碍物的尺寸与电磁波的</a:t>
            </a:r>
            <a:r>
              <a:rPr lang="zh-CN" altLang="en-US" dirty="0">
                <a:solidFill>
                  <a:srgbClr val="FF0000"/>
                </a:solidFill>
              </a:rPr>
              <a:t>波长接近时</a:t>
            </a:r>
            <a:r>
              <a:rPr lang="zh-CN" altLang="en-US" dirty="0"/>
              <a:t>，电磁波可以从该物体的边缘绕射过去。</a:t>
            </a:r>
          </a:p>
          <a:p>
            <a:pPr eaLnBrk="1" hangingPunct="1"/>
            <a:r>
              <a:rPr lang="zh-CN" altLang="en-US" dirty="0"/>
              <a:t>一般室内的无线电波信号是穿透分量与绕射分量的叠加，而</a:t>
            </a:r>
            <a:r>
              <a:rPr lang="zh-CN" altLang="en-US" dirty="0">
                <a:solidFill>
                  <a:srgbClr val="FF0000"/>
                </a:solidFill>
              </a:rPr>
              <a:t>绕射分量</a:t>
            </a:r>
            <a:r>
              <a:rPr lang="zh-CN" altLang="en-US" dirty="0"/>
              <a:t>占绝大部分。</a:t>
            </a:r>
          </a:p>
          <a:p>
            <a:pPr eaLnBrk="1" hangingPunct="1"/>
            <a:r>
              <a:rPr lang="zh-CN" altLang="en-US" dirty="0"/>
              <a:t>空气中无线电波传输，对于</a:t>
            </a:r>
            <a:r>
              <a:rPr lang="en-US" altLang="zh-CN" dirty="0"/>
              <a:t>“</a:t>
            </a:r>
            <a:r>
              <a:rPr lang="zh-CN" altLang="en-US" dirty="0"/>
              <a:t>一般障碍物</a:t>
            </a:r>
            <a:r>
              <a:rPr lang="en-US" altLang="zh-CN" dirty="0"/>
              <a:t>--</a:t>
            </a:r>
            <a:r>
              <a:rPr lang="zh-CN" altLang="en-US" dirty="0"/>
              <a:t>墙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频率越低，波长越长，衍射能力越强</a:t>
            </a:r>
            <a:r>
              <a:rPr lang="zh-CN" altLang="en-US" dirty="0"/>
              <a:t>，越容易绕开障碍物进行传播。</a:t>
            </a:r>
          </a:p>
        </p:txBody>
      </p:sp>
    </p:spTree>
    <p:extLst>
      <p:ext uri="{BB962C8B-B14F-4D97-AF65-F5344CB8AC3E}">
        <p14:creationId xmlns:p14="http://schemas.microsoft.com/office/powerpoint/2010/main" val="356159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57150"/>
            <a:ext cx="8428038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文本框 2"/>
          <p:cNvSpPr txBox="1">
            <a:spLocks noChangeArrowheads="1"/>
          </p:cNvSpPr>
          <p:nvPr/>
        </p:nvSpPr>
        <p:spPr bwMode="auto">
          <a:xfrm>
            <a:off x="146050" y="5867400"/>
            <a:ext cx="88534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ISM(Industrial Scientific Medical) Band，此频段主要是开放给工业、科学、医学三个主要机构使用，该频段是依据美国联邦通讯委员会(FCC)所定义出来，属于Free License，并没有所谓使用授权的限制。</a:t>
            </a:r>
          </a:p>
        </p:txBody>
      </p:sp>
    </p:spTree>
    <p:extLst>
      <p:ext uri="{BB962C8B-B14F-4D97-AF65-F5344CB8AC3E}">
        <p14:creationId xmlns:p14="http://schemas.microsoft.com/office/powerpoint/2010/main" val="202382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37" y="438190"/>
            <a:ext cx="7810087" cy="452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932727"/>
            <a:ext cx="1478171" cy="109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8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47" y="3364284"/>
            <a:ext cx="4924425" cy="2743200"/>
          </a:xfr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64771" y="1293872"/>
            <a:ext cx="761445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目前多数的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设备支持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2.4G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5GHz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的还比较少</a:t>
            </a:r>
            <a:endParaRPr lang="en-US" altLang="zh-CN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一个原因是因为兼容性。几年前大量的手机、电脑、电视只支持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2.4GHz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，为了让这些老设备不至于没法上网，对于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2.4GHz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的支持的必须的。</a:t>
            </a: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另一个原因是覆盖。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2.4G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的频率低波长大，信号损耗小，穿透能力强，在覆盖上和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相比具有一定优势。</a:t>
            </a:r>
            <a:endParaRPr lang="zh-CN" altLang="en-US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834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 WIFI</a:t>
            </a:r>
            <a:r>
              <a:rPr lang="zh-CN" altLang="en-US" dirty="0"/>
              <a:t>信道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18488" cy="4029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 dirty="0" err="1"/>
              <a:t>WiFi</a:t>
            </a:r>
            <a:r>
              <a:rPr lang="zh-CN" altLang="en-US" sz="2400" dirty="0"/>
              <a:t>信号传输的频段 </a:t>
            </a:r>
            <a:r>
              <a:rPr lang="en-US" altLang="zh-CN" sz="2400" dirty="0"/>
              <a:t>2.400-2.4835GHz</a:t>
            </a:r>
            <a:r>
              <a:rPr lang="zh-CN" altLang="en-US" sz="2400" dirty="0"/>
              <a:t>。每个信道</a:t>
            </a:r>
            <a:r>
              <a:rPr lang="en-US" altLang="zh-CN" sz="2400" dirty="0"/>
              <a:t>22MHz</a:t>
            </a:r>
            <a:r>
              <a:rPr lang="zh-CN" altLang="en-US" sz="2400" dirty="0"/>
              <a:t>，频点间隔</a:t>
            </a:r>
            <a:r>
              <a:rPr lang="en-US" altLang="zh-CN" sz="2400" dirty="0"/>
              <a:t>5MHz</a:t>
            </a:r>
            <a:r>
              <a:rPr lang="zh-CN" altLang="en-US" sz="2400" dirty="0"/>
              <a:t>，可供用户选择</a:t>
            </a:r>
            <a:r>
              <a:rPr lang="en-US" altLang="zh-CN" sz="2400" dirty="0"/>
              <a:t>2.4G </a:t>
            </a:r>
            <a:r>
              <a:rPr lang="zh-CN" altLang="en-US" sz="2400" dirty="0"/>
              <a:t>频段</a:t>
            </a:r>
            <a:r>
              <a:rPr lang="en-US" altLang="zh-CN" sz="2400" dirty="0"/>
              <a:t>WIFI</a:t>
            </a:r>
            <a:r>
              <a:rPr lang="zh-CN" altLang="en-US" sz="2400" dirty="0"/>
              <a:t>信道有</a:t>
            </a:r>
            <a:r>
              <a:rPr lang="en-US" altLang="zh-CN" sz="2400" dirty="0"/>
              <a:t>13</a:t>
            </a:r>
            <a:r>
              <a:rPr lang="zh-CN" altLang="en-US" sz="2400" dirty="0"/>
              <a:t>条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2CDA0B-69DB-4735-8B20-6E6AD1BE5220}" type="slidenum"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pPr/>
              <a:t>8</a:t>
            </a:fld>
            <a:endParaRPr lang="en-US" altLang="zh-CN">
              <a:solidFill>
                <a:srgbClr val="A50021"/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pic>
        <p:nvPicPr>
          <p:cNvPr id="14341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" y="2417763"/>
            <a:ext cx="7504113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文本框 5"/>
          <p:cNvSpPr txBox="1">
            <a:spLocks noChangeArrowheads="1"/>
          </p:cNvSpPr>
          <p:nvPr/>
        </p:nvSpPr>
        <p:spPr bwMode="auto">
          <a:xfrm>
            <a:off x="814387" y="5346699"/>
            <a:ext cx="70199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无论是</a:t>
            </a:r>
            <a:r>
              <a:rPr lang="en-US" altLang="zh-CN" sz="2000" dirty="0"/>
              <a:t>IEEE802.11b</a:t>
            </a:r>
            <a:r>
              <a:rPr lang="zh-CN" altLang="en-US" sz="2000" dirty="0"/>
              <a:t>还是</a:t>
            </a:r>
            <a:r>
              <a:rPr lang="en-US" altLang="zh-CN" sz="2000" dirty="0"/>
              <a:t>IEEE802.11g</a:t>
            </a:r>
            <a:r>
              <a:rPr lang="zh-CN" altLang="en-US" sz="2000" dirty="0"/>
              <a:t>标准其都只支持</a:t>
            </a:r>
            <a:r>
              <a:rPr lang="en-US" altLang="zh-CN" sz="2000" dirty="0"/>
              <a:t>3</a:t>
            </a:r>
            <a:r>
              <a:rPr lang="zh-CN" altLang="en-US" sz="2000" dirty="0"/>
              <a:t>个不重叠的传输信道信道，只有</a:t>
            </a:r>
            <a:r>
              <a:rPr lang="en-US" altLang="zh-CN" sz="2000" dirty="0"/>
              <a:t>3</a:t>
            </a:r>
            <a:r>
              <a:rPr lang="zh-CN" altLang="en-US" sz="2000" dirty="0"/>
              <a:t>个信道（</a:t>
            </a: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6</a:t>
            </a:r>
            <a:r>
              <a:rPr lang="zh-CN" altLang="en-US" sz="2000" dirty="0"/>
              <a:t>、</a:t>
            </a:r>
            <a:r>
              <a:rPr lang="en-US" altLang="zh-CN" sz="2000" dirty="0"/>
              <a:t>11</a:t>
            </a:r>
            <a:r>
              <a:rPr lang="zh-CN" altLang="en-US" sz="2000" dirty="0"/>
              <a:t>或</a:t>
            </a:r>
            <a:r>
              <a:rPr lang="en-US" altLang="zh-CN" sz="2000" dirty="0"/>
              <a:t>13</a:t>
            </a:r>
            <a:r>
              <a:rPr lang="zh-CN" altLang="en-US" sz="2000" dirty="0"/>
              <a:t>）是不冲突的。</a:t>
            </a:r>
          </a:p>
        </p:txBody>
      </p:sp>
    </p:spTree>
    <p:extLst>
      <p:ext uri="{BB962C8B-B14F-4D97-AF65-F5344CB8AC3E}">
        <p14:creationId xmlns:p14="http://schemas.microsoft.com/office/powerpoint/2010/main" val="203669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599" y="1114684"/>
            <a:ext cx="5970592" cy="2908256"/>
          </a:xfr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130530" y="365126"/>
            <a:ext cx="7165571" cy="44952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CC3200 </a:t>
            </a:r>
            <a:r>
              <a:rPr lang="zh-CN" altLang="en-US" sz="3200" dirty="0"/>
              <a:t>支持</a:t>
            </a:r>
            <a:r>
              <a:rPr lang="en-US" altLang="zh-CN" sz="3200" dirty="0"/>
              <a:t>802.11b/g/n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6" y="4379075"/>
            <a:ext cx="6662557" cy="19772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7054" y="6245311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802.11n</a:t>
            </a:r>
            <a:r>
              <a:rPr lang="en-US" altLang="zh-CN" dirty="0"/>
              <a:t> 40MHz</a:t>
            </a:r>
            <a:r>
              <a:rPr lang="zh-CN" altLang="en-US" dirty="0"/>
              <a:t>带宽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4546" y="2496218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802.11b/g</a:t>
            </a:r>
            <a:r>
              <a:rPr lang="en-US" altLang="zh-CN" dirty="0"/>
              <a:t>  22MHz</a:t>
            </a:r>
            <a:r>
              <a:rPr lang="zh-CN" altLang="en-US" dirty="0"/>
              <a:t>带宽</a:t>
            </a:r>
          </a:p>
        </p:txBody>
      </p:sp>
    </p:spTree>
    <p:extLst>
      <p:ext uri="{BB962C8B-B14F-4D97-AF65-F5344CB8AC3E}">
        <p14:creationId xmlns:p14="http://schemas.microsoft.com/office/powerpoint/2010/main" val="395915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922713"/>
            <a:ext cx="7886700" cy="52542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Wi-Fi </a:t>
            </a:r>
            <a:r>
              <a:rPr lang="zh-CN" altLang="en-US" dirty="0"/>
              <a:t>网络处理器子系统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专用 </a:t>
            </a:r>
            <a:r>
              <a:rPr lang="en-US" altLang="zh-CN" dirty="0"/>
              <a:t>ARM MCU </a:t>
            </a:r>
            <a:r>
              <a:rPr lang="zh-CN" altLang="en-US" dirty="0"/>
              <a:t> 完成</a:t>
            </a:r>
            <a:r>
              <a:rPr lang="en-US" altLang="zh-CN" dirty="0"/>
              <a:t>Wi-Fi </a:t>
            </a:r>
            <a:r>
              <a:rPr lang="zh-CN" altLang="en-US" dirty="0"/>
              <a:t>和互联网协议处理以及互联网协议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802.11 b/g/n </a:t>
            </a:r>
            <a:r>
              <a:rPr lang="zh-CN" altLang="en-US" dirty="0"/>
              <a:t>射频、基带，媒介访问控制 </a:t>
            </a:r>
            <a:r>
              <a:rPr lang="en-US" altLang="zh-CN" dirty="0"/>
              <a:t>(MAC)</a:t>
            </a:r>
            <a:r>
              <a:rPr lang="zh-CN" altLang="en-US" dirty="0"/>
              <a:t>，</a:t>
            </a:r>
            <a:r>
              <a:rPr lang="en-US" altLang="zh-CN" dirty="0"/>
              <a:t>Wi-Fi </a:t>
            </a:r>
            <a:r>
              <a:rPr lang="zh-CN" altLang="en-US" dirty="0"/>
              <a:t>驱动</a:t>
            </a:r>
            <a:r>
              <a:rPr lang="en-US" altLang="zh-CN" dirty="0"/>
              <a:t>TCP/IP </a:t>
            </a:r>
            <a:r>
              <a:rPr lang="zh-CN" altLang="en-US" dirty="0"/>
              <a:t>堆栈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Socket</a:t>
            </a:r>
            <a:r>
              <a:rPr lang="zh-CN" altLang="en-US" dirty="0"/>
              <a:t>应用编程接口 </a:t>
            </a:r>
            <a:r>
              <a:rPr lang="en-US" altLang="zh-CN" dirty="0"/>
              <a:t>(API)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8 </a:t>
            </a:r>
            <a:r>
              <a:rPr lang="zh-CN" altLang="en-US" dirty="0"/>
              <a:t>个并行 </a:t>
            </a:r>
            <a:r>
              <a:rPr lang="en-US" altLang="zh-CN" dirty="0"/>
              <a:t>TCP </a:t>
            </a:r>
            <a:r>
              <a:rPr lang="zh-CN" altLang="en-US" dirty="0"/>
              <a:t>或 </a:t>
            </a:r>
            <a:r>
              <a:rPr lang="en-US" altLang="zh-CN" dirty="0"/>
              <a:t>UCP </a:t>
            </a:r>
            <a:r>
              <a:rPr lang="zh-CN" altLang="en-US" dirty="0"/>
              <a:t>端口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WPA2 </a:t>
            </a:r>
            <a:r>
              <a:rPr lang="zh-CN" altLang="en-US" dirty="0"/>
              <a:t>个人和企业安全性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针对自主和快速 </a:t>
            </a:r>
            <a:r>
              <a:rPr lang="en-US" altLang="zh-CN" dirty="0"/>
              <a:t>Wi-Fi </a:t>
            </a:r>
            <a:r>
              <a:rPr lang="zh-CN" altLang="en-US" dirty="0"/>
              <a:t>连接的 </a:t>
            </a:r>
            <a:r>
              <a:rPr lang="en-US" altLang="zh-CN" dirty="0" err="1"/>
              <a:t>SimpleLink</a:t>
            </a:r>
            <a:r>
              <a:rPr lang="en-US" altLang="zh-CN" dirty="0"/>
              <a:t> </a:t>
            </a:r>
            <a:r>
              <a:rPr lang="zh-CN" altLang="en-US" dirty="0"/>
              <a:t>连接管理器</a:t>
            </a:r>
          </a:p>
          <a:p>
            <a:pPr>
              <a:lnSpc>
                <a:spcPct val="120000"/>
              </a:lnSpc>
            </a:pPr>
            <a:r>
              <a:rPr lang="en-US" altLang="zh-CN" dirty="0" err="1"/>
              <a:t>SmartConfig</a:t>
            </a:r>
            <a:r>
              <a:rPr lang="en-US" altLang="zh-CN" dirty="0"/>
              <a:t> </a:t>
            </a:r>
            <a:r>
              <a:rPr lang="zh-CN" altLang="en-US" dirty="0"/>
              <a:t>技术，</a:t>
            </a:r>
            <a:r>
              <a:rPr lang="en-US" altLang="zh-CN" dirty="0"/>
              <a:t>AP </a:t>
            </a:r>
            <a:r>
              <a:rPr lang="zh-CN" altLang="en-US" dirty="0"/>
              <a:t>模式和 </a:t>
            </a:r>
            <a:r>
              <a:rPr lang="en-US" altLang="zh-CN" dirty="0"/>
              <a:t>WPS2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 err="1"/>
              <a:t>Tx</a:t>
            </a:r>
            <a:r>
              <a:rPr lang="en-US" altLang="zh-CN" dirty="0"/>
              <a:t> </a:t>
            </a:r>
            <a:r>
              <a:rPr lang="zh-CN" altLang="en-US" dirty="0"/>
              <a:t>功率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18.0 </a:t>
            </a:r>
            <a:r>
              <a:rPr lang="en-US" altLang="zh-CN" dirty="0" err="1"/>
              <a:t>dBm</a:t>
            </a:r>
            <a:r>
              <a:rPr lang="en-US" altLang="zh-CN" dirty="0"/>
              <a:t> @ 1 DSSS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14.5 </a:t>
            </a:r>
            <a:r>
              <a:rPr lang="en-US" altLang="zh-CN" dirty="0" err="1"/>
              <a:t>dBm</a:t>
            </a:r>
            <a:r>
              <a:rPr lang="en-US" altLang="zh-CN" dirty="0"/>
              <a:t> @ 54 OFDM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RX </a:t>
            </a:r>
            <a:r>
              <a:rPr lang="zh-CN" altLang="en-US" dirty="0"/>
              <a:t>灵敏度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-95.7 </a:t>
            </a:r>
            <a:r>
              <a:rPr lang="en-US" altLang="zh-CN" dirty="0" err="1"/>
              <a:t>dBm</a:t>
            </a:r>
            <a:r>
              <a:rPr lang="en-US" altLang="zh-CN" dirty="0"/>
              <a:t> @ 1 DSSS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-74.0 </a:t>
            </a:r>
            <a:r>
              <a:rPr lang="en-US" altLang="zh-CN" dirty="0" err="1"/>
              <a:t>dBm</a:t>
            </a:r>
            <a:r>
              <a:rPr lang="en-US" altLang="zh-CN" dirty="0"/>
              <a:t> @ 54 OFDM</a:t>
            </a:r>
          </a:p>
          <a:p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30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2584269" y="197440"/>
            <a:ext cx="3975463" cy="493394"/>
          </a:xfrm>
          <a:prstGeom prst="rect">
            <a:avLst/>
          </a:prstGeom>
          <a:solidFill>
            <a:srgbClr val="5482A3"/>
          </a:solidFill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3200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n-cs"/>
              </a:rPr>
              <a:t>无线通信距离</a:t>
            </a:r>
          </a:p>
        </p:txBody>
      </p:sp>
      <p:cxnSp>
        <p:nvCxnSpPr>
          <p:cNvPr id="6" name="直接连接符 5"/>
          <p:cNvCxnSpPr>
            <a:endCxn id="5" idx="1"/>
          </p:cNvCxnSpPr>
          <p:nvPr/>
        </p:nvCxnSpPr>
        <p:spPr>
          <a:xfrm>
            <a:off x="0" y="444137"/>
            <a:ext cx="2584269" cy="0"/>
          </a:xfrm>
          <a:prstGeom prst="line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5" idx="3"/>
          </p:cNvCxnSpPr>
          <p:nvPr/>
        </p:nvCxnSpPr>
        <p:spPr>
          <a:xfrm>
            <a:off x="6559732" y="444137"/>
            <a:ext cx="2584268" cy="1"/>
          </a:xfrm>
          <a:prstGeom prst="line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9728CC9-98DB-4EEF-BCE5-414CEFFD68A9}"/>
              </a:ext>
            </a:extLst>
          </p:cNvPr>
          <p:cNvSpPr txBox="1"/>
          <p:nvPr/>
        </p:nvSpPr>
        <p:spPr>
          <a:xfrm>
            <a:off x="774441" y="1455576"/>
            <a:ext cx="450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在无线通信中，电波的传输距离</a:t>
            </a:r>
            <a:r>
              <a:rPr lang="en-US" altLang="zh-CN" dirty="0"/>
              <a:t>D</a:t>
            </a:r>
            <a:r>
              <a:rPr lang="zh-CN" altLang="en-US" dirty="0"/>
              <a:t>满足公式：</a:t>
            </a:r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DACF31-7D13-46C0-80FD-A6B96A0C9842}"/>
                  </a:ext>
                </a:extLst>
              </p:cNvPr>
              <p:cNvSpPr txBox="1"/>
              <p:nvPr/>
            </p:nvSpPr>
            <p:spPr>
              <a:xfrm>
                <a:off x="1021065" y="2181230"/>
                <a:ext cx="7414337" cy="932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𝑃𝑡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  <m:func>
                                <m:func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4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func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+147.5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DACF31-7D13-46C0-80FD-A6B96A0C9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65" y="2181230"/>
                <a:ext cx="7414337" cy="932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0D1DD6E8-5C34-4632-8A77-34E24FD10818}"/>
              </a:ext>
            </a:extLst>
          </p:cNvPr>
          <p:cNvSpPr txBox="1"/>
          <p:nvPr/>
        </p:nvSpPr>
        <p:spPr>
          <a:xfrm>
            <a:off x="577574" y="3407154"/>
            <a:ext cx="83013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其中，</a:t>
            </a:r>
            <a:r>
              <a:rPr lang="en-US" altLang="zh-CN" dirty="0"/>
              <a:t>Pt—</a:t>
            </a:r>
            <a:r>
              <a:rPr lang="zh-CN" altLang="en-US" dirty="0"/>
              <a:t>发射功率；</a:t>
            </a:r>
            <a:r>
              <a:rPr lang="en-US" altLang="zh-CN" dirty="0" err="1">
                <a:solidFill>
                  <a:srgbClr val="FF0000"/>
                </a:solidFill>
              </a:rPr>
              <a:t>Pr</a:t>
            </a:r>
            <a:r>
              <a:rPr lang="en-US" altLang="zh-CN" dirty="0">
                <a:solidFill>
                  <a:srgbClr val="FF0000"/>
                </a:solidFill>
              </a:rPr>
              <a:t>—</a:t>
            </a:r>
            <a:r>
              <a:rPr lang="zh-CN" altLang="en-US" dirty="0">
                <a:solidFill>
                  <a:srgbClr val="FF0000"/>
                </a:solidFill>
              </a:rPr>
              <a:t>接收灵敏度</a:t>
            </a:r>
            <a:r>
              <a:rPr lang="zh-CN" altLang="en-US" dirty="0"/>
              <a:t>；</a:t>
            </a:r>
            <a:r>
              <a:rPr lang="en-US" altLang="zh-CN" dirty="0"/>
              <a:t>G—</a:t>
            </a:r>
            <a:r>
              <a:rPr lang="zh-CN" altLang="en-US" dirty="0"/>
              <a:t>天线增益；</a:t>
            </a:r>
            <a:r>
              <a:rPr lang="en-US" altLang="zh-CN" dirty="0"/>
              <a:t>L—</a:t>
            </a:r>
            <a:r>
              <a:rPr lang="zh-CN" altLang="en-US" dirty="0"/>
              <a:t>传播损耗；</a:t>
            </a:r>
            <a:r>
              <a:rPr lang="en-US" altLang="zh-CN" dirty="0"/>
              <a:t> F—</a:t>
            </a:r>
            <a:r>
              <a:rPr lang="zh-CN" altLang="en-US" dirty="0"/>
              <a:t>载波频率。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无线通信中，调制方式，带宽都影响传输速率和纯属距离。</a:t>
            </a:r>
            <a:r>
              <a:rPr lang="en-US" altLang="zh-CN" dirty="0" err="1"/>
              <a:t>WiFi</a:t>
            </a:r>
            <a:r>
              <a:rPr lang="zh-CN" altLang="en-US" dirty="0"/>
              <a:t>、蓝牙、</a:t>
            </a:r>
            <a:r>
              <a:rPr lang="en-US" altLang="zh-CN" dirty="0"/>
              <a:t>UWB</a:t>
            </a:r>
            <a:r>
              <a:rPr lang="zh-CN" altLang="en-US" dirty="0"/>
              <a:t>、</a:t>
            </a:r>
            <a:r>
              <a:rPr lang="en-US" altLang="zh-CN" dirty="0"/>
              <a:t>ZigBee</a:t>
            </a:r>
            <a:r>
              <a:rPr lang="zh-CN" altLang="en-US" dirty="0"/>
              <a:t>均属于短距离通信，频段在</a:t>
            </a:r>
            <a:r>
              <a:rPr lang="en-US" altLang="zh-CN" dirty="0"/>
              <a:t>2.4GHz</a:t>
            </a:r>
            <a:r>
              <a:rPr lang="zh-CN" altLang="en-US" dirty="0"/>
              <a:t>。传输距离在</a:t>
            </a:r>
            <a:r>
              <a:rPr lang="en-US" altLang="zh-CN" dirty="0"/>
              <a:t>100</a:t>
            </a:r>
            <a:r>
              <a:rPr lang="zh-CN" altLang="en-US" dirty="0"/>
              <a:t>米以内。如果有障碍物距离更短。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频率越高，传输距离越短。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6811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495425"/>
            <a:ext cx="7886700" cy="46815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zh-CN" altLang="en-US" dirty="0"/>
              <a:t> 一、</a:t>
            </a:r>
            <a:r>
              <a:rPr lang="en-US" altLang="zh-CN" dirty="0" err="1"/>
              <a:t>dBm</a:t>
            </a:r>
            <a:r>
              <a:rPr lang="en-US" altLang="zh-CN" dirty="0"/>
              <a:t>  </a:t>
            </a:r>
            <a:r>
              <a:rPr lang="en-US" altLang="zh-CN" dirty="0" err="1"/>
              <a:t>dBmV</a:t>
            </a:r>
            <a:r>
              <a:rPr lang="en-US" altLang="zh-CN" dirty="0"/>
              <a:t>   </a:t>
            </a:r>
            <a:r>
              <a:rPr lang="en-US" altLang="zh-CN" dirty="0" err="1"/>
              <a:t>dBuV</a:t>
            </a:r>
            <a:r>
              <a:rPr lang="zh-CN" altLang="en-US" dirty="0"/>
              <a:t>换算关系 </a:t>
            </a:r>
            <a:br>
              <a:rPr lang="zh-CN" altLang="en-US" dirty="0"/>
            </a:br>
            <a:r>
              <a:rPr lang="zh-CN" altLang="en-US" dirty="0"/>
              <a:t>  </a:t>
            </a:r>
            <a:r>
              <a:rPr lang="en-US" altLang="zh-CN" dirty="0" err="1"/>
              <a:t>dBm</a:t>
            </a:r>
            <a:r>
              <a:rPr lang="en-US" altLang="zh-CN" dirty="0"/>
              <a:t>=10log(Pout/1mW)</a:t>
            </a:r>
            <a:r>
              <a:rPr lang="zh-CN" altLang="en-US" dirty="0"/>
              <a:t>，其中</a:t>
            </a:r>
            <a:r>
              <a:rPr lang="en-US" altLang="zh-CN" dirty="0"/>
              <a:t>Pout</a:t>
            </a:r>
            <a:r>
              <a:rPr lang="zh-CN" altLang="en-US" dirty="0"/>
              <a:t>是以</a:t>
            </a:r>
            <a:r>
              <a:rPr lang="en-US" altLang="zh-CN" dirty="0" err="1"/>
              <a:t>mW</a:t>
            </a:r>
            <a:r>
              <a:rPr lang="zh-CN" altLang="en-US" dirty="0"/>
              <a:t>为单位的功率值</a:t>
            </a:r>
            <a:br>
              <a:rPr lang="zh-CN" altLang="en-US" dirty="0"/>
            </a:br>
            <a:r>
              <a:rPr lang="zh-CN" altLang="en-US" dirty="0"/>
              <a:t>  </a:t>
            </a:r>
            <a:r>
              <a:rPr lang="en-US" altLang="zh-CN" dirty="0" err="1"/>
              <a:t>dBmV</a:t>
            </a:r>
            <a:r>
              <a:rPr lang="en-US" altLang="zh-CN" dirty="0"/>
              <a:t>=20log(</a:t>
            </a:r>
            <a:r>
              <a:rPr lang="en-US" altLang="zh-CN" dirty="0" err="1"/>
              <a:t>Vout</a:t>
            </a:r>
            <a:r>
              <a:rPr lang="en-US" altLang="zh-CN" dirty="0"/>
              <a:t> /1mV)</a:t>
            </a:r>
            <a:r>
              <a:rPr lang="zh-CN" altLang="en-US" dirty="0"/>
              <a:t>，其中</a:t>
            </a:r>
            <a:r>
              <a:rPr lang="en-US" altLang="zh-CN" dirty="0" err="1"/>
              <a:t>Vout</a:t>
            </a:r>
            <a:r>
              <a:rPr lang="zh-CN" altLang="en-US" dirty="0"/>
              <a:t>是以</a:t>
            </a:r>
            <a:r>
              <a:rPr lang="en-US" altLang="zh-CN" dirty="0"/>
              <a:t>mV</a:t>
            </a:r>
            <a:r>
              <a:rPr lang="zh-CN" altLang="en-US" dirty="0"/>
              <a:t>为单位的电压值</a:t>
            </a:r>
            <a:br>
              <a:rPr lang="zh-CN" altLang="en-US" dirty="0"/>
            </a:br>
            <a:r>
              <a:rPr lang="zh-CN" altLang="en-US" dirty="0"/>
              <a:t>  </a:t>
            </a:r>
            <a:r>
              <a:rPr lang="en-US" altLang="zh-CN" dirty="0" err="1"/>
              <a:t>dBuV</a:t>
            </a:r>
            <a:r>
              <a:rPr lang="en-US" altLang="zh-CN" dirty="0"/>
              <a:t>=20log(</a:t>
            </a:r>
            <a:r>
              <a:rPr lang="en-US" altLang="zh-CN" dirty="0" err="1"/>
              <a:t>Vout</a:t>
            </a:r>
            <a:r>
              <a:rPr lang="en-US" altLang="zh-CN" dirty="0"/>
              <a:t> /1uV)</a:t>
            </a:r>
            <a:r>
              <a:rPr lang="zh-CN" altLang="en-US" dirty="0"/>
              <a:t>，其中</a:t>
            </a:r>
            <a:r>
              <a:rPr lang="en-US" altLang="zh-CN" dirty="0" err="1"/>
              <a:t>Vout</a:t>
            </a:r>
            <a:r>
              <a:rPr lang="zh-CN" altLang="en-US" dirty="0"/>
              <a:t>是以</a:t>
            </a:r>
            <a:r>
              <a:rPr lang="en-US" altLang="zh-CN" dirty="0" err="1"/>
              <a:t>uV</a:t>
            </a:r>
            <a:r>
              <a:rPr lang="zh-CN" altLang="en-US" dirty="0"/>
              <a:t>为单位的电压值</a:t>
            </a:r>
            <a:endParaRPr lang="en-US" altLang="zh-CN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zh-CN" altLang="en-US" dirty="0"/>
              <a:t>二、无线通信距离的计算 </a:t>
            </a:r>
            <a:br>
              <a:rPr lang="zh-CN" altLang="en-US" dirty="0"/>
            </a:br>
            <a:r>
              <a:rPr lang="zh-CN" altLang="en-US" dirty="0"/>
              <a:t>    这里给出自由空间传播时的无线通信距离的计算方法：所谓自由空间传播系指天线周围为无限大真空时的电波传播，它是理想传播条件。电波在自由空间传播时，其能量既不会被障碍物所吸收，也不会产生反射或散射。</a:t>
            </a:r>
            <a:br>
              <a:rPr lang="zh-CN" altLang="en-US" dirty="0"/>
            </a:br>
            <a:r>
              <a:rPr lang="zh-CN" altLang="en-US" dirty="0"/>
              <a:t>                   通信距离与发射功率、接收灵敏度和工作频率有关。</a:t>
            </a:r>
            <a:br>
              <a:rPr lang="zh-CN" altLang="en-US" dirty="0"/>
            </a:br>
            <a:r>
              <a:rPr lang="zh-CN" altLang="en-US" dirty="0"/>
              <a:t>          </a:t>
            </a:r>
            <a:r>
              <a:rPr lang="en-US" altLang="zh-CN" dirty="0"/>
              <a:t>[Los](dB)=32.44+20lgd(km)+20lgf(MHz)</a:t>
            </a:r>
            <a:br>
              <a:rPr lang="zh-CN" altLang="en-US" dirty="0"/>
            </a:br>
            <a:r>
              <a:rPr lang="zh-CN" altLang="en-US" dirty="0"/>
              <a:t> 式中</a:t>
            </a:r>
            <a:r>
              <a:rPr lang="en-US" altLang="zh-CN" dirty="0"/>
              <a:t>Los</a:t>
            </a:r>
            <a:r>
              <a:rPr lang="zh-CN" altLang="en-US" dirty="0"/>
              <a:t>为传输损耗，</a:t>
            </a:r>
            <a:r>
              <a:rPr lang="en-US" altLang="zh-CN" dirty="0"/>
              <a:t>d</a:t>
            </a:r>
            <a:r>
              <a:rPr lang="zh-CN" altLang="en-US" dirty="0"/>
              <a:t>为传输距离，频率的单位以</a:t>
            </a:r>
            <a:r>
              <a:rPr lang="en-US" altLang="zh-CN" dirty="0"/>
              <a:t>MHz</a:t>
            </a:r>
            <a:r>
              <a:rPr lang="zh-CN" altLang="en-US" dirty="0"/>
              <a:t>计算。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无线通信距离的计算</a:t>
            </a:r>
          </a:p>
        </p:txBody>
      </p:sp>
    </p:spTree>
    <p:extLst>
      <p:ext uri="{BB962C8B-B14F-4D97-AF65-F5344CB8AC3E}">
        <p14:creationId xmlns:p14="http://schemas.microsoft.com/office/powerpoint/2010/main" val="156244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55960" y="1065577"/>
            <a:ext cx="51329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Tx</a:t>
            </a:r>
            <a:r>
              <a:rPr lang="en-US" altLang="zh-CN" dirty="0"/>
              <a:t> </a:t>
            </a:r>
            <a:r>
              <a:rPr lang="zh-CN" altLang="en-US" dirty="0"/>
              <a:t>功率</a:t>
            </a:r>
          </a:p>
          <a:p>
            <a:pPr lvl="1"/>
            <a:r>
              <a:rPr lang="en-US" altLang="zh-CN" dirty="0"/>
              <a:t>18.0 </a:t>
            </a:r>
            <a:r>
              <a:rPr lang="en-US" altLang="zh-CN" dirty="0" err="1"/>
              <a:t>dBm</a:t>
            </a:r>
            <a:r>
              <a:rPr lang="en-US" altLang="zh-CN" dirty="0"/>
              <a:t> @ 1 DSSS</a:t>
            </a:r>
          </a:p>
          <a:p>
            <a:pPr lvl="1"/>
            <a:r>
              <a:rPr lang="en-US" altLang="zh-CN" dirty="0"/>
              <a:t>14.5 </a:t>
            </a:r>
            <a:r>
              <a:rPr lang="en-US" altLang="zh-CN" dirty="0" err="1"/>
              <a:t>dBm</a:t>
            </a:r>
            <a:r>
              <a:rPr lang="en-US" altLang="zh-CN" dirty="0"/>
              <a:t> @ 54 OFDM</a:t>
            </a:r>
          </a:p>
          <a:p>
            <a:r>
              <a:rPr lang="en-US" altLang="zh-CN" dirty="0"/>
              <a:t>RX </a:t>
            </a:r>
            <a:r>
              <a:rPr lang="zh-CN" altLang="en-US" dirty="0"/>
              <a:t>灵敏度</a:t>
            </a:r>
          </a:p>
          <a:p>
            <a:pPr lvl="1"/>
            <a:r>
              <a:rPr lang="en-US" altLang="zh-CN" dirty="0"/>
              <a:t>-95.7 </a:t>
            </a:r>
            <a:r>
              <a:rPr lang="en-US" altLang="zh-CN" dirty="0" err="1"/>
              <a:t>dBm</a:t>
            </a:r>
            <a:r>
              <a:rPr lang="en-US" altLang="zh-CN" dirty="0"/>
              <a:t> @ 1 DSSS</a:t>
            </a:r>
          </a:p>
          <a:p>
            <a:pPr lvl="1"/>
            <a:r>
              <a:rPr lang="en-US" altLang="zh-CN" dirty="0"/>
              <a:t>-74.0 </a:t>
            </a:r>
            <a:r>
              <a:rPr lang="en-US" altLang="zh-CN" dirty="0" err="1"/>
              <a:t>dBm</a:t>
            </a:r>
            <a:r>
              <a:rPr lang="en-US" altLang="zh-CN" dirty="0"/>
              <a:t> @ 54 OFDM</a:t>
            </a:r>
          </a:p>
        </p:txBody>
      </p:sp>
      <p:sp>
        <p:nvSpPr>
          <p:cNvPr id="7" name="矩形 6"/>
          <p:cNvSpPr/>
          <p:nvPr/>
        </p:nvSpPr>
        <p:spPr>
          <a:xfrm>
            <a:off x="964276" y="3952487"/>
            <a:ext cx="7215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  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1. 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由发射功率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+14.5dBm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，接收灵敏度为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-74dBm</a:t>
            </a:r>
            <a:br>
              <a:rPr lang="en-US" altLang="zh-CN" dirty="0"/>
            </a:b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                  Los = 89.5dB</a:t>
            </a:r>
            <a:br>
              <a:rPr lang="en-US" altLang="zh-CN" dirty="0"/>
            </a:b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 2. 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由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Los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2400MHz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）</a:t>
            </a:r>
            <a:br>
              <a:rPr lang="en-US" altLang="zh-CN" dirty="0"/>
            </a:b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                  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计算得出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d =270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米   加上衰减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10db 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距离小于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100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米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38225" y="3525029"/>
            <a:ext cx="4768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    Los = 32.44 + 20lg d(Km) + 20lg f(MHz)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92801" y="5152816"/>
            <a:ext cx="79583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这是理想状况下的传输距离，实际的应用中是会低于该值，这是因为无线通信要受到各种外界因素的影响，如大气、阻挡物、多径等造成的损耗，将上述损耗的参考值计入上式中，即可计算出近似通信距离。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073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030778"/>
            <a:ext cx="7742266" cy="47631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dirty="0"/>
              <a:t>2.4G</a:t>
            </a:r>
            <a:r>
              <a:rPr lang="zh-CN" altLang="en-US" sz="1800" dirty="0"/>
              <a:t>电磁波对于各种建筑材质的穿透损耗的经验值（衰减强度）</a:t>
            </a:r>
            <a:br>
              <a:rPr lang="zh-CN" altLang="en-US" sz="1800" dirty="0"/>
            </a:br>
            <a:r>
              <a:rPr lang="zh-CN" altLang="en-US" sz="1800" dirty="0"/>
              <a:t>水泥墙</a:t>
            </a:r>
            <a:r>
              <a:rPr lang="en-US" altLang="zh-CN" sz="1800" dirty="0"/>
              <a:t>(15~25cm): 10~12dB</a:t>
            </a:r>
            <a:br>
              <a:rPr lang="zh-CN" altLang="en-US" sz="1800" dirty="0"/>
            </a:br>
            <a:r>
              <a:rPr lang="zh-CN" altLang="en-US" sz="1800" dirty="0"/>
              <a:t>红砖水泥墙（</a:t>
            </a:r>
            <a:r>
              <a:rPr lang="en-US" altLang="zh-CN" sz="1800" dirty="0"/>
              <a:t>15-25cm</a:t>
            </a:r>
            <a:r>
              <a:rPr lang="zh-CN" altLang="en-US" sz="1800" dirty="0"/>
              <a:t>）：</a:t>
            </a:r>
            <a:r>
              <a:rPr lang="en-US" altLang="zh-CN" sz="1800" dirty="0"/>
              <a:t>13</a:t>
            </a:r>
            <a:r>
              <a:rPr lang="zh-CN" altLang="en-US" sz="1800" dirty="0"/>
              <a:t>～</a:t>
            </a:r>
            <a:r>
              <a:rPr lang="en-US" altLang="zh-CN" sz="1800" dirty="0"/>
              <a:t>18dB</a:t>
            </a:r>
            <a:br>
              <a:rPr lang="zh-CN" altLang="en-US" sz="1800" dirty="0"/>
            </a:br>
            <a:r>
              <a:rPr lang="zh-CN" altLang="en-US" sz="1800" dirty="0"/>
              <a:t>空心砌块砖墙：</a:t>
            </a:r>
            <a:r>
              <a:rPr lang="en-US" altLang="zh-CN" sz="1800" dirty="0"/>
              <a:t>4</a:t>
            </a:r>
            <a:r>
              <a:rPr lang="zh-CN" altLang="en-US" sz="1800" dirty="0"/>
              <a:t>～</a:t>
            </a:r>
            <a:r>
              <a:rPr lang="en-US" altLang="zh-CN" sz="1800" dirty="0"/>
              <a:t>6dB</a:t>
            </a:r>
            <a:br>
              <a:rPr lang="zh-CN" altLang="en-US" sz="1800" dirty="0"/>
            </a:br>
            <a:r>
              <a:rPr lang="zh-CN" altLang="en-US" sz="1800" dirty="0"/>
              <a:t>木板墙（</a:t>
            </a:r>
            <a:r>
              <a:rPr lang="en-US" altLang="zh-CN" sz="1800" dirty="0"/>
              <a:t>5-10cm</a:t>
            </a:r>
            <a:r>
              <a:rPr lang="zh-CN" altLang="en-US" sz="1800" dirty="0"/>
              <a:t>）：</a:t>
            </a:r>
            <a:r>
              <a:rPr lang="en-US" altLang="zh-CN" sz="1800" dirty="0"/>
              <a:t>5</a:t>
            </a:r>
            <a:r>
              <a:rPr lang="zh-CN" altLang="en-US" sz="1800" dirty="0"/>
              <a:t>～</a:t>
            </a:r>
            <a:r>
              <a:rPr lang="en-US" altLang="zh-CN" sz="1800" dirty="0"/>
              <a:t>6dB</a:t>
            </a:r>
            <a:br>
              <a:rPr lang="zh-CN" altLang="en-US" sz="1800" dirty="0"/>
            </a:br>
            <a:r>
              <a:rPr lang="zh-CN" altLang="en-US" sz="1800" dirty="0"/>
              <a:t>简易石膏板墙：</a:t>
            </a:r>
            <a:r>
              <a:rPr lang="en-US" altLang="zh-CN" sz="1800" dirty="0"/>
              <a:t>3</a:t>
            </a:r>
            <a:r>
              <a:rPr lang="zh-CN" altLang="en-US" sz="1800" dirty="0"/>
              <a:t>～</a:t>
            </a:r>
            <a:r>
              <a:rPr lang="en-US" altLang="zh-CN" sz="1800" dirty="0"/>
              <a:t>5dB</a:t>
            </a:r>
            <a:br>
              <a:rPr lang="zh-CN" altLang="en-US" sz="1800" dirty="0"/>
            </a:br>
            <a:r>
              <a:rPr lang="zh-CN" altLang="en-US" sz="1800" dirty="0"/>
              <a:t>玻璃，玻璃窗（</a:t>
            </a:r>
            <a:r>
              <a:rPr lang="en-US" altLang="zh-CN" sz="1800" dirty="0"/>
              <a:t>3-5cm</a:t>
            </a:r>
            <a:r>
              <a:rPr lang="zh-CN" altLang="en-US" sz="1800" dirty="0"/>
              <a:t>）：</a:t>
            </a:r>
            <a:r>
              <a:rPr lang="en-US" altLang="zh-CN" sz="1800" dirty="0"/>
              <a:t>6</a:t>
            </a:r>
            <a:r>
              <a:rPr lang="zh-CN" altLang="en-US" sz="1800" dirty="0"/>
              <a:t>～</a:t>
            </a:r>
            <a:r>
              <a:rPr lang="en-US" altLang="zh-CN" sz="1800" dirty="0"/>
              <a:t>8dB</a:t>
            </a:r>
            <a:br>
              <a:rPr lang="zh-CN" altLang="en-US" sz="1800" dirty="0"/>
            </a:br>
            <a:r>
              <a:rPr lang="zh-CN" altLang="en-US" sz="1800" dirty="0"/>
              <a:t>木门：</a:t>
            </a:r>
            <a:r>
              <a:rPr lang="en-US" altLang="zh-CN" sz="1800" dirty="0"/>
              <a:t>3</a:t>
            </a:r>
            <a:r>
              <a:rPr lang="zh-CN" altLang="en-US" sz="1800" dirty="0"/>
              <a:t>～</a:t>
            </a:r>
            <a:r>
              <a:rPr lang="en-US" altLang="zh-CN" sz="1800" dirty="0"/>
              <a:t>5dB</a:t>
            </a:r>
            <a:br>
              <a:rPr lang="zh-CN" altLang="en-US" sz="1800" dirty="0"/>
            </a:br>
            <a:r>
              <a:rPr lang="zh-CN" altLang="en-US" sz="1800" dirty="0"/>
              <a:t>空心砌块砖墙：</a:t>
            </a:r>
            <a:r>
              <a:rPr lang="en-US" altLang="zh-CN" sz="1800" dirty="0"/>
              <a:t>4</a:t>
            </a:r>
            <a:r>
              <a:rPr lang="zh-CN" altLang="en-US" sz="1800" dirty="0"/>
              <a:t>～</a:t>
            </a:r>
            <a:r>
              <a:rPr lang="en-US" altLang="zh-CN" sz="1800" dirty="0"/>
              <a:t>6dB</a:t>
            </a:r>
          </a:p>
          <a:p>
            <a:pPr>
              <a:lnSpc>
                <a:spcPct val="120000"/>
              </a:lnSpc>
            </a:pPr>
            <a:r>
              <a:rPr lang="zh-CN" altLang="en-US" sz="1800" dirty="0"/>
              <a:t>当</a:t>
            </a:r>
            <a:r>
              <a:rPr lang="en-US" altLang="zh-CN" sz="1800" dirty="0"/>
              <a:t>AP</a:t>
            </a:r>
            <a:r>
              <a:rPr lang="zh-CN" altLang="en-US" sz="1800" dirty="0"/>
              <a:t>与终端隔一座水泥墙时</a:t>
            </a:r>
            <a:r>
              <a:rPr lang="en-US" altLang="zh-CN" sz="1800" dirty="0"/>
              <a:t>,AP</a:t>
            </a:r>
            <a:r>
              <a:rPr lang="zh-CN" altLang="en-US" sz="1800" dirty="0"/>
              <a:t>的可传送覆盖距离约剩下</a:t>
            </a:r>
            <a:r>
              <a:rPr lang="en-US" altLang="zh-CN" sz="1800" dirty="0"/>
              <a:t>&lt; 5</a:t>
            </a:r>
            <a:r>
              <a:rPr lang="zh-CN" altLang="en-US" sz="1800" dirty="0"/>
              <a:t>米有效距离。</a:t>
            </a:r>
            <a:br>
              <a:rPr lang="zh-CN" altLang="en-US" sz="1800" dirty="0"/>
            </a:br>
            <a:r>
              <a:rPr lang="zh-CN" altLang="en-US" sz="1800" dirty="0"/>
              <a:t>当</a:t>
            </a:r>
            <a:r>
              <a:rPr lang="en-US" altLang="zh-CN" sz="1800" dirty="0"/>
              <a:t>AP</a:t>
            </a:r>
            <a:r>
              <a:rPr lang="zh-CN" altLang="en-US" sz="1800" dirty="0"/>
              <a:t>与终端中间隔一座木板墙时</a:t>
            </a:r>
            <a:r>
              <a:rPr lang="en-US" altLang="zh-CN" sz="1800" dirty="0"/>
              <a:t>, AP </a:t>
            </a:r>
            <a:r>
              <a:rPr lang="zh-CN" altLang="en-US" sz="1800" dirty="0"/>
              <a:t>的传送距离约剩下</a:t>
            </a:r>
            <a:r>
              <a:rPr lang="en-US" altLang="zh-CN" sz="1800" dirty="0"/>
              <a:t>&lt; 15</a:t>
            </a:r>
            <a:r>
              <a:rPr lang="zh-CN" altLang="en-US" sz="1800" dirty="0"/>
              <a:t>米有效距离。</a:t>
            </a:r>
            <a:br>
              <a:rPr lang="zh-CN" altLang="en-US" sz="1800" dirty="0"/>
            </a:br>
            <a:r>
              <a:rPr lang="zh-CN" altLang="en-US" sz="1800" dirty="0"/>
              <a:t>当</a:t>
            </a:r>
            <a:r>
              <a:rPr lang="en-US" altLang="zh-CN" sz="1800" dirty="0"/>
              <a:t>AP</a:t>
            </a:r>
            <a:r>
              <a:rPr lang="zh-CN" altLang="en-US" sz="1800" dirty="0"/>
              <a:t>与终端中间隔一座玻璃墙时</a:t>
            </a:r>
            <a:r>
              <a:rPr lang="en-US" altLang="zh-CN" sz="1800" dirty="0"/>
              <a:t>, AP </a:t>
            </a:r>
            <a:r>
              <a:rPr lang="zh-CN" altLang="en-US" sz="1800" dirty="0"/>
              <a:t>的传送距离约剩下</a:t>
            </a:r>
            <a:r>
              <a:rPr lang="en-US" altLang="zh-CN" sz="1800" dirty="0"/>
              <a:t>&lt; 15</a:t>
            </a:r>
            <a:r>
              <a:rPr lang="zh-CN" altLang="en-US" sz="1800" dirty="0"/>
              <a:t>米有效距离。</a:t>
            </a:r>
            <a:br>
              <a:rPr lang="zh-CN" altLang="en-US" sz="1800" dirty="0"/>
            </a:br>
            <a:endParaRPr lang="zh-CN" altLang="en-US" sz="18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67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7204" y="1089477"/>
            <a:ext cx="7969250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sz="2400" dirty="0"/>
              <a:t>Wi-Fi</a:t>
            </a:r>
            <a:r>
              <a:rPr lang="zh-CN" altLang="en-US" sz="2400" dirty="0"/>
              <a:t>的基本组成可以分为接入点（</a:t>
            </a:r>
            <a:r>
              <a:rPr lang="en-US" altLang="zh-CN" sz="2400" dirty="0"/>
              <a:t>Access point</a:t>
            </a:r>
            <a:r>
              <a:rPr lang="zh-CN" altLang="en-US" sz="2400" dirty="0"/>
              <a:t>）和结构站点（</a:t>
            </a:r>
            <a:r>
              <a:rPr lang="en-US" altLang="zh-CN" sz="2400" dirty="0"/>
              <a:t>Station</a:t>
            </a:r>
            <a:r>
              <a:rPr lang="zh-CN" altLang="en-US" sz="2400" dirty="0"/>
              <a:t>），</a:t>
            </a:r>
            <a:endParaRPr lang="zh-CN" altLang="en-US" sz="3200" dirty="0">
              <a:latin typeface="Arial" charset="0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582906634"/>
              </p:ext>
            </p:extLst>
          </p:nvPr>
        </p:nvGraphicFramePr>
        <p:xfrm>
          <a:off x="637080" y="1652484"/>
          <a:ext cx="5711784" cy="5205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388" name="图片 5" descr="20085204835144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38" y="4143375"/>
            <a:ext cx="3001962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047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47924"/>
            <a:ext cx="9144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75129" y="1250721"/>
            <a:ext cx="3461204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25000" b="0" i="0" u="none" strike="noStrike" kern="1200" cap="none" spc="0" normalizeH="0" baseline="0" noProof="0" dirty="0">
              <a:ln w="28575">
                <a:solidFill>
                  <a:prstClr val="white"/>
                </a:solidFill>
              </a:ln>
              <a:gradFill flip="none" rotWithShape="1">
                <a:gsLst>
                  <a:gs pos="0">
                    <a:srgbClr val="30579B">
                      <a:shade val="30000"/>
                      <a:satMod val="115000"/>
                    </a:srgbClr>
                  </a:gs>
                  <a:gs pos="50000">
                    <a:srgbClr val="30579B">
                      <a:shade val="67500"/>
                      <a:satMod val="115000"/>
                    </a:srgbClr>
                  </a:gs>
                  <a:gs pos="100000">
                    <a:srgbClr val="30579B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Franklin Gothic Demi Cond" panose="020B07060304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5977" y="2972578"/>
            <a:ext cx="3379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WiFi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连接过程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06875" y="152400"/>
            <a:ext cx="2517275" cy="67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11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每个无线网络都有自己的 </a:t>
            </a:r>
            <a:r>
              <a:rPr lang="en-US" altLang="zh-CN" dirty="0"/>
              <a:t>SSID</a:t>
            </a:r>
            <a:r>
              <a:rPr lang="zh-CN" altLang="en-US" dirty="0"/>
              <a:t>（可以形象地理解为无线网络的名字），用户可以通过其他 </a:t>
            </a:r>
            <a:r>
              <a:rPr lang="en-US" altLang="zh-CN" dirty="0" err="1"/>
              <a:t>WiFi</a:t>
            </a:r>
            <a:r>
              <a:rPr lang="en-US" altLang="zh-CN" dirty="0"/>
              <a:t> </a:t>
            </a:r>
            <a:r>
              <a:rPr lang="zh-CN" altLang="en-US" dirty="0"/>
              <a:t>设备（如运行在 </a:t>
            </a:r>
            <a:r>
              <a:rPr lang="en-US" altLang="zh-CN" dirty="0"/>
              <a:t>station </a:t>
            </a:r>
            <a:r>
              <a:rPr lang="zh-CN" altLang="en-US" dirty="0"/>
              <a:t>模式的 </a:t>
            </a:r>
            <a:r>
              <a:rPr lang="en-US" altLang="zh-CN" dirty="0"/>
              <a:t>CC3200</a:t>
            </a:r>
            <a:r>
              <a:rPr lang="zh-CN" altLang="en-US" dirty="0"/>
              <a:t>）使用 </a:t>
            </a:r>
            <a:r>
              <a:rPr lang="en-US" altLang="zh-CN" dirty="0"/>
              <a:t>SSID </a:t>
            </a:r>
            <a:r>
              <a:rPr lang="zh-CN" altLang="en-US" dirty="0"/>
              <a:t>号来连接需要的网络。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STA</a:t>
            </a:r>
            <a:r>
              <a:rPr lang="zh-CN" altLang="en-US" dirty="0"/>
              <a:t>模式：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）扫描阶段（</a:t>
            </a:r>
            <a:r>
              <a:rPr lang="en-US" altLang="zh-CN" dirty="0"/>
              <a:t>SCAN</a:t>
            </a:r>
            <a:r>
              <a:rPr lang="zh-CN" altLang="en-US" dirty="0"/>
              <a:t>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）认证阶段 </a:t>
            </a:r>
            <a:r>
              <a:rPr lang="en-US" altLang="zh-CN" dirty="0"/>
              <a:t>(Authentication)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）关联（</a:t>
            </a:r>
            <a:r>
              <a:rPr lang="en-US" altLang="zh-CN" dirty="0"/>
              <a:t>Association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功能包括扫描、接入、认证、加密、  漫游和同步等功能）：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连接过程</a:t>
            </a:r>
          </a:p>
        </p:txBody>
      </p:sp>
    </p:spTree>
    <p:extLst>
      <p:ext uri="{BB962C8B-B14F-4D97-AF65-F5344CB8AC3E}">
        <p14:creationId xmlns:p14="http://schemas.microsoft.com/office/powerpoint/2010/main" val="1174712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85" y="248047"/>
            <a:ext cx="6371429" cy="6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0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802.11 MAC </a:t>
            </a:r>
            <a:r>
              <a:rPr lang="zh-CN" altLang="en-US" dirty="0"/>
              <a:t>使用 </a:t>
            </a:r>
            <a:r>
              <a:rPr lang="en-US" altLang="zh-CN" dirty="0"/>
              <a:t>Scanning </a:t>
            </a:r>
            <a:r>
              <a:rPr lang="zh-CN" altLang="en-US" dirty="0"/>
              <a:t>来搜索 </a:t>
            </a:r>
            <a:r>
              <a:rPr lang="en-US" altLang="zh-CN" dirty="0"/>
              <a:t>AP</a:t>
            </a:r>
            <a:r>
              <a:rPr lang="zh-CN" altLang="en-US" dirty="0"/>
              <a:t>，</a:t>
            </a:r>
            <a:r>
              <a:rPr lang="en-US" altLang="zh-CN" dirty="0"/>
              <a:t>STA </a:t>
            </a:r>
            <a:r>
              <a:rPr lang="zh-CN" altLang="en-US" dirty="0"/>
              <a:t>搜索并连接一个 </a:t>
            </a:r>
            <a:r>
              <a:rPr lang="en-US" altLang="zh-CN" dirty="0"/>
              <a:t>AP</a:t>
            </a:r>
            <a:r>
              <a:rPr lang="zh-CN" altLang="en-US" dirty="0"/>
              <a:t>，</a:t>
            </a:r>
            <a:r>
              <a:rPr lang="en-US" altLang="zh-CN" dirty="0"/>
              <a:t>STA </a:t>
            </a:r>
            <a:r>
              <a:rPr lang="zh-CN" altLang="en-US" dirty="0"/>
              <a:t>会在在每个可用的信道上进行搜索。</a:t>
            </a:r>
            <a:r>
              <a:rPr lang="en-US" altLang="zh-CN" dirty="0"/>
              <a:t>STA </a:t>
            </a:r>
            <a:r>
              <a:rPr lang="zh-CN" altLang="en-US" dirty="0"/>
              <a:t>扫描 </a:t>
            </a:r>
            <a:r>
              <a:rPr lang="en-US" altLang="zh-CN" dirty="0"/>
              <a:t>AP </a:t>
            </a:r>
            <a:r>
              <a:rPr lang="zh-CN" altLang="en-US" dirty="0"/>
              <a:t>通常有两种方式：</a:t>
            </a:r>
          </a:p>
          <a:p>
            <a:pPr marL="601200" indent="-4572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Passive Scanning</a:t>
            </a:r>
            <a:r>
              <a:rPr lang="zh-CN" altLang="en-US" dirty="0"/>
              <a:t>（特点：找到时间较长，但 </a:t>
            </a:r>
            <a:r>
              <a:rPr lang="en-US" altLang="zh-CN" dirty="0"/>
              <a:t>STA </a:t>
            </a:r>
            <a:r>
              <a:rPr lang="zh-CN" altLang="en-US" dirty="0"/>
              <a:t>节电）</a:t>
            </a:r>
          </a:p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通过侦听 </a:t>
            </a:r>
            <a:r>
              <a:rPr lang="en-US" altLang="zh-CN" dirty="0"/>
              <a:t>AP </a:t>
            </a:r>
            <a:r>
              <a:rPr lang="zh-CN" altLang="en-US" dirty="0"/>
              <a:t>定期发送的 </a:t>
            </a:r>
            <a:r>
              <a:rPr lang="en-US" altLang="zh-CN" dirty="0"/>
              <a:t>Beacon </a:t>
            </a:r>
            <a:r>
              <a:rPr lang="zh-CN" altLang="en-US" dirty="0"/>
              <a:t>帧来发现网络，该帧提供了 </a:t>
            </a:r>
            <a:r>
              <a:rPr lang="en-US" altLang="zh-CN" dirty="0"/>
              <a:t>AP </a:t>
            </a:r>
            <a:r>
              <a:rPr lang="zh-CN" altLang="en-US" dirty="0"/>
              <a:t>及所在 </a:t>
            </a:r>
            <a:r>
              <a:rPr lang="en-US" altLang="zh-CN" dirty="0"/>
              <a:t>BSS </a:t>
            </a:r>
            <a:r>
              <a:rPr lang="zh-CN" altLang="en-US" dirty="0"/>
              <a:t>相关信息：“我在这里”</a:t>
            </a:r>
            <a:r>
              <a:rPr lang="en-US" altLang="zh-CN" dirty="0"/>
              <a:t>„</a:t>
            </a:r>
          </a:p>
          <a:p>
            <a:pPr marL="601200" indent="-4572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Active Scanning</a:t>
            </a:r>
            <a:r>
              <a:rPr lang="zh-CN" altLang="en-US" dirty="0"/>
              <a:t>（特点：能迅速找到）</a:t>
            </a:r>
          </a:p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STA </a:t>
            </a:r>
            <a:r>
              <a:rPr lang="zh-CN" altLang="en-US" dirty="0"/>
              <a:t>依次在 </a:t>
            </a:r>
            <a:r>
              <a:rPr lang="en-US" altLang="zh-CN" dirty="0"/>
              <a:t>13 </a:t>
            </a:r>
            <a:r>
              <a:rPr lang="zh-CN" altLang="en-US" dirty="0"/>
              <a:t>个信道发出 </a:t>
            </a:r>
            <a:r>
              <a:rPr lang="en-US" altLang="zh-CN" dirty="0"/>
              <a:t>Probe Request </a:t>
            </a:r>
            <a:r>
              <a:rPr lang="zh-CN" altLang="en-US" dirty="0"/>
              <a:t>帧，寻找与 </a:t>
            </a:r>
            <a:r>
              <a:rPr lang="en-US" altLang="zh-CN" dirty="0"/>
              <a:t>STA </a:t>
            </a:r>
            <a:r>
              <a:rPr lang="zh-CN" altLang="en-US" dirty="0"/>
              <a:t>所属有相同 </a:t>
            </a:r>
            <a:r>
              <a:rPr lang="en-US" altLang="zh-CN" dirty="0"/>
              <a:t>SSID </a:t>
            </a:r>
            <a:r>
              <a:rPr lang="zh-CN" altLang="en-US" dirty="0"/>
              <a:t>的 </a:t>
            </a:r>
            <a:r>
              <a:rPr lang="en-US" altLang="zh-CN" dirty="0"/>
              <a:t>AP,</a:t>
            </a:r>
            <a:r>
              <a:rPr lang="zh-CN" altLang="en-US" dirty="0"/>
              <a:t>若找不到相同 </a:t>
            </a:r>
            <a:r>
              <a:rPr lang="en-US" altLang="zh-CN" dirty="0"/>
              <a:t>SSID </a:t>
            </a:r>
            <a:r>
              <a:rPr lang="zh-CN" altLang="en-US" dirty="0"/>
              <a:t>的 </a:t>
            </a:r>
            <a:r>
              <a:rPr lang="en-US" altLang="zh-CN" dirty="0"/>
              <a:t>AP</a:t>
            </a:r>
            <a:r>
              <a:rPr lang="zh-CN" altLang="en-US" dirty="0"/>
              <a:t>，则一直扫描下去</a:t>
            </a:r>
            <a:r>
              <a:rPr lang="en-US" altLang="zh-CN" dirty="0"/>
              <a:t>..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8650" y="803189"/>
            <a:ext cx="7886700" cy="887499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 扫描阶段（ </a:t>
            </a:r>
            <a:r>
              <a:rPr lang="en-US" altLang="zh-CN" sz="3600" dirty="0"/>
              <a:t>Scan</a:t>
            </a:r>
            <a:r>
              <a:rPr lang="zh-CN" altLang="en-US" sz="3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03136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825625"/>
            <a:ext cx="866775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当 </a:t>
            </a:r>
            <a:r>
              <a:rPr lang="en-US" altLang="zh-CN" dirty="0"/>
              <a:t>STA </a:t>
            </a:r>
            <a:r>
              <a:rPr lang="zh-CN" altLang="en-US" dirty="0"/>
              <a:t>找到与其有相同 </a:t>
            </a:r>
            <a:r>
              <a:rPr lang="en-US" altLang="zh-CN" dirty="0"/>
              <a:t>SSID </a:t>
            </a:r>
            <a:r>
              <a:rPr lang="zh-CN" altLang="en-US" dirty="0"/>
              <a:t>的 </a:t>
            </a:r>
            <a:r>
              <a:rPr lang="en-US" altLang="zh-CN" dirty="0"/>
              <a:t>AP</a:t>
            </a:r>
            <a:r>
              <a:rPr lang="zh-CN" altLang="en-US" dirty="0"/>
              <a:t>，在 </a:t>
            </a:r>
            <a:r>
              <a:rPr lang="en-US" altLang="zh-CN" dirty="0"/>
              <a:t>SSID </a:t>
            </a:r>
            <a:r>
              <a:rPr lang="zh-CN" altLang="en-US" dirty="0"/>
              <a:t>匹配的 </a:t>
            </a:r>
            <a:r>
              <a:rPr lang="en-US" altLang="zh-CN" dirty="0"/>
              <a:t>AP </a:t>
            </a:r>
            <a:r>
              <a:rPr lang="zh-CN" altLang="en-US" dirty="0"/>
              <a:t>中，根据收到的 </a:t>
            </a:r>
            <a:r>
              <a:rPr lang="en-US" altLang="zh-CN" dirty="0"/>
              <a:t>AP </a:t>
            </a:r>
            <a:r>
              <a:rPr lang="zh-CN" altLang="en-US" dirty="0"/>
              <a:t>信号强度，选择一个信号最强的 </a:t>
            </a:r>
            <a:r>
              <a:rPr lang="en-US" altLang="zh-CN" dirty="0"/>
              <a:t>AP</a:t>
            </a:r>
            <a:r>
              <a:rPr lang="zh-CN" altLang="en-US" dirty="0"/>
              <a:t>，然后进入认证阶段。只有身份认证通过的站点才能进行无线接入访问。</a:t>
            </a:r>
          </a:p>
          <a:p>
            <a:r>
              <a:rPr lang="en-US" altLang="zh-CN" dirty="0"/>
              <a:t>AP </a:t>
            </a:r>
            <a:r>
              <a:rPr lang="zh-CN" altLang="en-US" dirty="0"/>
              <a:t>提供如下认证方法：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）开放系统身份认证</a:t>
            </a:r>
            <a:r>
              <a:rPr lang="en-US" altLang="zh-CN" dirty="0"/>
              <a:t>(open-system authentication)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）共享密钥认证</a:t>
            </a:r>
            <a:r>
              <a:rPr lang="en-US" altLang="zh-CN" dirty="0"/>
              <a:t>(shared-key authentication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rgbClr val="C00000"/>
                </a:solidFill>
              </a:rPr>
              <a:t>WPA </a:t>
            </a:r>
            <a:r>
              <a:rPr lang="zh-CN" altLang="en-US" dirty="0"/>
              <a:t>认证（ </a:t>
            </a:r>
            <a:r>
              <a:rPr lang="en-US" altLang="zh-CN" dirty="0"/>
              <a:t>Pre-shared key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WPA2 </a:t>
            </a:r>
            <a:r>
              <a:rPr lang="zh-CN" altLang="en-US" dirty="0"/>
              <a:t>认证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8650" y="815546"/>
            <a:ext cx="7886700" cy="875142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认证阶段（ </a:t>
            </a:r>
            <a:r>
              <a:rPr lang="en-US" altLang="zh-CN" sz="3600" dirty="0"/>
              <a:t>Authentication</a:t>
            </a:r>
            <a:r>
              <a:rPr lang="zh-CN" altLang="en-US" sz="3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618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087395"/>
            <a:ext cx="7886700" cy="5089568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AP </a:t>
            </a:r>
            <a:r>
              <a:rPr lang="zh-CN" altLang="en-US" dirty="0"/>
              <a:t>设置了密码和没有设置密码情况时候认证阶段的过程图：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844" y="1789318"/>
            <a:ext cx="5638095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51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240" y="817841"/>
            <a:ext cx="6395942" cy="4351338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190048" y="5282393"/>
            <a:ext cx="3230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图：PSK 模式认证过程</a:t>
            </a:r>
          </a:p>
        </p:txBody>
      </p:sp>
    </p:spTree>
    <p:extLst>
      <p:ext uri="{BB962C8B-B14F-4D97-AF65-F5344CB8AC3E}">
        <p14:creationId xmlns:p14="http://schemas.microsoft.com/office/powerpoint/2010/main" val="4166134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AP </a:t>
            </a:r>
            <a:r>
              <a:rPr lang="zh-CN" altLang="en-US" dirty="0"/>
              <a:t>向 </a:t>
            </a:r>
            <a:r>
              <a:rPr lang="en-US" altLang="zh-CN" dirty="0"/>
              <a:t>STA </a:t>
            </a:r>
            <a:r>
              <a:rPr lang="zh-CN" altLang="en-US" dirty="0"/>
              <a:t>返回认证响应信息，身份认证获得通过后，进入关联阶段，如图所示。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） </a:t>
            </a:r>
            <a:r>
              <a:rPr lang="en-US" altLang="zh-CN" dirty="0"/>
              <a:t>STA </a:t>
            </a:r>
            <a:r>
              <a:rPr lang="zh-CN" altLang="en-US" dirty="0"/>
              <a:t>向 </a:t>
            </a:r>
            <a:r>
              <a:rPr lang="en-US" altLang="zh-CN" dirty="0"/>
              <a:t>AP </a:t>
            </a:r>
            <a:r>
              <a:rPr lang="zh-CN" altLang="en-US" dirty="0"/>
              <a:t>发送关联请求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AP </a:t>
            </a:r>
            <a:r>
              <a:rPr lang="zh-CN" altLang="en-US" dirty="0"/>
              <a:t>向 </a:t>
            </a:r>
            <a:r>
              <a:rPr lang="en-US" altLang="zh-CN" dirty="0"/>
              <a:t>STA </a:t>
            </a:r>
            <a:r>
              <a:rPr lang="zh-CN" altLang="en-US" dirty="0"/>
              <a:t>返回关联响应</a:t>
            </a:r>
          </a:p>
          <a:p>
            <a:pPr marL="0" indent="0">
              <a:buNone/>
            </a:pPr>
            <a:r>
              <a:rPr lang="zh-CN" altLang="en-US" dirty="0"/>
              <a:t>    至此，接入过程才完成，</a:t>
            </a:r>
            <a:r>
              <a:rPr lang="en-US" altLang="zh-CN" dirty="0"/>
              <a:t>STA </a:t>
            </a:r>
            <a:r>
              <a:rPr lang="zh-CN" altLang="en-US" dirty="0"/>
              <a:t>初始化完毕，可以开始向 </a:t>
            </a:r>
            <a:r>
              <a:rPr lang="en-US" altLang="zh-CN" dirty="0"/>
              <a:t>AP </a:t>
            </a:r>
            <a:r>
              <a:rPr lang="zh-CN" altLang="en-US" dirty="0"/>
              <a:t>传送数据帧。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257300" y="410368"/>
            <a:ext cx="7886700" cy="1325563"/>
          </a:xfrm>
        </p:spPr>
        <p:txBody>
          <a:bodyPr/>
          <a:lstStyle/>
          <a:p>
            <a:r>
              <a:rPr lang="zh-CN" altLang="en-US" dirty="0"/>
              <a:t>关联阶段（ </a:t>
            </a:r>
            <a:r>
              <a:rPr lang="en-US" altLang="zh-CN" dirty="0"/>
              <a:t>Association 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85254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47924"/>
            <a:ext cx="9144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75129" y="1250721"/>
            <a:ext cx="3461204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0" b="0" i="0" u="none" strike="noStrike" kern="1200" cap="none" spc="0" normalizeH="0" baseline="0" noProof="0" dirty="0">
                <a:ln w="28575">
                  <a:solidFill>
                    <a:prstClr val="white"/>
                  </a:solidFill>
                </a:ln>
                <a:gradFill flip="none" rotWithShape="1">
                  <a:gsLst>
                    <a:gs pos="0">
                      <a:srgbClr val="30579B">
                        <a:shade val="30000"/>
                        <a:satMod val="115000"/>
                      </a:srgbClr>
                    </a:gs>
                    <a:gs pos="50000">
                      <a:srgbClr val="30579B">
                        <a:shade val="67500"/>
                        <a:satMod val="115000"/>
                      </a:srgbClr>
                    </a:gs>
                    <a:gs pos="100000">
                      <a:srgbClr val="30579B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Franklin Gothic Demi Cond" panose="020B07060304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25000" b="0" i="0" u="none" strike="noStrike" kern="1200" cap="none" spc="0" normalizeH="0" baseline="0" noProof="0" dirty="0">
              <a:ln w="28575">
                <a:solidFill>
                  <a:prstClr val="white"/>
                </a:solidFill>
              </a:ln>
              <a:gradFill flip="none" rotWithShape="1">
                <a:gsLst>
                  <a:gs pos="0">
                    <a:srgbClr val="30579B">
                      <a:shade val="30000"/>
                      <a:satMod val="115000"/>
                    </a:srgbClr>
                  </a:gs>
                  <a:gs pos="50000">
                    <a:srgbClr val="30579B">
                      <a:shade val="67500"/>
                      <a:satMod val="115000"/>
                    </a:srgbClr>
                  </a:gs>
                  <a:gs pos="100000">
                    <a:srgbClr val="30579B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Franklin Gothic Demi Cond" panose="020B07060304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5977" y="2972578"/>
            <a:ext cx="3379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WiFi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参数设置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06875" y="152400"/>
            <a:ext cx="2517275" cy="67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2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文本框 1"/>
          <p:cNvSpPr txBox="1">
            <a:spLocks noChangeArrowheads="1"/>
          </p:cNvSpPr>
          <p:nvPr/>
        </p:nvSpPr>
        <p:spPr bwMode="auto">
          <a:xfrm>
            <a:off x="128588" y="152400"/>
            <a:ext cx="10969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网络配置</a:t>
            </a:r>
          </a:p>
        </p:txBody>
      </p:sp>
      <p:pic>
        <p:nvPicPr>
          <p:cNvPr id="23556" name="图片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774825"/>
            <a:ext cx="4287837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775" y="4382294"/>
            <a:ext cx="8990013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216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782" y="484824"/>
            <a:ext cx="5954739" cy="560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75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426" y="365125"/>
            <a:ext cx="5016608" cy="575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71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633096"/>
            <a:ext cx="7332502" cy="56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21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C3CD3-FD70-47C1-B395-F0BF635E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51"/>
            <a:ext cx="9144000" cy="12680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/>
              <a:t>主函数中前部分，还是标准化流程，板子初始化，管脚分配，管脚模式设置，初始化一些用到的东西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42A65C-A6BA-4A5D-BED9-296DFFC4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5267"/>
            <a:ext cx="5751797" cy="387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26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2F739-093A-41D6-A61C-29F84B4B1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250"/>
            <a:ext cx="3294290" cy="45801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网络层的核心代码如下，主要思路是启用多线程，其中第一个函数是启动网络需要调用的</a:t>
            </a:r>
            <a:r>
              <a:rPr lang="en-US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API</a:t>
            </a:r>
            <a:r>
              <a:rPr lang="zh-CN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，参数为等级比</a:t>
            </a:r>
            <a:r>
              <a:rPr lang="zh-CN" altLang="en-US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较</a:t>
            </a:r>
            <a:r>
              <a:rPr lang="zh-CN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高的优先级，第二个函数是在</a:t>
            </a:r>
            <a:r>
              <a:rPr lang="en-US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M4</a:t>
            </a:r>
            <a:r>
              <a:rPr lang="zh-CN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处理器的内核生成一个栈，这个函数内部参数的优先级要低于第一个，同时因为启用了多线程指令，因此必须有第</a:t>
            </a:r>
            <a:r>
              <a:rPr lang="en-US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1333</a:t>
            </a:r>
            <a:r>
              <a:rPr lang="zh-CN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行的代码</a:t>
            </a:r>
          </a:p>
          <a:p>
            <a:pPr>
              <a:lnSpc>
                <a:spcPct val="150000"/>
              </a:lnSpc>
            </a:pPr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1BEFC7-B9E1-46A0-AD8E-072A48F8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289" y="857250"/>
            <a:ext cx="5694590" cy="368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35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70246-ED65-4644-AFA2-7FA26AFF1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3" y="867112"/>
            <a:ext cx="4392382" cy="5231610"/>
          </a:xfrm>
        </p:spPr>
        <p:txBody>
          <a:bodyPr>
            <a:normAutofit lnSpcReduction="10000"/>
          </a:bodyPr>
          <a:lstStyle/>
          <a:p>
            <a:pPr marL="205740" indent="200025" algn="just">
              <a:lnSpc>
                <a:spcPct val="150000"/>
              </a:lnSpc>
            </a:pP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熟悉了基本函数后，我们可以开始设置自己的网络用户名，加密类型和密码了</a:t>
            </a:r>
          </a:p>
          <a:p>
            <a:pPr marL="205740" indent="200025" algn="just">
              <a:lnSpc>
                <a:spcPct val="150000"/>
              </a:lnSpc>
            </a:pP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首先需要明确，网络的连接有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AP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Station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两种模式，可以简单理解为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AP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模式是被连接，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STA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模式是主动连接</a:t>
            </a:r>
            <a:r>
              <a:rPr lang="zh-CN" altLang="en-US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05740" indent="200025" algn="just">
              <a:lnSpc>
                <a:spcPct val="150000"/>
              </a:lnSpc>
            </a:pP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因为有两个模式可选，因此代码需要使用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的逻辑，当是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AP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模式时定义用户名，密码，加密类型，然后调用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WLAN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AP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函数，然后开始运行，其中</a:t>
            </a:r>
            <a:r>
              <a:rPr lang="en-US" altLang="zh-CN" sz="1800" kern="100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wlan_set_ap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函数和</a:t>
            </a:r>
            <a:r>
              <a:rPr lang="en-US" altLang="zh-CN" sz="1800" kern="100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wifi_connect</a:t>
            </a:r>
            <a:r>
              <a:rPr lang="zh-CN" altLang="zh-CN" sz="18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函数需要自己写</a:t>
            </a:r>
          </a:p>
          <a:p>
            <a:pPr>
              <a:lnSpc>
                <a:spcPct val="150000"/>
              </a:lnSpc>
            </a:pPr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B9E8AB-FDFA-4B4A-ABD0-CE3710BA7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715" y="690082"/>
            <a:ext cx="4600575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97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BFD4D4-EFF9-4B93-BDB1-49CAABC14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0735"/>
            <a:ext cx="8113988" cy="3380015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B44159A-A185-4F9F-A38C-83BA8B669CE3}"/>
              </a:ext>
            </a:extLst>
          </p:cNvPr>
          <p:cNvSpPr txBox="1">
            <a:spLocks/>
          </p:cNvSpPr>
          <p:nvPr/>
        </p:nvSpPr>
        <p:spPr>
          <a:xfrm>
            <a:off x="0" y="1616529"/>
            <a:ext cx="4763861" cy="50448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dirty="0">
                <a:ea typeface="等线" panose="02010600030101010101" pitchFamily="2" charset="-122"/>
                <a:cs typeface="Times New Roman" panose="02020603050405020304" pitchFamily="18" charset="0"/>
              </a:rPr>
              <a:t>在串口上显示如下内容，说明成功连接到设备了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1624205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406175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熟悉</a:t>
            </a:r>
            <a:r>
              <a:rPr lang="en-US" altLang="zh-CN" dirty="0"/>
              <a:t>SDK1.5</a:t>
            </a:r>
            <a:r>
              <a:rPr lang="zh-CN" altLang="en-US" dirty="0"/>
              <a:t>中</a:t>
            </a:r>
            <a:r>
              <a:rPr lang="en-US" altLang="zh-CN" dirty="0" err="1"/>
              <a:t>out_of_box</a:t>
            </a:r>
            <a:r>
              <a:rPr lang="zh-CN" altLang="en-US" dirty="0"/>
              <a:t>例程的程序，了解各函数功能。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将 </a:t>
            </a:r>
            <a:r>
              <a:rPr lang="en-US" altLang="zh-CN" dirty="0"/>
              <a:t>CC3200</a:t>
            </a:r>
            <a:r>
              <a:rPr lang="zh-CN" altLang="en-US" dirty="0"/>
              <a:t>板卡设置为</a:t>
            </a:r>
            <a:r>
              <a:rPr lang="en-US" altLang="zh-CN" dirty="0"/>
              <a:t>AP </a:t>
            </a:r>
            <a:r>
              <a:rPr lang="zh-CN" altLang="en-US" dirty="0"/>
              <a:t>模式（修改读取管脚配置为直接程序配置），设置 </a:t>
            </a:r>
            <a:r>
              <a:rPr lang="en-US" altLang="zh-CN" dirty="0"/>
              <a:t>CC3200   </a:t>
            </a:r>
            <a:r>
              <a:rPr lang="zh-CN" altLang="en-US" dirty="0"/>
              <a:t>开发板</a:t>
            </a:r>
            <a:r>
              <a:rPr lang="en-US" altLang="zh-CN" dirty="0"/>
              <a:t>SSID</a:t>
            </a:r>
            <a:r>
              <a:rPr lang="zh-CN" altLang="en-US" dirty="0"/>
              <a:t>为自己名字的拼音，密码为自己的学号。用实验室电脑或自己笔记本电脑连接到该</a:t>
            </a:r>
            <a:r>
              <a:rPr lang="en-US" altLang="zh-CN" dirty="0"/>
              <a:t>AP</a:t>
            </a:r>
            <a:r>
              <a:rPr lang="zh-CN" altLang="en-US" dirty="0"/>
              <a:t>上。用串口打印相关信息。从</a:t>
            </a:r>
            <a:r>
              <a:rPr lang="en-US" altLang="zh-CN" dirty="0"/>
              <a:t>PC</a:t>
            </a:r>
            <a:r>
              <a:rPr lang="zh-CN" altLang="en-US" dirty="0"/>
              <a:t>机</a:t>
            </a:r>
            <a:r>
              <a:rPr lang="en-US" altLang="zh-CN" dirty="0"/>
              <a:t>Ping</a:t>
            </a:r>
            <a:r>
              <a:rPr lang="zh-CN" altLang="en-US" dirty="0"/>
              <a:t>通</a:t>
            </a:r>
            <a:r>
              <a:rPr lang="en-US" altLang="zh-CN" dirty="0"/>
              <a:t>CC3200</a:t>
            </a:r>
            <a:r>
              <a:rPr lang="zh-CN" altLang="en-US" dirty="0"/>
              <a:t>板。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CC3200</a:t>
            </a:r>
            <a:r>
              <a:rPr lang="zh-CN" altLang="en-US" dirty="0"/>
              <a:t>板卡设置为</a:t>
            </a:r>
            <a:r>
              <a:rPr lang="en-US" altLang="zh-CN" dirty="0"/>
              <a:t>station</a:t>
            </a:r>
            <a:r>
              <a:rPr lang="zh-CN" altLang="en-US" dirty="0"/>
              <a:t>模式，连接到手机热点或实验室中的无线</a:t>
            </a:r>
            <a:r>
              <a:rPr lang="en-US" altLang="zh-CN" dirty="0"/>
              <a:t>AP</a:t>
            </a:r>
            <a:r>
              <a:rPr lang="zh-CN" altLang="en-US" dirty="0"/>
              <a:t>（</a:t>
            </a:r>
            <a:r>
              <a:rPr lang="en-US" altLang="zh-CN" dirty="0"/>
              <a:t>SSID</a:t>
            </a:r>
            <a:r>
              <a:rPr lang="zh-CN" altLang="en-US" dirty="0"/>
              <a:t>为</a:t>
            </a:r>
            <a:r>
              <a:rPr lang="en-US" altLang="zh-CN" dirty="0"/>
              <a:t>TP-LINK_76E3</a:t>
            </a:r>
            <a:r>
              <a:rPr lang="zh-CN" altLang="en-US" dirty="0"/>
              <a:t>，密码为</a:t>
            </a:r>
            <a:r>
              <a:rPr lang="en-US" altLang="zh-CN" dirty="0"/>
              <a:t>xjtu624624</a:t>
            </a:r>
            <a:r>
              <a:rPr lang="zh-CN" altLang="en-US" dirty="0"/>
              <a:t>）。用串口打印相关信息。从</a:t>
            </a:r>
            <a:r>
              <a:rPr lang="en-US" altLang="zh-CN" dirty="0"/>
              <a:t>PC</a:t>
            </a:r>
            <a:r>
              <a:rPr lang="zh-CN" altLang="en-US" dirty="0"/>
              <a:t>机</a:t>
            </a:r>
            <a:r>
              <a:rPr lang="en-US" altLang="zh-CN" dirty="0"/>
              <a:t>Ping</a:t>
            </a:r>
            <a:r>
              <a:rPr lang="zh-CN" altLang="en-US" dirty="0"/>
              <a:t>通</a:t>
            </a:r>
            <a:r>
              <a:rPr lang="en-US" altLang="zh-CN" dirty="0"/>
              <a:t>CC3200</a:t>
            </a:r>
            <a:r>
              <a:rPr lang="zh-CN" altLang="en-US" dirty="0"/>
              <a:t>板。在每种模式下要清楚每个设备的</a:t>
            </a:r>
            <a:r>
              <a:rPr lang="en-US" altLang="zh-CN" dirty="0"/>
              <a:t>IP</a:t>
            </a:r>
            <a:r>
              <a:rPr lang="zh-CN" altLang="en-US" dirty="0"/>
              <a:t>地址分别是什么。</a:t>
            </a: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600" dirty="0"/>
              <a:t>实验参考：</a:t>
            </a:r>
          </a:p>
          <a:p>
            <a:pPr marL="0" indent="0">
              <a:buNone/>
            </a:pPr>
            <a:r>
              <a:rPr lang="en-US" altLang="zh-CN" dirty="0"/>
              <a:t>SDK1.5</a:t>
            </a:r>
            <a:r>
              <a:rPr lang="zh-CN" altLang="en-US" dirty="0"/>
              <a:t>中</a:t>
            </a:r>
            <a:r>
              <a:rPr lang="en-US" altLang="zh-CN" dirty="0" err="1"/>
              <a:t>out_of_box</a:t>
            </a:r>
            <a:r>
              <a:rPr lang="zh-CN" altLang="en-US" dirty="0"/>
              <a:t>例程或发给大家的</a:t>
            </a:r>
            <a:r>
              <a:rPr lang="en-US" altLang="zh-CN" dirty="0"/>
              <a:t>out_of_box1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24BC-51E0-4A61-A890-4370566F82F1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86733" y="457404"/>
            <a:ext cx="7886700" cy="868057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实验内容：</a:t>
            </a:r>
          </a:p>
        </p:txBody>
      </p:sp>
    </p:spTree>
    <p:extLst>
      <p:ext uri="{BB962C8B-B14F-4D97-AF65-F5344CB8AC3E}">
        <p14:creationId xmlns:p14="http://schemas.microsoft.com/office/powerpoint/2010/main" val="3521318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447924"/>
            <a:ext cx="9144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/>
        </p:blipFill>
        <p:spPr>
          <a:xfrm>
            <a:off x="206875" y="152400"/>
            <a:ext cx="2517275" cy="67916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17004" y="2588269"/>
            <a:ext cx="8109992" cy="124534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  <a:spcAft>
                <a:spcPts val="0"/>
              </a:spcAft>
            </a:pPr>
            <a:r>
              <a:rPr lang="zh-CN" altLang="en-US" sz="7200" b="1" kern="100" dirty="0">
                <a:solidFill>
                  <a:srgbClr val="1557AE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谢谢！</a:t>
            </a:r>
            <a:endParaRPr lang="zh-CN" altLang="zh-CN" sz="7200" b="1" kern="100" dirty="0">
              <a:solidFill>
                <a:srgbClr val="1557AE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321078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课件蓝白色模板.potx" id="{5B1BA259-F0A4-47D0-BF68-057AFEF8E519}" vid="{0D99D3A8-3341-4791-B4B8-783062AFC9A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11735</TotalTime>
  <Words>2093</Words>
  <Application>Microsoft Office PowerPoint</Application>
  <PresentationFormat>全屏显示(4:3)</PresentationFormat>
  <Paragraphs>144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等线</vt:lpstr>
      <vt:lpstr>等线 Light</vt:lpstr>
      <vt:lpstr>仿宋</vt:lpstr>
      <vt:lpstr>黑体</vt:lpstr>
      <vt:lpstr>隶书</vt:lpstr>
      <vt:lpstr>宋体</vt:lpstr>
      <vt:lpstr>微软雅黑</vt:lpstr>
      <vt:lpstr>Arial</vt:lpstr>
      <vt:lpstr>Calibri</vt:lpstr>
      <vt:lpstr>Cambria Math</vt:lpstr>
      <vt:lpstr>Franklin Gothic Demi Cond</vt:lpstr>
      <vt:lpstr>Tahoma</vt:lpstr>
      <vt:lpstr>Times New Roman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WIFI信道</vt:lpstr>
      <vt:lpstr>CC3200 支持802.11b/g/n</vt:lpstr>
      <vt:lpstr>PowerPoint 演示文稿</vt:lpstr>
      <vt:lpstr>PowerPoint 演示文稿</vt:lpstr>
      <vt:lpstr>无线通信距离的计算</vt:lpstr>
      <vt:lpstr>PowerPoint 演示文稿</vt:lpstr>
      <vt:lpstr>PowerPoint 演示文稿</vt:lpstr>
      <vt:lpstr>PowerPoint 演示文稿</vt:lpstr>
      <vt:lpstr>PowerPoint 演示文稿</vt:lpstr>
      <vt:lpstr>    WiFi连接过程</vt:lpstr>
      <vt:lpstr>PowerPoint 演示文稿</vt:lpstr>
      <vt:lpstr> 扫描阶段（ Scan）</vt:lpstr>
      <vt:lpstr>认证阶段（ Authentication）</vt:lpstr>
      <vt:lpstr>PowerPoint 演示文稿</vt:lpstr>
      <vt:lpstr>PowerPoint 演示文稿</vt:lpstr>
      <vt:lpstr>关联阶段（ Association 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主函数中前部分，还是标准化流程，板子初始化，管脚分配，管脚模式设置，初始化一些用到的东西</vt:lpstr>
      <vt:lpstr>PowerPoint 演示文稿</vt:lpstr>
      <vt:lpstr>PowerPoint 演示文稿</vt:lpstr>
      <vt:lpstr>PowerPoint 演示文稿</vt:lpstr>
      <vt:lpstr>实验内容：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13709129200@139.com</cp:lastModifiedBy>
  <cp:revision>492</cp:revision>
  <cp:lastPrinted>2015-09-08T03:57:43Z</cp:lastPrinted>
  <dcterms:created xsi:type="dcterms:W3CDTF">2015-09-04T08:06:26Z</dcterms:created>
  <dcterms:modified xsi:type="dcterms:W3CDTF">2026-04-09T01:57:00Z</dcterms:modified>
</cp:coreProperties>
</file>
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  <p:sldMasterId id="2147483687" r:id="rId2"/>
  </p:sldMasterIdLst>
  <p:notesMasterIdLst>
    <p:notesMasterId r:id="rId25"/>
  </p:notesMasterIdLst>
  <p:handoutMasterIdLst>
    <p:handoutMasterId r:id="rId26"/>
  </p:handoutMasterIdLst>
  <p:sldIdLst>
    <p:sldId id="916" r:id="rId3"/>
    <p:sldId id="1027" r:id="rId4"/>
    <p:sldId id="419" r:id="rId5"/>
    <p:sldId id="1028" r:id="rId6"/>
    <p:sldId id="1029" r:id="rId7"/>
    <p:sldId id="918" r:id="rId8"/>
    <p:sldId id="837" r:id="rId9"/>
    <p:sldId id="1032" r:id="rId10"/>
    <p:sldId id="1044" r:id="rId11"/>
    <p:sldId id="1037" r:id="rId12"/>
    <p:sldId id="1040" r:id="rId13"/>
    <p:sldId id="1045" r:id="rId14"/>
    <p:sldId id="1041" r:id="rId15"/>
    <p:sldId id="1046" r:id="rId16"/>
    <p:sldId id="926" r:id="rId17"/>
    <p:sldId id="930" r:id="rId18"/>
    <p:sldId id="1043" r:id="rId19"/>
    <p:sldId id="413" r:id="rId20"/>
    <p:sldId id="931" r:id="rId21"/>
    <p:sldId id="932" r:id="rId22"/>
    <p:sldId id="935" r:id="rId23"/>
    <p:sldId id="1018" r:id="rId24"/>
  </p:sldIdLst>
  <p:sldSz cx="9144000" cy="6858000" type="screen4x3"/>
  <p:notesSz cx="6761163" cy="99425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57AE"/>
    <a:srgbClr val="4269BD"/>
    <a:srgbClr val="E97C30"/>
    <a:srgbClr val="3A97D7"/>
    <a:srgbClr val="E87E04"/>
    <a:srgbClr val="FFC000"/>
    <a:srgbClr val="1F4E79"/>
    <a:srgbClr val="0070C0"/>
    <a:srgbClr val="2E75B6"/>
    <a:srgbClr val="872E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55" autoAdjust="0"/>
    <p:restoredTop sz="94816" autoAdjust="0"/>
  </p:normalViewPr>
  <p:slideViewPr>
    <p:cSldViewPr snapToGrid="0">
      <p:cViewPr varScale="1">
        <p:scale>
          <a:sx n="123" d="100"/>
          <a:sy n="123" d="100"/>
        </p:scale>
        <p:origin x="953" y="1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A1BC1-FA36-405A-84E5-2ECB11F24F06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20590-9981-46CC-AF13-22488216DE8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248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89580-3797-4DA2-9E4E-24E61D4E80CF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F47CB-3076-4026-8B18-63F39C6D1F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119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D8ECA84-878F-4643-9B3E-6CC94200EE9F}" type="slidenum">
              <a:rPr lang="en-US" altLang="zh-CN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68084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75C97CFC-2D11-457A-B4B1-EABA1BFAAD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1AD97901-7748-4839-B6C1-ACBAF1A0C349}" type="slidenum">
              <a:rPr altLang="zh-CN" smtClean="0">
                <a:latin typeface="Arial" panose="020B0604020202020204" pitchFamily="34" charset="0"/>
              </a:rPr>
              <a:pPr>
                <a:buFontTx/>
                <a:buNone/>
              </a:pPr>
              <a:t>3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72A13EC0-718D-46F5-B10D-CC3F7A5E4E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3A73E0EE-33CD-4F4F-9D1A-C024114BE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8709B-7801-4369-A743-CEEE0B05EDE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10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5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360000"/>
            <a:ext cx="324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04954" y="360000"/>
            <a:ext cx="324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72" y="0"/>
            <a:ext cx="2387241" cy="83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11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/>
          <p:nvPr userDrawn="1"/>
        </p:nvSpPr>
        <p:spPr>
          <a:xfrm rot="16200000">
            <a:off x="239091" y="113944"/>
            <a:ext cx="812329" cy="800243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326571 w 661307"/>
              <a:gd name="connsiteY3" fmla="*/ 718457 h 726621"/>
              <a:gd name="connsiteX4" fmla="*/ 0 w 661307"/>
              <a:gd name="connsiteY4" fmla="*/ 726621 h 726621"/>
              <a:gd name="connsiteX5" fmla="*/ 0 w 661307"/>
              <a:gd name="connsiteY5" fmla="*/ 0 h 72662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5106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8406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0242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3167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2"/>
          <a:stretch/>
        </p:blipFill>
        <p:spPr>
          <a:xfrm>
            <a:off x="296112" y="195665"/>
            <a:ext cx="619134" cy="636802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1934" y="107901"/>
            <a:ext cx="112892" cy="812329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流程图: 过程 8"/>
          <p:cNvSpPr/>
          <p:nvPr userDrawn="1"/>
        </p:nvSpPr>
        <p:spPr>
          <a:xfrm rot="5400000" flipH="1">
            <a:off x="7637105" y="5350752"/>
            <a:ext cx="324399" cy="2689389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  <p:sp>
        <p:nvSpPr>
          <p:cNvPr id="6" name="矩形 5"/>
          <p:cNvSpPr/>
          <p:nvPr userDrawn="1"/>
        </p:nvSpPr>
        <p:spPr>
          <a:xfrm>
            <a:off x="6669766" y="6602968"/>
            <a:ext cx="2420500" cy="219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4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西安交通大学数据与信息中心</a:t>
            </a:r>
          </a:p>
        </p:txBody>
      </p:sp>
      <p:sp>
        <p:nvSpPr>
          <p:cNvPr id="7" name="流程图: 过程 6"/>
          <p:cNvSpPr/>
          <p:nvPr userDrawn="1"/>
        </p:nvSpPr>
        <p:spPr>
          <a:xfrm rot="5400000">
            <a:off x="3302905" y="3383209"/>
            <a:ext cx="171533" cy="6777344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</p:spTree>
    <p:extLst>
      <p:ext uri="{BB962C8B-B14F-4D97-AF65-F5344CB8AC3E}">
        <p14:creationId xmlns:p14="http://schemas.microsoft.com/office/powerpoint/2010/main" val="2333803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selected_powerpoint_bg_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BB466F-FA2B-4A62-B403-BE2B857E94B3}" type="slidenum">
              <a:rPr lang="en-US" altLang="zh-CN"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55385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AD082D-EB92-4946-8B91-8179CF32A098}" type="slidenum">
              <a:rPr lang="en-US" altLang="zh-CN"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57983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913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过程 5"/>
          <p:cNvSpPr/>
          <p:nvPr userDrawn="1"/>
        </p:nvSpPr>
        <p:spPr>
          <a:xfrm rot="5400000">
            <a:off x="-47062" y="263186"/>
            <a:ext cx="739101" cy="644980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过程 6"/>
          <p:cNvSpPr/>
          <p:nvPr userDrawn="1"/>
        </p:nvSpPr>
        <p:spPr>
          <a:xfrm rot="5400000">
            <a:off x="441431" y="523084"/>
            <a:ext cx="739101" cy="125186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过程 7"/>
          <p:cNvSpPr/>
          <p:nvPr userDrawn="1"/>
        </p:nvSpPr>
        <p:spPr>
          <a:xfrm rot="5400000">
            <a:off x="4486270" y="2200275"/>
            <a:ext cx="171450" cy="9144001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过程 8"/>
          <p:cNvSpPr/>
          <p:nvPr userDrawn="1"/>
        </p:nvSpPr>
        <p:spPr>
          <a:xfrm rot="5400000" flipH="1">
            <a:off x="8184229" y="5850177"/>
            <a:ext cx="327501" cy="159203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6" r="53951"/>
          <a:stretch/>
        </p:blipFill>
        <p:spPr>
          <a:xfrm>
            <a:off x="7829550" y="6523381"/>
            <a:ext cx="1154166" cy="31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2533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18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360000"/>
            <a:ext cx="324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04954" y="360000"/>
            <a:ext cx="324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72" y="0"/>
            <a:ext cx="2387241" cy="83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65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/>
          <p:nvPr userDrawn="1"/>
        </p:nvSpPr>
        <p:spPr>
          <a:xfrm rot="16200000">
            <a:off x="239091" y="113944"/>
            <a:ext cx="812329" cy="800243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326571 w 661307"/>
              <a:gd name="connsiteY3" fmla="*/ 718457 h 726621"/>
              <a:gd name="connsiteX4" fmla="*/ 0 w 661307"/>
              <a:gd name="connsiteY4" fmla="*/ 726621 h 726621"/>
              <a:gd name="connsiteX5" fmla="*/ 0 w 661307"/>
              <a:gd name="connsiteY5" fmla="*/ 0 h 72662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5106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8406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0242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3167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2"/>
          <a:stretch/>
        </p:blipFill>
        <p:spPr>
          <a:xfrm>
            <a:off x="296112" y="195665"/>
            <a:ext cx="619134" cy="636802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1934" y="107901"/>
            <a:ext cx="112892" cy="812329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流程图: 过程 8"/>
          <p:cNvSpPr/>
          <p:nvPr userDrawn="1"/>
        </p:nvSpPr>
        <p:spPr>
          <a:xfrm rot="5400000" flipH="1">
            <a:off x="7637105" y="5350752"/>
            <a:ext cx="324399" cy="2689389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  <p:sp>
        <p:nvSpPr>
          <p:cNvPr id="6" name="矩形 5"/>
          <p:cNvSpPr/>
          <p:nvPr userDrawn="1"/>
        </p:nvSpPr>
        <p:spPr>
          <a:xfrm>
            <a:off x="6669766" y="6602968"/>
            <a:ext cx="2420500" cy="219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4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西安交通大学数据与信息中心</a:t>
            </a:r>
          </a:p>
        </p:txBody>
      </p:sp>
      <p:sp>
        <p:nvSpPr>
          <p:cNvPr id="7" name="流程图: 过程 6"/>
          <p:cNvSpPr/>
          <p:nvPr userDrawn="1"/>
        </p:nvSpPr>
        <p:spPr>
          <a:xfrm rot="5400000">
            <a:off x="3302905" y="3383209"/>
            <a:ext cx="171533" cy="6777344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</p:spTree>
    <p:extLst>
      <p:ext uri="{BB962C8B-B14F-4D97-AF65-F5344CB8AC3E}">
        <p14:creationId xmlns:p14="http://schemas.microsoft.com/office/powerpoint/2010/main" val="333463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6003925" y="4075113"/>
            <a:ext cx="3140075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8647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selected_powerpoint_bg_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BB466F-FA2B-4A62-B403-BE2B857E94B3}" type="slidenum">
              <a:rPr lang="en-US" altLang="zh-CN"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722948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AD082D-EB92-4946-8B91-8179CF32A098}" type="slidenum">
              <a:rPr lang="en-US" altLang="zh-CN"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449186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zh-CN" altLang="en-US" noProof="1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3BD095-381A-4FCF-8F6E-5A3258C1351F}" type="slidenum">
              <a:rPr lang="en-US" altLang="zh-CN"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947585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922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665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1" r:id="rId2"/>
    <p:sldLayoutId id="2147483653" r:id="rId3"/>
    <p:sldLayoutId id="2147483669" r:id="rId4"/>
    <p:sldLayoutId id="2147483670" r:id="rId5"/>
    <p:sldLayoutId id="2147483672" r:id="rId6"/>
    <p:sldLayoutId id="214748367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275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6003925" y="4075113"/>
            <a:ext cx="3140075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517004" y="1829102"/>
            <a:ext cx="8109992" cy="17543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短距离无线通信专题实验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实验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3-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通过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I2C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读取传感器信息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传感器和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CC3200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I2C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接口</a:t>
            </a:r>
          </a:p>
        </p:txBody>
      </p:sp>
      <p:sp>
        <p:nvSpPr>
          <p:cNvPr id="5" name="矩形 4"/>
          <p:cNvSpPr/>
          <p:nvPr/>
        </p:nvSpPr>
        <p:spPr>
          <a:xfrm>
            <a:off x="1620784" y="4163160"/>
            <a:ext cx="6254770" cy="14219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教师：电信学部信通学院陈伟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邮箱：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chw@mail.xjtu.edu.cn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办公室：西一楼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529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72000"/>
            <a:ext cx="3088800" cy="108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00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7"/>
          <p:cNvGrpSpPr>
            <a:grpSpLocks/>
          </p:cNvGrpSpPr>
          <p:nvPr/>
        </p:nvGrpSpPr>
        <p:grpSpPr bwMode="auto">
          <a:xfrm>
            <a:off x="457200" y="1066800"/>
            <a:ext cx="8610600" cy="5638800"/>
            <a:chOff x="336" y="624"/>
            <a:chExt cx="5424" cy="3552"/>
          </a:xfrm>
        </p:grpSpPr>
        <p:sp>
          <p:nvSpPr>
            <p:cNvPr id="149512" name="AutoShape 8"/>
            <p:cNvSpPr>
              <a:spLocks/>
            </p:cNvSpPr>
            <p:nvPr/>
          </p:nvSpPr>
          <p:spPr bwMode="auto">
            <a:xfrm>
              <a:off x="1776" y="1584"/>
              <a:ext cx="240" cy="1248"/>
            </a:xfrm>
            <a:prstGeom prst="rightBrace">
              <a:avLst>
                <a:gd name="adj1" fmla="val 43333"/>
                <a:gd name="adj2" fmla="val 50000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kumimoji="1" lang="en-US" altLang="zh-CN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  <a:ea typeface="楷体_GB2312" pitchFamily="49" charset="-122"/>
              </a:endParaRPr>
            </a:p>
          </p:txBody>
        </p:sp>
        <p:grpSp>
          <p:nvGrpSpPr>
            <p:cNvPr id="5134" name="Group 9"/>
            <p:cNvGrpSpPr>
              <a:grpSpLocks/>
            </p:cNvGrpSpPr>
            <p:nvPr/>
          </p:nvGrpSpPr>
          <p:grpSpPr bwMode="auto">
            <a:xfrm>
              <a:off x="336" y="624"/>
              <a:ext cx="5424" cy="3552"/>
              <a:chOff x="336" y="624"/>
              <a:chExt cx="5424" cy="3552"/>
            </a:xfrm>
          </p:grpSpPr>
          <p:pic>
            <p:nvPicPr>
              <p:cNvPr id="5135" name="Picture 10" descr="PE01561_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64" y="2880"/>
                <a:ext cx="1824" cy="1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136" name="Picture 11" descr="PE02002_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76" y="2784"/>
                <a:ext cx="1390" cy="1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137" name="Picture 12" descr="BD00013_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30" y="624"/>
                <a:ext cx="1030" cy="1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138" name="Picture 13" descr="EN00349_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" y="3216"/>
                <a:ext cx="1344" cy="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139" name="Picture 14" descr="BS02064_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68" y="864"/>
                <a:ext cx="1084" cy="10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5124" name="Group 11"/>
          <p:cNvGrpSpPr>
            <a:grpSpLocks/>
          </p:cNvGrpSpPr>
          <p:nvPr/>
        </p:nvGrpSpPr>
        <p:grpSpPr bwMode="auto">
          <a:xfrm>
            <a:off x="685800" y="2497138"/>
            <a:ext cx="6969125" cy="2227262"/>
            <a:chOff x="432" y="1045"/>
            <a:chExt cx="4390" cy="1403"/>
          </a:xfrm>
        </p:grpSpPr>
        <p:sp>
          <p:nvSpPr>
            <p:cNvPr id="5126" name="Text Box 12"/>
            <p:cNvSpPr txBox="1">
              <a:spLocks noChangeArrowheads="1"/>
            </p:cNvSpPr>
            <p:nvPr/>
          </p:nvSpPr>
          <p:spPr bwMode="auto">
            <a:xfrm>
              <a:off x="432" y="1045"/>
              <a:ext cx="1882" cy="1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眼（视觉）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耳（听觉）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鼻（嗅觉）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皮肤（触觉）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舌（味觉）</a:t>
              </a:r>
            </a:p>
          </p:txBody>
        </p:sp>
        <p:sp>
          <p:nvSpPr>
            <p:cNvPr id="5127" name="AutoShape 13"/>
            <p:cNvSpPr>
              <a:spLocks/>
            </p:cNvSpPr>
            <p:nvPr/>
          </p:nvSpPr>
          <p:spPr bwMode="auto">
            <a:xfrm>
              <a:off x="1680" y="1056"/>
              <a:ext cx="336" cy="1392"/>
            </a:xfrm>
            <a:prstGeom prst="rightBrace">
              <a:avLst>
                <a:gd name="adj1" fmla="val 3452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1800" b="1"/>
            </a:p>
          </p:txBody>
        </p:sp>
        <p:sp>
          <p:nvSpPr>
            <p:cNvPr id="5128" name="Text Box 14"/>
            <p:cNvSpPr txBox="1">
              <a:spLocks noChangeArrowheads="1"/>
            </p:cNvSpPr>
            <p:nvPr/>
          </p:nvSpPr>
          <p:spPr bwMode="auto">
            <a:xfrm>
              <a:off x="1968" y="1597"/>
              <a:ext cx="12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感知外界信息</a:t>
              </a:r>
            </a:p>
          </p:txBody>
        </p:sp>
        <p:sp>
          <p:nvSpPr>
            <p:cNvPr id="5129" name="Line 15"/>
            <p:cNvSpPr>
              <a:spLocks noChangeShapeType="1"/>
            </p:cNvSpPr>
            <p:nvPr/>
          </p:nvSpPr>
          <p:spPr bwMode="auto">
            <a:xfrm>
              <a:off x="3216" y="17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" name="Text Box 16"/>
            <p:cNvSpPr txBox="1">
              <a:spLocks noChangeArrowheads="1"/>
            </p:cNvSpPr>
            <p:nvPr/>
          </p:nvSpPr>
          <p:spPr bwMode="auto">
            <a:xfrm>
              <a:off x="3582" y="1602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大脑</a:t>
              </a:r>
            </a:p>
          </p:txBody>
        </p:sp>
        <p:sp>
          <p:nvSpPr>
            <p:cNvPr id="5131" name="Line 17"/>
            <p:cNvSpPr>
              <a:spLocks noChangeShapeType="1"/>
            </p:cNvSpPr>
            <p:nvPr/>
          </p:nvSpPr>
          <p:spPr bwMode="auto">
            <a:xfrm>
              <a:off x="4080" y="17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2" name="Text Box 18"/>
            <p:cNvSpPr txBox="1">
              <a:spLocks noChangeArrowheads="1"/>
            </p:cNvSpPr>
            <p:nvPr/>
          </p:nvSpPr>
          <p:spPr bwMode="auto">
            <a:xfrm>
              <a:off x="4320" y="1631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肌体</a:t>
              </a:r>
            </a:p>
          </p:txBody>
        </p:sp>
      </p:grpSp>
      <p:sp>
        <p:nvSpPr>
          <p:cNvPr id="149522" name="Text Box 18"/>
          <p:cNvSpPr txBox="1">
            <a:spLocks noChangeArrowheads="1"/>
          </p:cNvSpPr>
          <p:nvPr/>
        </p:nvSpPr>
        <p:spPr bwMode="auto">
          <a:xfrm>
            <a:off x="304800" y="1600200"/>
            <a:ext cx="547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just" eaLnBrk="1" hangingPunct="1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1" lang="zh-CN" altLang="en-US" sz="28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人体系统和机器系统比较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209142" y="363984"/>
            <a:ext cx="5156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1557AE"/>
                </a:solidFill>
              </a:rPr>
              <a:t>传感器应用</a:t>
            </a:r>
          </a:p>
        </p:txBody>
      </p:sp>
    </p:spTree>
    <p:extLst>
      <p:ext uri="{BB962C8B-B14F-4D97-AF65-F5344CB8AC3E}">
        <p14:creationId xmlns:p14="http://schemas.microsoft.com/office/powerpoint/2010/main" val="51323656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3D31F65A-933C-4E53-ADC8-3ADE3F3A1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4312" y="700088"/>
            <a:ext cx="8229600" cy="549275"/>
          </a:xfrm>
          <a:noFill/>
        </p:spPr>
        <p:txBody>
          <a:bodyPr/>
          <a:lstStyle/>
          <a:p>
            <a:r>
              <a:rPr kumimoji="1" lang="zh-CN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人体系统和机器系统比较</a:t>
            </a:r>
            <a:br>
              <a:rPr kumimoji="1" lang="zh-CN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</a:br>
            <a:endParaRPr lang="zh-CN" altLang="en-US" dirty="0"/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A25005F9-FD4E-42AE-980C-FB502FC7F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507" y="1805781"/>
            <a:ext cx="8077200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楷体_GB2312" pitchFamily="49" charset="-122"/>
              </a:rPr>
              <a:t>如果用机器完成这一过程，计算机相当人的大脑，执行机构相当人的肌体，传感器相当于人的五官和皮肤。</a:t>
            </a:r>
          </a:p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楷体_GB2312" pitchFamily="49" charset="-122"/>
              </a:rPr>
              <a:t>传感器好比人体感官的延长，有人又称</a:t>
            </a:r>
            <a:r>
              <a:rPr kumimoji="1" lang="zh-CN" altLang="en-US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“</a:t>
            </a:r>
            <a:r>
              <a:rPr kumimoji="1" lang="zh-CN" altLang="en-US" sz="2400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楷体_GB2312" pitchFamily="49" charset="-122"/>
              </a:rPr>
              <a:t>电五官</a:t>
            </a:r>
            <a:r>
              <a:rPr kumimoji="1" lang="zh-CN" altLang="en-US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”</a:t>
            </a:r>
            <a:r>
              <a:rPr kumimoji="1" lang="zh-CN" altLang="en-US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楷体_GB2312" pitchFamily="49" charset="-122"/>
              </a:rPr>
              <a:t>。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8AA864BF-485B-4308-9A85-9B5A72CD2D7D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622674"/>
            <a:ext cx="7632700" cy="2209800"/>
            <a:chOff x="864" y="2448"/>
            <a:chExt cx="4176" cy="1392"/>
          </a:xfrm>
        </p:grpSpPr>
        <p:sp>
          <p:nvSpPr>
            <p:cNvPr id="150537" name="Rectangle 9">
              <a:extLst>
                <a:ext uri="{FF2B5EF4-FFF2-40B4-BE49-F238E27FC236}">
                  <a16:creationId xmlns:a16="http://schemas.microsoft.com/office/drawing/2014/main" id="{1CA97FCA-E769-4016-8269-428854975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264"/>
              <a:ext cx="768" cy="384"/>
            </a:xfrm>
            <a:prstGeom prst="rect">
              <a:avLst/>
            </a:prstGeom>
            <a:gradFill rotWithShape="0">
              <a:gsLst>
                <a:gs pos="0">
                  <a:srgbClr val="766060"/>
                </a:gs>
                <a:gs pos="50000">
                  <a:srgbClr val="FFCFCF"/>
                </a:gs>
                <a:gs pos="100000">
                  <a:srgbClr val="766060"/>
                </a:gs>
              </a:gsLst>
              <a:lin ang="27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zh-CN" altLang="en-US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宋体" charset="-122"/>
                  <a:ea typeface="楷体_GB2312" pitchFamily="49" charset="-122"/>
                </a:rPr>
                <a:t>传感器</a:t>
              </a:r>
            </a:p>
          </p:txBody>
        </p:sp>
        <p:sp>
          <p:nvSpPr>
            <p:cNvPr id="150538" name="Rectangle 10">
              <a:extLst>
                <a:ext uri="{FF2B5EF4-FFF2-40B4-BE49-F238E27FC236}">
                  <a16:creationId xmlns:a16="http://schemas.microsoft.com/office/drawing/2014/main" id="{B26D0EAE-2047-42B6-B26B-C62A6A104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640"/>
              <a:ext cx="480" cy="960"/>
            </a:xfrm>
            <a:prstGeom prst="rect">
              <a:avLst/>
            </a:prstGeom>
            <a:gradFill rotWithShape="0">
              <a:gsLst>
                <a:gs pos="0">
                  <a:srgbClr val="766060"/>
                </a:gs>
                <a:gs pos="50000">
                  <a:srgbClr val="FFCFCF"/>
                </a:gs>
                <a:gs pos="100000">
                  <a:srgbClr val="766060"/>
                </a:gs>
              </a:gsLst>
              <a:lin ang="27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zh-CN" altLang="en-US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宋体" charset="-122"/>
                  <a:ea typeface="楷体_GB2312" pitchFamily="49" charset="-122"/>
                </a:rPr>
                <a:t>外</a:t>
              </a:r>
            </a:p>
            <a:p>
              <a:pPr algn="ctr">
                <a:defRPr/>
              </a:pPr>
              <a:r>
                <a:rPr kumimoji="1" lang="zh-CN" altLang="en-US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宋体" charset="-122"/>
                  <a:ea typeface="楷体_GB2312" pitchFamily="49" charset="-122"/>
                </a:rPr>
                <a:t>界</a:t>
              </a:r>
            </a:p>
            <a:p>
              <a:pPr algn="ctr">
                <a:defRPr/>
              </a:pPr>
              <a:r>
                <a:rPr kumimoji="1" lang="zh-CN" altLang="en-US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宋体" charset="-122"/>
                  <a:ea typeface="楷体_GB2312" pitchFamily="49" charset="-122"/>
                </a:rPr>
                <a:t>信</a:t>
              </a:r>
            </a:p>
            <a:p>
              <a:pPr algn="ctr">
                <a:defRPr/>
              </a:pPr>
              <a:r>
                <a:rPr kumimoji="1" lang="zh-CN" altLang="en-US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宋体" charset="-122"/>
                  <a:ea typeface="楷体_GB2312" pitchFamily="49" charset="-122"/>
                </a:rPr>
                <a:t>息</a:t>
              </a:r>
            </a:p>
          </p:txBody>
        </p:sp>
        <p:sp>
          <p:nvSpPr>
            <p:cNvPr id="150539" name="Rectangle 11">
              <a:extLst>
                <a:ext uri="{FF2B5EF4-FFF2-40B4-BE49-F238E27FC236}">
                  <a16:creationId xmlns:a16="http://schemas.microsoft.com/office/drawing/2014/main" id="{FF549A79-CCE7-4C65-9A36-9411CDC6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640"/>
              <a:ext cx="816" cy="384"/>
            </a:xfrm>
            <a:prstGeom prst="rect">
              <a:avLst/>
            </a:prstGeom>
            <a:gradFill rotWithShape="0">
              <a:gsLst>
                <a:gs pos="0">
                  <a:srgbClr val="766060"/>
                </a:gs>
                <a:gs pos="50000">
                  <a:srgbClr val="FFCFCF"/>
                </a:gs>
                <a:gs pos="100000">
                  <a:srgbClr val="766060"/>
                </a:gs>
              </a:gsLst>
              <a:lin ang="27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zh-CN" altLang="en-US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宋体" charset="-122"/>
                  <a:ea typeface="楷体_GB2312" pitchFamily="49" charset="-122"/>
                </a:rPr>
                <a:t>感  官</a:t>
              </a:r>
            </a:p>
          </p:txBody>
        </p:sp>
        <p:sp>
          <p:nvSpPr>
            <p:cNvPr id="150540" name="Rectangle 12">
              <a:extLst>
                <a:ext uri="{FF2B5EF4-FFF2-40B4-BE49-F238E27FC236}">
                  <a16:creationId xmlns:a16="http://schemas.microsoft.com/office/drawing/2014/main" id="{53A25BE0-75E0-4C27-9E3F-661A9F762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640"/>
              <a:ext cx="864" cy="384"/>
            </a:xfrm>
            <a:prstGeom prst="rect">
              <a:avLst/>
            </a:prstGeom>
            <a:gradFill rotWithShape="0">
              <a:gsLst>
                <a:gs pos="0">
                  <a:srgbClr val="766060"/>
                </a:gs>
                <a:gs pos="50000">
                  <a:srgbClr val="FFCFCF"/>
                </a:gs>
                <a:gs pos="100000">
                  <a:srgbClr val="766060"/>
                </a:gs>
              </a:gsLst>
              <a:lin ang="27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zh-CN" altLang="en-US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宋体" charset="-122"/>
                  <a:ea typeface="楷体_GB2312" pitchFamily="49" charset="-122"/>
                </a:rPr>
                <a:t>大  脑</a:t>
              </a:r>
            </a:p>
          </p:txBody>
        </p:sp>
        <p:sp>
          <p:nvSpPr>
            <p:cNvPr id="150541" name="Rectangle 13">
              <a:extLst>
                <a:ext uri="{FF2B5EF4-FFF2-40B4-BE49-F238E27FC236}">
                  <a16:creationId xmlns:a16="http://schemas.microsoft.com/office/drawing/2014/main" id="{0FEA251E-5121-43AD-A3A9-C8029C4EF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640"/>
              <a:ext cx="816" cy="384"/>
            </a:xfrm>
            <a:prstGeom prst="rect">
              <a:avLst/>
            </a:prstGeom>
            <a:gradFill rotWithShape="0">
              <a:gsLst>
                <a:gs pos="0">
                  <a:srgbClr val="766060"/>
                </a:gs>
                <a:gs pos="50000">
                  <a:srgbClr val="FFCFCF"/>
                </a:gs>
                <a:gs pos="100000">
                  <a:srgbClr val="766060"/>
                </a:gs>
              </a:gsLst>
              <a:lin ang="27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zh-CN" altLang="en-US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宋体" charset="-122"/>
                  <a:ea typeface="楷体_GB2312" pitchFamily="49" charset="-122"/>
                </a:rPr>
                <a:t>肌  体</a:t>
              </a:r>
            </a:p>
          </p:txBody>
        </p:sp>
        <p:sp>
          <p:nvSpPr>
            <p:cNvPr id="150542" name="Rectangle 14">
              <a:extLst>
                <a:ext uri="{FF2B5EF4-FFF2-40B4-BE49-F238E27FC236}">
                  <a16:creationId xmlns:a16="http://schemas.microsoft.com/office/drawing/2014/main" id="{64620F25-ECEB-4C86-843F-428BD009A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3264"/>
              <a:ext cx="816" cy="384"/>
            </a:xfrm>
            <a:prstGeom prst="rect">
              <a:avLst/>
            </a:prstGeom>
            <a:gradFill rotWithShape="0">
              <a:gsLst>
                <a:gs pos="0">
                  <a:srgbClr val="766060"/>
                </a:gs>
                <a:gs pos="50000">
                  <a:srgbClr val="FFCFCF"/>
                </a:gs>
                <a:gs pos="100000">
                  <a:srgbClr val="766060"/>
                </a:gs>
              </a:gsLst>
              <a:lin ang="27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zh-CN" altLang="en-US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宋体" charset="-122"/>
                  <a:ea typeface="楷体_GB2312" pitchFamily="49" charset="-122"/>
                </a:rPr>
                <a:t>计算机</a:t>
              </a:r>
            </a:p>
          </p:txBody>
        </p:sp>
        <p:sp>
          <p:nvSpPr>
            <p:cNvPr id="150543" name="Rectangle 15">
              <a:extLst>
                <a:ext uri="{FF2B5EF4-FFF2-40B4-BE49-F238E27FC236}">
                  <a16:creationId xmlns:a16="http://schemas.microsoft.com/office/drawing/2014/main" id="{15CC18EA-214C-42A7-9F5C-C5EBCB183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216"/>
              <a:ext cx="768" cy="432"/>
            </a:xfrm>
            <a:prstGeom prst="rect">
              <a:avLst/>
            </a:prstGeom>
            <a:gradFill rotWithShape="0">
              <a:gsLst>
                <a:gs pos="0">
                  <a:srgbClr val="766060"/>
                </a:gs>
                <a:gs pos="50000">
                  <a:srgbClr val="FFCFCF"/>
                </a:gs>
                <a:gs pos="100000">
                  <a:srgbClr val="766060"/>
                </a:gs>
              </a:gsLst>
              <a:lin ang="27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zh-CN" altLang="en-US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宋体" charset="-122"/>
                  <a:ea typeface="楷体_GB2312" pitchFamily="49" charset="-122"/>
                </a:rPr>
                <a:t>执行机构</a:t>
              </a:r>
            </a:p>
          </p:txBody>
        </p:sp>
        <p:sp>
          <p:nvSpPr>
            <p:cNvPr id="22541" name="Line 16">
              <a:extLst>
                <a:ext uri="{FF2B5EF4-FFF2-40B4-BE49-F238E27FC236}">
                  <a16:creationId xmlns:a16="http://schemas.microsoft.com/office/drawing/2014/main" id="{89D6BCBC-7544-4D86-BCDF-79CE0AC034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832"/>
              <a:ext cx="38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2" name="Line 17">
              <a:extLst>
                <a:ext uri="{FF2B5EF4-FFF2-40B4-BE49-F238E27FC236}">
                  <a16:creationId xmlns:a16="http://schemas.microsoft.com/office/drawing/2014/main" id="{D2E1843C-2C4C-439A-BE7B-B17C617E7F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456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3" name="Line 18">
              <a:extLst>
                <a:ext uri="{FF2B5EF4-FFF2-40B4-BE49-F238E27FC236}">
                  <a16:creationId xmlns:a16="http://schemas.microsoft.com/office/drawing/2014/main" id="{0BB929AB-991E-417B-A90D-B4FB0AAFF6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456"/>
              <a:ext cx="33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4" name="Line 19">
              <a:extLst>
                <a:ext uri="{FF2B5EF4-FFF2-40B4-BE49-F238E27FC236}">
                  <a16:creationId xmlns:a16="http://schemas.microsoft.com/office/drawing/2014/main" id="{04055BE0-4C90-4C9E-B801-5A5AD6909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832"/>
              <a:ext cx="24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5" name="Line 20">
              <a:extLst>
                <a:ext uri="{FF2B5EF4-FFF2-40B4-BE49-F238E27FC236}">
                  <a16:creationId xmlns:a16="http://schemas.microsoft.com/office/drawing/2014/main" id="{9CC297F0-65EA-4F81-9E60-637BAD5923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832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Line 21">
              <a:extLst>
                <a:ext uri="{FF2B5EF4-FFF2-40B4-BE49-F238E27FC236}">
                  <a16:creationId xmlns:a16="http://schemas.microsoft.com/office/drawing/2014/main" id="{A4EB9EBD-4ED4-4536-A020-407FA43314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456"/>
              <a:ext cx="38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Line 22">
              <a:extLst>
                <a:ext uri="{FF2B5EF4-FFF2-40B4-BE49-F238E27FC236}">
                  <a16:creationId xmlns:a16="http://schemas.microsoft.com/office/drawing/2014/main" id="{04E5814D-050D-400D-A56F-E1233D3522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3600"/>
              <a:ext cx="0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23">
              <a:extLst>
                <a:ext uri="{FF2B5EF4-FFF2-40B4-BE49-F238E27FC236}">
                  <a16:creationId xmlns:a16="http://schemas.microsoft.com/office/drawing/2014/main" id="{18113325-3825-4092-89E2-014D20615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448"/>
              <a:ext cx="0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Line 24">
              <a:extLst>
                <a:ext uri="{FF2B5EF4-FFF2-40B4-BE49-F238E27FC236}">
                  <a16:creationId xmlns:a16="http://schemas.microsoft.com/office/drawing/2014/main" id="{4C72193E-37F3-4127-AE7C-AD55F5C71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832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25">
              <a:extLst>
                <a:ext uri="{FF2B5EF4-FFF2-40B4-BE49-F238E27FC236}">
                  <a16:creationId xmlns:a16="http://schemas.microsoft.com/office/drawing/2014/main" id="{A98F9169-4574-463A-8B25-FB934C0BE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448"/>
              <a:ext cx="393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26">
              <a:extLst>
                <a:ext uri="{FF2B5EF4-FFF2-40B4-BE49-F238E27FC236}">
                  <a16:creationId xmlns:a16="http://schemas.microsoft.com/office/drawing/2014/main" id="{8E0E6A53-9867-487F-9659-7D2EBA2082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40" y="2448"/>
              <a:ext cx="0" cy="38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Line 27">
              <a:extLst>
                <a:ext uri="{FF2B5EF4-FFF2-40B4-BE49-F238E27FC236}">
                  <a16:creationId xmlns:a16="http://schemas.microsoft.com/office/drawing/2014/main" id="{7938C1C7-1F44-421A-84C8-DBA9285A7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840"/>
              <a:ext cx="393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Line 28">
              <a:extLst>
                <a:ext uri="{FF2B5EF4-FFF2-40B4-BE49-F238E27FC236}">
                  <a16:creationId xmlns:a16="http://schemas.microsoft.com/office/drawing/2014/main" id="{A13FAC8E-D698-4532-8F4A-85C7B58C4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3456"/>
              <a:ext cx="33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4" name="Line 29">
              <a:extLst>
                <a:ext uri="{FF2B5EF4-FFF2-40B4-BE49-F238E27FC236}">
                  <a16:creationId xmlns:a16="http://schemas.microsoft.com/office/drawing/2014/main" id="{20EE687C-E236-4BB9-89B9-5461301BD9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40" y="3456"/>
              <a:ext cx="0" cy="38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8">
            <a:extLst>
              <a:ext uri="{FF2B5EF4-FFF2-40B4-BE49-F238E27FC236}">
                <a16:creationId xmlns:a16="http://schemas.microsoft.com/office/drawing/2014/main" id="{189B9834-DE9B-4CE2-AA54-937DE0E7E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547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just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1" lang="zh-CN" altLang="en-US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日常生活中的传感器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FAE9673B-EDA3-49E5-B456-7DB479C9D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981200"/>
            <a:ext cx="8305800" cy="4142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20000"/>
              </a:spcBef>
              <a:buClr>
                <a:schemeClr val="accent1"/>
              </a:buClr>
              <a:buFontTx/>
              <a:buChar char="•"/>
              <a:defRPr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电冰箱、电饭煲中的温度传感器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;</a:t>
            </a:r>
          </a:p>
          <a:p>
            <a:pPr algn="just">
              <a:spcBef>
                <a:spcPct val="20000"/>
              </a:spcBef>
              <a:buClr>
                <a:schemeClr val="accent1"/>
              </a:buClr>
              <a:buFontTx/>
              <a:buChar char="•"/>
              <a:defRPr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空调中的温度和湿度传感器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;</a:t>
            </a:r>
          </a:p>
          <a:p>
            <a:pPr algn="just">
              <a:spcBef>
                <a:spcPct val="20000"/>
              </a:spcBef>
              <a:buClr>
                <a:schemeClr val="accent1"/>
              </a:buClr>
              <a:buFontTx/>
              <a:buChar char="•"/>
              <a:defRPr/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煤气灶中的煤气泄漏传感器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;</a:t>
            </a:r>
          </a:p>
          <a:p>
            <a:pPr algn="just">
              <a:spcBef>
                <a:spcPct val="20000"/>
              </a:spcBef>
              <a:buClr>
                <a:schemeClr val="accent1"/>
              </a:buClr>
              <a:buFontTx/>
              <a:buChar char="•"/>
              <a:defRPr/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水表、电表、流量电量传感器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;</a:t>
            </a:r>
          </a:p>
          <a:p>
            <a:pPr algn="just">
              <a:spcBef>
                <a:spcPct val="20000"/>
              </a:spcBef>
              <a:buClr>
                <a:schemeClr val="accent1"/>
              </a:buClr>
              <a:buFontTx/>
              <a:buChar char="•"/>
              <a:defRPr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电视机和影碟机中的红外遥控器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;      </a:t>
            </a:r>
          </a:p>
          <a:p>
            <a:pPr algn="just">
              <a:spcBef>
                <a:spcPct val="20000"/>
              </a:spcBef>
              <a:buClr>
                <a:schemeClr val="accent1"/>
              </a:buClr>
              <a:buFontTx/>
              <a:buChar char="•"/>
              <a:defRPr/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照相机中的光传感器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;</a:t>
            </a:r>
          </a:p>
          <a:p>
            <a:pPr algn="just">
              <a:spcBef>
                <a:spcPct val="20000"/>
              </a:spcBef>
              <a:buClr>
                <a:schemeClr val="accent1"/>
              </a:buClr>
              <a:buFontTx/>
              <a:buChar char="•"/>
              <a:defRPr/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汽车中燃料计和速度计等等，不胜枚举。</a:t>
            </a:r>
          </a:p>
          <a:p>
            <a:pPr algn="just">
              <a:spcBef>
                <a:spcPct val="20000"/>
              </a:spcBef>
              <a:buClr>
                <a:srgbClr val="FFCFCF"/>
              </a:buClr>
              <a:buFont typeface="Wingdings" pitchFamily="2" charset="2"/>
              <a:buChar char="Ø"/>
              <a:defRPr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传感器给我们的生活带来了诸多便利</a:t>
            </a:r>
          </a:p>
        </p:txBody>
      </p:sp>
    </p:spTree>
    <p:extLst>
      <p:ext uri="{BB962C8B-B14F-4D97-AF65-F5344CB8AC3E}">
        <p14:creationId xmlns:p14="http://schemas.microsoft.com/office/powerpoint/2010/main" val="204009549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404" y="852949"/>
            <a:ext cx="6880183" cy="510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48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4"/>
          <p:cNvSpPr txBox="1">
            <a:spLocks noChangeArrowheads="1"/>
          </p:cNvSpPr>
          <p:nvPr/>
        </p:nvSpPr>
        <p:spPr bwMode="auto">
          <a:xfrm>
            <a:off x="7812088" y="6165850"/>
            <a:ext cx="639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姜哲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2054" y="1406467"/>
            <a:ext cx="7550465" cy="3170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buFont typeface="Wingdings" charset="0"/>
              <a:buChar char="l"/>
            </a:pPr>
            <a:r>
              <a:rPr lang="en-US" altLang="zh-CN" sz="4000" noProof="1">
                <a:latin typeface="Arial" charset="0"/>
                <a:ea typeface="宋体" charset="-122"/>
                <a:cs typeface="+mn-ea"/>
              </a:rPr>
              <a:t>I2C</a:t>
            </a:r>
            <a:r>
              <a:rPr lang="zh-CN" altLang="en-US" sz="4000" noProof="1">
                <a:latin typeface="Arial" charset="0"/>
                <a:ea typeface="宋体" charset="-122"/>
                <a:cs typeface="+mn-ea"/>
              </a:rPr>
              <a:t>接口通信</a:t>
            </a:r>
            <a:endParaRPr lang="zh-CN" altLang="en-US" sz="4000" noProof="1"/>
          </a:p>
          <a:p>
            <a:pPr>
              <a:buFont typeface="Wingdings" charset="0"/>
              <a:buNone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      </a:t>
            </a:r>
          </a:p>
          <a:p>
            <a:pPr>
              <a:buFont typeface="Wingdings" charset="0"/>
              <a:buNone/>
            </a:pPr>
            <a:endParaRPr lang="en-US" altLang="zh-CN" sz="2800" noProof="1"/>
          </a:p>
          <a:p>
            <a:pPr marL="457200" indent="-457200">
              <a:buFont typeface="Wingdings" charset="0"/>
              <a:buChar char="l"/>
            </a:pPr>
            <a:r>
              <a:rPr lang="en-US" altLang="zh-CN" sz="2800" noProof="1">
                <a:latin typeface="Arial" charset="0"/>
                <a:ea typeface="宋体" charset="-122"/>
                <a:cs typeface="+mn-ea"/>
              </a:rPr>
              <a:t>CC3200</a:t>
            </a: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的</a:t>
            </a:r>
            <a:r>
              <a:rPr lang="en-US" altLang="zh-CN" sz="2800" noProof="1">
                <a:latin typeface="Arial" charset="0"/>
                <a:ea typeface="宋体" charset="-122"/>
                <a:cs typeface="+mn-ea"/>
              </a:rPr>
              <a:t>I2C</a:t>
            </a: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应用  </a:t>
            </a:r>
            <a:endParaRPr lang="en-US" altLang="zh-CN" sz="2800" noProof="1">
              <a:latin typeface="Arial" charset="0"/>
              <a:ea typeface="宋体" charset="-122"/>
              <a:cs typeface="+mn-ea"/>
            </a:endParaRPr>
          </a:p>
          <a:p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      </a:t>
            </a:r>
            <a:r>
              <a:rPr lang="en-US" altLang="zh-CN" sz="2800" noProof="1">
                <a:latin typeface="Arial" charset="0"/>
                <a:ea typeface="宋体" charset="-122"/>
                <a:cs typeface="+mn-ea"/>
              </a:rPr>
              <a:t>CC3200LP---TMP006</a:t>
            </a: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温度传感器</a:t>
            </a:r>
            <a:endParaRPr lang="en-US" altLang="zh-CN" sz="2800" noProof="1">
              <a:latin typeface="Arial" charset="0"/>
              <a:ea typeface="宋体" charset="-122"/>
              <a:cs typeface="+mn-ea"/>
            </a:endParaRPr>
          </a:p>
          <a:p>
            <a:pPr>
              <a:buFont typeface="Wingdings" charset="0"/>
              <a:buNone/>
            </a:pPr>
            <a:r>
              <a:rPr lang="en-US" altLang="zh-CN" sz="2800" noProof="1">
                <a:latin typeface="Arial" charset="0"/>
                <a:ea typeface="宋体" charset="-122"/>
                <a:cs typeface="+mn-ea"/>
              </a:rPr>
              <a:t>      CC3200LP---BMA222</a:t>
            </a: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三轴加速度传感器</a:t>
            </a:r>
            <a:r>
              <a:rPr lang="en-US" altLang="zh-CN" sz="2800" noProof="1">
                <a:latin typeface="Arial" charset="0"/>
                <a:ea typeface="宋体" charset="-122"/>
                <a:cs typeface="+mn-ea"/>
              </a:rPr>
              <a:t>    </a:t>
            </a:r>
            <a:endParaRPr lang="en-US" altLang="zh-CN" sz="2800" noProof="1"/>
          </a:p>
          <a:p>
            <a:pPr>
              <a:buFont typeface="Wingdings" charset="0"/>
              <a:buNone/>
            </a:pPr>
            <a:endParaRPr lang="en-US" altLang="zh-CN" sz="2800" noProof="1"/>
          </a:p>
        </p:txBody>
      </p:sp>
    </p:spTree>
    <p:extLst>
      <p:ext uri="{BB962C8B-B14F-4D97-AF65-F5344CB8AC3E}">
        <p14:creationId xmlns:p14="http://schemas.microsoft.com/office/powerpoint/2010/main" val="86664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6" name="文本框 1"/>
          <p:cNvSpPr txBox="1">
            <a:spLocks noChangeArrowheads="1"/>
          </p:cNvSpPr>
          <p:nvPr/>
        </p:nvSpPr>
        <p:spPr bwMode="auto">
          <a:xfrm>
            <a:off x="242888" y="182563"/>
            <a:ext cx="4246562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/>
              <a:t>核心板：</a:t>
            </a:r>
            <a:r>
              <a:rPr lang="en-US" altLang="zh-CN" sz="3600"/>
              <a:t>CC3200LP</a:t>
            </a:r>
          </a:p>
        </p:txBody>
      </p:sp>
      <p:sp>
        <p:nvSpPr>
          <p:cNvPr id="6147" name="文本框 3"/>
          <p:cNvSpPr txBox="1">
            <a:spLocks noChangeArrowheads="1"/>
          </p:cNvSpPr>
          <p:nvPr/>
        </p:nvSpPr>
        <p:spPr bwMode="auto">
          <a:xfrm>
            <a:off x="5651500" y="333375"/>
            <a:ext cx="26479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CC3200LP</a:t>
            </a:r>
            <a:r>
              <a:rPr lang="zh-CN" altLang="en-US"/>
              <a:t>版本号：</a:t>
            </a:r>
            <a:r>
              <a:rPr lang="en-US" altLang="zh-CN"/>
              <a:t>v4.1</a:t>
            </a:r>
          </a:p>
        </p:txBody>
      </p:sp>
      <p:pic>
        <p:nvPicPr>
          <p:cNvPr id="6148" name="图片 307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25" y="1555750"/>
            <a:ext cx="3017838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线形标注 2 30726"/>
          <p:cNvSpPr>
            <a:spLocks/>
          </p:cNvSpPr>
          <p:nvPr/>
        </p:nvSpPr>
        <p:spPr bwMode="auto">
          <a:xfrm>
            <a:off x="3421063" y="2060575"/>
            <a:ext cx="1800225" cy="1223963"/>
          </a:xfrm>
          <a:prstGeom prst="borderCallout2">
            <a:avLst>
              <a:gd name="adj1" fmla="val 9338"/>
              <a:gd name="adj2" fmla="val -4231"/>
              <a:gd name="adj3" fmla="val 9338"/>
              <a:gd name="adj4" fmla="val -77468"/>
              <a:gd name="adj5" fmla="val -26764"/>
              <a:gd name="adj6" fmla="val -87870"/>
            </a:avLst>
          </a:prstGeom>
          <a:solidFill>
            <a:schemeClr val="bg1">
              <a:alpha val="0"/>
            </a:schemeClr>
          </a:solidFill>
          <a:ln w="25400">
            <a:solidFill>
              <a:srgbClr val="00FF00"/>
            </a:solidFill>
            <a:miter lim="800000"/>
            <a:headEnd/>
            <a:tailEnd/>
          </a:ln>
        </p:spPr>
        <p:txBody>
          <a:bodyPr lIns="90170" tIns="46990" rIns="90170" bIns="46990"/>
          <a:lstStyle/>
          <a:p>
            <a:pPr algn="ctr"/>
            <a:endParaRPr lang="zh-CN" altLang="zh-CN"/>
          </a:p>
        </p:txBody>
      </p:sp>
      <p:sp>
        <p:nvSpPr>
          <p:cNvPr id="6150" name="文本框 30727"/>
          <p:cNvSpPr txBox="1">
            <a:spLocks noChangeArrowheads="1"/>
          </p:cNvSpPr>
          <p:nvPr/>
        </p:nvSpPr>
        <p:spPr bwMode="auto">
          <a:xfrm>
            <a:off x="1404938" y="1411288"/>
            <a:ext cx="868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仿真器</a:t>
            </a:r>
          </a:p>
        </p:txBody>
      </p:sp>
      <p:sp>
        <p:nvSpPr>
          <p:cNvPr id="6151" name="线形标注 2 30728"/>
          <p:cNvSpPr>
            <a:spLocks/>
          </p:cNvSpPr>
          <p:nvPr/>
        </p:nvSpPr>
        <p:spPr bwMode="auto">
          <a:xfrm>
            <a:off x="3492500" y="4105275"/>
            <a:ext cx="433388" cy="1223963"/>
          </a:xfrm>
          <a:prstGeom prst="borderCallout2">
            <a:avLst>
              <a:gd name="adj1" fmla="val 9338"/>
              <a:gd name="adj2" fmla="val -17597"/>
              <a:gd name="adj3" fmla="val 9338"/>
              <a:gd name="adj4" fmla="val -69796"/>
              <a:gd name="adj5" fmla="val -13435"/>
              <a:gd name="adj6" fmla="val -258653"/>
            </a:avLst>
          </a:prstGeom>
          <a:solidFill>
            <a:schemeClr val="bg1">
              <a:alpha val="0"/>
            </a:schemeClr>
          </a:solidFill>
          <a:ln w="25400">
            <a:solidFill>
              <a:srgbClr val="00FF00"/>
            </a:solidFill>
            <a:miter lim="800000"/>
            <a:headEnd/>
            <a:tailEnd/>
          </a:ln>
        </p:spPr>
        <p:txBody>
          <a:bodyPr lIns="90170" tIns="46990" rIns="90170" bIns="46990"/>
          <a:lstStyle/>
          <a:p>
            <a:pPr algn="ctr"/>
            <a:endParaRPr lang="zh-CN" altLang="zh-CN"/>
          </a:p>
        </p:txBody>
      </p:sp>
      <p:sp>
        <p:nvSpPr>
          <p:cNvPr id="6152" name="线形标注 2 30729"/>
          <p:cNvSpPr>
            <a:spLocks/>
          </p:cNvSpPr>
          <p:nvPr/>
        </p:nvSpPr>
        <p:spPr bwMode="auto">
          <a:xfrm>
            <a:off x="4286250" y="4057650"/>
            <a:ext cx="1295400" cy="1152525"/>
          </a:xfrm>
          <a:prstGeom prst="borderCallout2">
            <a:avLst>
              <a:gd name="adj1" fmla="val 9921"/>
              <a:gd name="adj2" fmla="val -5884"/>
              <a:gd name="adj3" fmla="val 9921"/>
              <a:gd name="adj4" fmla="val -9412"/>
              <a:gd name="adj5" fmla="val -65657"/>
              <a:gd name="adj6" fmla="val -166324"/>
            </a:avLst>
          </a:prstGeom>
          <a:solidFill>
            <a:schemeClr val="bg1">
              <a:alpha val="0"/>
            </a:schemeClr>
          </a:solidFill>
          <a:ln w="25400">
            <a:solidFill>
              <a:srgbClr val="00FF00"/>
            </a:solidFill>
            <a:miter lim="800000"/>
            <a:headEnd/>
            <a:tailEnd/>
          </a:ln>
        </p:spPr>
        <p:txBody>
          <a:bodyPr lIns="90170" tIns="46990" rIns="90170" bIns="46990"/>
          <a:lstStyle/>
          <a:p>
            <a:pPr algn="ctr"/>
            <a:endParaRPr lang="zh-CN" altLang="zh-CN"/>
          </a:p>
        </p:txBody>
      </p:sp>
      <p:sp>
        <p:nvSpPr>
          <p:cNvPr id="6153" name="文本框 30730"/>
          <p:cNvSpPr txBox="1">
            <a:spLocks noChangeArrowheads="1"/>
          </p:cNvSpPr>
          <p:nvPr/>
        </p:nvSpPr>
        <p:spPr bwMode="auto">
          <a:xfrm>
            <a:off x="1784350" y="2917825"/>
            <a:ext cx="1020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CC3200</a:t>
            </a:r>
          </a:p>
        </p:txBody>
      </p:sp>
      <p:sp>
        <p:nvSpPr>
          <p:cNvPr id="6154" name="文本框 30731"/>
          <p:cNvSpPr txBox="1">
            <a:spLocks noChangeArrowheads="1"/>
          </p:cNvSpPr>
          <p:nvPr/>
        </p:nvSpPr>
        <p:spPr bwMode="auto">
          <a:xfrm>
            <a:off x="1679575" y="3613150"/>
            <a:ext cx="1225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TI-BP接口</a:t>
            </a:r>
          </a:p>
        </p:txBody>
      </p:sp>
      <p:sp>
        <p:nvSpPr>
          <p:cNvPr id="6155" name="线形标注 2 30732"/>
          <p:cNvSpPr>
            <a:spLocks/>
          </p:cNvSpPr>
          <p:nvPr/>
        </p:nvSpPr>
        <p:spPr bwMode="auto">
          <a:xfrm>
            <a:off x="3708400" y="6019800"/>
            <a:ext cx="288925" cy="288925"/>
          </a:xfrm>
          <a:prstGeom prst="borderCallout2">
            <a:avLst>
              <a:gd name="adj1" fmla="val 39648"/>
              <a:gd name="adj2" fmla="val -26431"/>
              <a:gd name="adj3" fmla="val 39648"/>
              <a:gd name="adj4" fmla="val -73569"/>
              <a:gd name="adj5" fmla="val -60792"/>
              <a:gd name="adj6" fmla="val -243394"/>
            </a:avLst>
          </a:prstGeom>
          <a:solidFill>
            <a:schemeClr val="bg1">
              <a:alpha val="0"/>
            </a:schemeClr>
          </a:solidFill>
          <a:ln w="25400">
            <a:solidFill>
              <a:srgbClr val="00FF00"/>
            </a:solidFill>
            <a:miter lim="800000"/>
            <a:headEnd/>
            <a:tailEnd/>
          </a:ln>
        </p:spPr>
        <p:txBody>
          <a:bodyPr lIns="90170" tIns="46990" rIns="90170" bIns="46990"/>
          <a:lstStyle/>
          <a:p>
            <a:pPr algn="ctr"/>
            <a:endParaRPr lang="zh-CN" altLang="zh-CN"/>
          </a:p>
        </p:txBody>
      </p:sp>
      <p:sp>
        <p:nvSpPr>
          <p:cNvPr id="6156" name="文本框 30733"/>
          <p:cNvSpPr txBox="1">
            <a:spLocks noChangeArrowheads="1"/>
          </p:cNvSpPr>
          <p:nvPr/>
        </p:nvSpPr>
        <p:spPr bwMode="auto">
          <a:xfrm>
            <a:off x="2197100" y="5445125"/>
            <a:ext cx="10969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用户按键</a:t>
            </a:r>
          </a:p>
        </p:txBody>
      </p:sp>
      <p:sp>
        <p:nvSpPr>
          <p:cNvPr id="6157" name="线形标注 2 30734"/>
          <p:cNvSpPr>
            <a:spLocks/>
          </p:cNvSpPr>
          <p:nvPr/>
        </p:nvSpPr>
        <p:spPr bwMode="auto">
          <a:xfrm>
            <a:off x="4140200" y="5876925"/>
            <a:ext cx="720725" cy="431800"/>
          </a:xfrm>
          <a:prstGeom prst="borderCallout2">
            <a:avLst>
              <a:gd name="adj1" fmla="val 26472"/>
              <a:gd name="adj2" fmla="val 110593"/>
              <a:gd name="adj3" fmla="val 26472"/>
              <a:gd name="adj4" fmla="val 121977"/>
              <a:gd name="adj5" fmla="val 138384"/>
              <a:gd name="adj6" fmla="val 169815"/>
            </a:avLst>
          </a:prstGeom>
          <a:solidFill>
            <a:schemeClr val="bg1">
              <a:alpha val="0"/>
            </a:schemeClr>
          </a:solidFill>
          <a:ln w="25400">
            <a:solidFill>
              <a:srgbClr val="00FF00"/>
            </a:solidFill>
            <a:miter lim="800000"/>
            <a:headEnd/>
            <a:tailEnd/>
          </a:ln>
        </p:spPr>
        <p:txBody>
          <a:bodyPr lIns="90170" tIns="46990" rIns="90170" bIns="46990"/>
          <a:lstStyle/>
          <a:p>
            <a:pPr algn="ctr"/>
            <a:endParaRPr lang="zh-CN" altLang="zh-CN"/>
          </a:p>
        </p:txBody>
      </p:sp>
      <p:sp>
        <p:nvSpPr>
          <p:cNvPr id="6158" name="线形标注 2 30735"/>
          <p:cNvSpPr>
            <a:spLocks/>
          </p:cNvSpPr>
          <p:nvPr/>
        </p:nvSpPr>
        <p:spPr bwMode="auto">
          <a:xfrm>
            <a:off x="5868988" y="2492375"/>
            <a:ext cx="433387" cy="719138"/>
          </a:xfrm>
          <a:prstGeom prst="borderCallout2">
            <a:avLst>
              <a:gd name="adj1" fmla="val 15875"/>
              <a:gd name="adj2" fmla="val 117597"/>
              <a:gd name="adj3" fmla="val 15875"/>
              <a:gd name="adj4" fmla="val 134310"/>
              <a:gd name="adj5" fmla="val 64815"/>
              <a:gd name="adj6" fmla="val 205134"/>
            </a:avLst>
          </a:prstGeom>
          <a:solidFill>
            <a:schemeClr val="bg1">
              <a:alpha val="0"/>
            </a:schemeClr>
          </a:solidFill>
          <a:ln w="25400">
            <a:solidFill>
              <a:srgbClr val="00FF00"/>
            </a:solidFill>
            <a:miter lim="800000"/>
            <a:headEnd/>
            <a:tailEnd/>
          </a:ln>
        </p:spPr>
        <p:txBody>
          <a:bodyPr lIns="90170" tIns="46990" rIns="90170" bIns="46990"/>
          <a:lstStyle/>
          <a:p>
            <a:pPr algn="ctr"/>
            <a:endParaRPr lang="zh-CN" altLang="zh-CN"/>
          </a:p>
        </p:txBody>
      </p:sp>
      <p:sp>
        <p:nvSpPr>
          <p:cNvPr id="6159" name="线形标注 2 30736"/>
          <p:cNvSpPr>
            <a:spLocks/>
          </p:cNvSpPr>
          <p:nvPr/>
        </p:nvSpPr>
        <p:spPr bwMode="auto">
          <a:xfrm>
            <a:off x="3852863" y="3500438"/>
            <a:ext cx="2447925" cy="433387"/>
          </a:xfrm>
          <a:prstGeom prst="borderCallout2">
            <a:avLst>
              <a:gd name="adj1" fmla="val 26394"/>
              <a:gd name="adj2" fmla="val 103111"/>
              <a:gd name="adj3" fmla="val 26394"/>
              <a:gd name="adj4" fmla="val 113148"/>
              <a:gd name="adj5" fmla="val 109972"/>
              <a:gd name="adj6" fmla="val 123185"/>
            </a:avLst>
          </a:prstGeom>
          <a:solidFill>
            <a:schemeClr val="bg1">
              <a:alpha val="0"/>
            </a:schemeClr>
          </a:solidFill>
          <a:ln w="25400">
            <a:solidFill>
              <a:srgbClr val="00FF00"/>
            </a:solidFill>
            <a:miter lim="800000"/>
            <a:headEnd/>
            <a:tailEnd/>
          </a:ln>
        </p:spPr>
        <p:txBody>
          <a:bodyPr lIns="90170" tIns="46990" rIns="90170" bIns="46990"/>
          <a:lstStyle/>
          <a:p>
            <a:pPr algn="ctr"/>
            <a:endParaRPr lang="zh-CN" altLang="zh-CN"/>
          </a:p>
        </p:txBody>
      </p:sp>
      <p:sp>
        <p:nvSpPr>
          <p:cNvPr id="6160" name="文本框 30738"/>
          <p:cNvSpPr txBox="1">
            <a:spLocks noChangeArrowheads="1"/>
          </p:cNvSpPr>
          <p:nvPr/>
        </p:nvSpPr>
        <p:spPr bwMode="auto">
          <a:xfrm>
            <a:off x="6689725" y="2889250"/>
            <a:ext cx="868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传感器</a:t>
            </a:r>
          </a:p>
        </p:txBody>
      </p:sp>
      <p:sp>
        <p:nvSpPr>
          <p:cNvPr id="6161" name="文本框 30739"/>
          <p:cNvSpPr txBox="1">
            <a:spLocks noChangeArrowheads="1"/>
          </p:cNvSpPr>
          <p:nvPr/>
        </p:nvSpPr>
        <p:spPr bwMode="auto">
          <a:xfrm>
            <a:off x="6699250" y="3927475"/>
            <a:ext cx="1555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功能选择跳帽</a:t>
            </a:r>
          </a:p>
        </p:txBody>
      </p:sp>
      <p:sp>
        <p:nvSpPr>
          <p:cNvPr id="6162" name="线形标注 2 30740"/>
          <p:cNvSpPr>
            <a:spLocks/>
          </p:cNvSpPr>
          <p:nvPr/>
        </p:nvSpPr>
        <p:spPr bwMode="auto">
          <a:xfrm>
            <a:off x="5868988" y="1916113"/>
            <a:ext cx="360362" cy="431800"/>
          </a:xfrm>
          <a:prstGeom prst="borderCallout2">
            <a:avLst>
              <a:gd name="adj1" fmla="val 26472"/>
              <a:gd name="adj2" fmla="val 121125"/>
              <a:gd name="adj3" fmla="val 26472"/>
              <a:gd name="adj4" fmla="val 143486"/>
              <a:gd name="adj5" fmla="val 70000"/>
              <a:gd name="adj6" fmla="val 238380"/>
            </a:avLst>
          </a:prstGeom>
          <a:solidFill>
            <a:schemeClr val="bg1">
              <a:alpha val="0"/>
            </a:schemeClr>
          </a:solidFill>
          <a:ln w="25400">
            <a:solidFill>
              <a:srgbClr val="00FF00"/>
            </a:solidFill>
            <a:miter lim="800000"/>
            <a:headEnd/>
            <a:tailEnd/>
          </a:ln>
        </p:spPr>
        <p:txBody>
          <a:bodyPr lIns="90170" tIns="46990" rIns="90170" bIns="46990"/>
          <a:lstStyle/>
          <a:p>
            <a:pPr algn="ctr"/>
            <a:endParaRPr lang="zh-CN" altLang="zh-CN"/>
          </a:p>
        </p:txBody>
      </p:sp>
      <p:sp>
        <p:nvSpPr>
          <p:cNvPr id="6163" name="文本框 30741"/>
          <p:cNvSpPr txBox="1">
            <a:spLocks noChangeArrowheads="1"/>
          </p:cNvSpPr>
          <p:nvPr/>
        </p:nvSpPr>
        <p:spPr bwMode="auto">
          <a:xfrm>
            <a:off x="6661150" y="2276475"/>
            <a:ext cx="10969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复位按键</a:t>
            </a:r>
          </a:p>
        </p:txBody>
      </p:sp>
      <p:sp>
        <p:nvSpPr>
          <p:cNvPr id="6164" name="线形标注 2 30742"/>
          <p:cNvSpPr>
            <a:spLocks/>
          </p:cNvSpPr>
          <p:nvPr/>
        </p:nvSpPr>
        <p:spPr bwMode="auto">
          <a:xfrm>
            <a:off x="3636963" y="1484313"/>
            <a:ext cx="360362" cy="431800"/>
          </a:xfrm>
          <a:prstGeom prst="borderCallout2">
            <a:avLst>
              <a:gd name="adj1" fmla="val 26472"/>
              <a:gd name="adj2" fmla="val 121125"/>
              <a:gd name="adj3" fmla="val 26472"/>
              <a:gd name="adj4" fmla="val 148417"/>
              <a:gd name="adj5" fmla="val -42500"/>
              <a:gd name="adj6" fmla="val 264787"/>
            </a:avLst>
          </a:prstGeom>
          <a:solidFill>
            <a:schemeClr val="bg1">
              <a:alpha val="0"/>
            </a:schemeClr>
          </a:solidFill>
          <a:ln w="25400">
            <a:solidFill>
              <a:srgbClr val="00FF00"/>
            </a:solidFill>
            <a:miter lim="800000"/>
            <a:headEnd/>
            <a:tailEnd/>
          </a:ln>
        </p:spPr>
        <p:txBody>
          <a:bodyPr lIns="90170" tIns="46990" rIns="90170" bIns="46990"/>
          <a:lstStyle/>
          <a:p>
            <a:pPr algn="ctr"/>
            <a:endParaRPr lang="zh-CN" altLang="zh-CN"/>
          </a:p>
        </p:txBody>
      </p:sp>
      <p:sp>
        <p:nvSpPr>
          <p:cNvPr id="6165" name="文本框 30743"/>
          <p:cNvSpPr txBox="1">
            <a:spLocks noChangeArrowheads="1"/>
          </p:cNvSpPr>
          <p:nvPr/>
        </p:nvSpPr>
        <p:spPr bwMode="auto">
          <a:xfrm>
            <a:off x="4500563" y="1052513"/>
            <a:ext cx="8810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USB口</a:t>
            </a:r>
          </a:p>
        </p:txBody>
      </p:sp>
      <p:sp>
        <p:nvSpPr>
          <p:cNvPr id="6166" name="文本框 30737"/>
          <p:cNvSpPr txBox="1">
            <a:spLocks noChangeArrowheads="1"/>
          </p:cNvSpPr>
          <p:nvPr/>
        </p:nvSpPr>
        <p:spPr bwMode="auto">
          <a:xfrm>
            <a:off x="4867275" y="6515100"/>
            <a:ext cx="1312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三色LED灯</a:t>
            </a:r>
          </a:p>
        </p:txBody>
      </p:sp>
    </p:spTree>
    <p:extLst>
      <p:ext uri="{BB962C8B-B14F-4D97-AF65-F5344CB8AC3E}">
        <p14:creationId xmlns:p14="http://schemas.microsoft.com/office/powerpoint/2010/main" val="4219813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51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40963" name="文本占位符 512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pic>
        <p:nvPicPr>
          <p:cNvPr id="40964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文本框 5124"/>
          <p:cNvSpPr txBox="1">
            <a:spLocks noChangeArrowheads="1"/>
          </p:cNvSpPr>
          <p:nvPr/>
        </p:nvSpPr>
        <p:spPr bwMode="auto">
          <a:xfrm>
            <a:off x="0" y="0"/>
            <a:ext cx="32940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/>
              <a:t>CC3200---&gt;I2C</a:t>
            </a:r>
          </a:p>
        </p:txBody>
      </p:sp>
      <p:sp>
        <p:nvSpPr>
          <p:cNvPr id="40966" name="文本框 5125"/>
          <p:cNvSpPr txBox="1">
            <a:spLocks noChangeArrowheads="1"/>
          </p:cNvSpPr>
          <p:nvPr/>
        </p:nvSpPr>
        <p:spPr bwMode="auto">
          <a:xfrm>
            <a:off x="1588" y="817563"/>
            <a:ext cx="91440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dirty="0"/>
              <a:t>I2C的参考设计使用一个7位长度地址空间，其中广播</a:t>
            </a:r>
            <a:endParaRPr lang="en-US" altLang="zh-CN" sz="2800" dirty="0"/>
          </a:p>
          <a:p>
            <a:pPr>
              <a:spcBef>
                <a:spcPct val="0"/>
              </a:spcBef>
              <a:buNone/>
            </a:pPr>
            <a:r>
              <a:rPr lang="zh-CN" altLang="en-US" sz="2800" dirty="0"/>
              <a:t>地址全为</a:t>
            </a:r>
            <a:r>
              <a:rPr lang="en-US" altLang="zh-CN" sz="2800" dirty="0"/>
              <a:t>0</a:t>
            </a:r>
            <a:r>
              <a:rPr lang="zh-CN" altLang="en-US" sz="2800" dirty="0"/>
              <a:t>，可和12</a:t>
            </a:r>
            <a:r>
              <a:rPr lang="en-US" altLang="zh-CN" sz="2800" dirty="0"/>
              <a:t>7</a:t>
            </a:r>
            <a:r>
              <a:rPr lang="zh-CN" altLang="en-US" sz="2800" dirty="0"/>
              <a:t>个节点进行通讯。</a:t>
            </a:r>
          </a:p>
        </p:txBody>
      </p:sp>
      <p:pic>
        <p:nvPicPr>
          <p:cNvPr id="40967" name="图片 51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205038"/>
            <a:ext cx="698182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8" name="文本框 5127"/>
          <p:cNvSpPr txBox="1">
            <a:spLocks noChangeArrowheads="1"/>
          </p:cNvSpPr>
          <p:nvPr/>
        </p:nvSpPr>
        <p:spPr bwMode="auto">
          <a:xfrm>
            <a:off x="107950" y="4510088"/>
            <a:ext cx="8712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/>
              <a:t>I2C使用两条开漏线进行传输，使用时一般上拉一个电阻，两条线分别为数据线和时钟线。PS:上拉电阻大小根据总线电容和上升时间而定。</a:t>
            </a:r>
          </a:p>
        </p:txBody>
      </p:sp>
    </p:spTree>
    <p:extLst>
      <p:ext uri="{BB962C8B-B14F-4D97-AF65-F5344CB8AC3E}">
        <p14:creationId xmlns:p14="http://schemas.microsoft.com/office/powerpoint/2010/main" val="3126481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51313" y="398142"/>
            <a:ext cx="758467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charset="0"/>
              <a:buChar char="l"/>
            </a:pPr>
            <a:r>
              <a:rPr lang="en-US" altLang="zh-CN" sz="4000" dirty="0"/>
              <a:t>I2C</a:t>
            </a:r>
            <a:r>
              <a:rPr lang="zh-CN" altLang="en-US" sz="4000" dirty="0"/>
              <a:t>总线</a:t>
            </a:r>
            <a:endParaRPr lang="en-US" altLang="zh-CN" sz="2800" noProof="1"/>
          </a:p>
          <a:p>
            <a:r>
              <a:rPr lang="en-US" altLang="zh-CN" sz="2000" dirty="0"/>
              <a:t>    I2C</a:t>
            </a:r>
            <a:r>
              <a:rPr lang="zh-CN" altLang="en-US" sz="2000" dirty="0"/>
              <a:t>总线是双向、两线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FF0000"/>
                </a:solidFill>
              </a:rPr>
              <a:t>SCL</a:t>
            </a:r>
            <a:r>
              <a:rPr lang="zh-CN" altLang="en-US" sz="2000" dirty="0"/>
              <a:t>、</a:t>
            </a:r>
            <a:r>
              <a:rPr lang="en-US" altLang="zh-CN" sz="2000" dirty="0"/>
              <a:t>SDA)</a:t>
            </a:r>
            <a:r>
              <a:rPr lang="zh-CN" altLang="en-US" sz="2000" dirty="0"/>
              <a:t>、串行、多主控（</a:t>
            </a:r>
            <a:r>
              <a:rPr lang="en-US" altLang="zh-CN" sz="2000" dirty="0"/>
              <a:t>multi-master</a:t>
            </a:r>
            <a:r>
              <a:rPr lang="zh-CN" altLang="en-US" sz="2000" dirty="0"/>
              <a:t>）</a:t>
            </a:r>
            <a:r>
              <a:rPr lang="zh-CN" altLang="en-US" sz="2000" dirty="0">
                <a:solidFill>
                  <a:srgbClr val="FF0000"/>
                </a:solidFill>
              </a:rPr>
              <a:t>同步串行通信</a:t>
            </a:r>
            <a:r>
              <a:rPr lang="zh-CN" altLang="en-US" sz="2000" dirty="0"/>
              <a:t>接口标准，具有总线仲裁机制，非常适合在器件之间进行近距离、非经常性的数据通信。在它的协议体系中，传输数据时都会带上目的设备的设备地址，因此可以实现设备组网。</a:t>
            </a:r>
            <a:endParaRPr lang="en-US" altLang="zh-CN" sz="2000" dirty="0"/>
          </a:p>
          <a:p>
            <a:r>
              <a:rPr lang="zh-CN" altLang="en-US" sz="2000" dirty="0"/>
              <a:t>    如果用通用</a:t>
            </a:r>
            <a:r>
              <a:rPr lang="en-US" altLang="zh-CN" sz="2000" dirty="0"/>
              <a:t>IO</a:t>
            </a:r>
            <a:r>
              <a:rPr lang="zh-CN" altLang="en-US" sz="2000" dirty="0"/>
              <a:t>口模拟</a:t>
            </a:r>
            <a:r>
              <a:rPr lang="en-US" altLang="zh-CN" sz="2000" dirty="0"/>
              <a:t>I2C</a:t>
            </a:r>
            <a:r>
              <a:rPr lang="zh-CN" altLang="en-US" sz="2000" dirty="0"/>
              <a:t>总线，并实现双向传输，一条串行数据线</a:t>
            </a:r>
            <a:r>
              <a:rPr lang="en-US" altLang="zh-CN" sz="2000" dirty="0"/>
              <a:t>SDA</a:t>
            </a:r>
            <a:r>
              <a:rPr lang="zh-CN" altLang="en-US" sz="2000" dirty="0"/>
              <a:t>，一条串行时钟线</a:t>
            </a:r>
            <a:r>
              <a:rPr lang="en-US" altLang="zh-CN" sz="2000" dirty="0"/>
              <a:t>SCL</a:t>
            </a:r>
            <a:endParaRPr lang="zh-CN" altLang="en-US" sz="2000" dirty="0"/>
          </a:p>
          <a:p>
            <a:r>
              <a:rPr lang="zh-CN" altLang="en-US" sz="2000" dirty="0"/>
              <a:t>     </a:t>
            </a:r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 </a:t>
            </a:r>
            <a:endParaRPr lang="en-US" altLang="zh-CN" sz="2000" noProof="1"/>
          </a:p>
          <a:p>
            <a:pPr>
              <a:buFont typeface="Wingdings" charset="0"/>
              <a:buNone/>
            </a:pPr>
            <a:endParaRPr lang="en-US" altLang="zh-CN" sz="2800" noProof="1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122A4E-F3EF-4758-BD8F-9E1644A0B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874" y="2969703"/>
            <a:ext cx="6746610" cy="3860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380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 I2C</a:t>
            </a:r>
            <a:r>
              <a:rPr lang="zh-CN" altLang="en-US" dirty="0"/>
              <a:t>基本时序</a:t>
            </a:r>
          </a:p>
        </p:txBody>
      </p:sp>
      <p:sp>
        <p:nvSpPr>
          <p:cNvPr id="46083" name="内容占位符 2"/>
          <p:cNvSpPr>
            <a:spLocks noGrp="1"/>
          </p:cNvSpPr>
          <p:nvPr>
            <p:ph idx="4294967295"/>
          </p:nvPr>
        </p:nvSpPr>
        <p:spPr>
          <a:xfrm>
            <a:off x="122238" y="9906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Master</a:t>
            </a:r>
            <a:r>
              <a:rPr lang="zh-CN" altLang="en-US" sz="2800" dirty="0"/>
              <a:t>每发送完</a:t>
            </a:r>
            <a:r>
              <a:rPr lang="en-US" altLang="zh-CN" sz="2800" dirty="0"/>
              <a:t>8bit</a:t>
            </a:r>
            <a:r>
              <a:rPr lang="zh-CN" altLang="en-US" sz="2800" dirty="0"/>
              <a:t>数据后等待</a:t>
            </a:r>
            <a:r>
              <a:rPr lang="en-US" altLang="zh-CN" sz="2800" dirty="0"/>
              <a:t>Slave</a:t>
            </a:r>
            <a:r>
              <a:rPr lang="zh-CN" altLang="en-US" sz="2800" dirty="0"/>
              <a:t>的</a:t>
            </a:r>
            <a:r>
              <a:rPr lang="en-US" altLang="zh-CN" sz="2800" dirty="0"/>
              <a:t>ACK</a:t>
            </a:r>
            <a:r>
              <a:rPr lang="zh-CN" altLang="en-US" sz="2800" dirty="0"/>
              <a:t>。</a:t>
            </a:r>
            <a:br>
              <a:rPr lang="zh-CN" altLang="en-US" sz="2800" dirty="0"/>
            </a:br>
            <a:r>
              <a:rPr lang="zh-CN" altLang="en-US" sz="2800" dirty="0"/>
              <a:t>   即在第</a:t>
            </a:r>
            <a:r>
              <a:rPr lang="en-US" altLang="zh-CN" sz="2800" dirty="0"/>
              <a:t>9</a:t>
            </a:r>
            <a:r>
              <a:rPr lang="zh-CN" altLang="en-US" sz="2800" dirty="0"/>
              <a:t>个</a:t>
            </a:r>
            <a:r>
              <a:rPr lang="en-US" altLang="zh-CN" sz="2800" dirty="0"/>
              <a:t>clock</a:t>
            </a:r>
            <a:r>
              <a:rPr lang="zh-CN" altLang="en-US" sz="2800" dirty="0"/>
              <a:t>，若从</a:t>
            </a:r>
            <a:r>
              <a:rPr lang="en-US" altLang="zh-CN" sz="2800" dirty="0"/>
              <a:t>IC</a:t>
            </a:r>
            <a:r>
              <a:rPr lang="zh-CN" altLang="en-US" sz="2800" dirty="0"/>
              <a:t>发</a:t>
            </a:r>
            <a:r>
              <a:rPr lang="en-US" altLang="zh-CN" sz="2800" dirty="0"/>
              <a:t>ACK</a:t>
            </a:r>
            <a:r>
              <a:rPr lang="zh-CN" altLang="en-US" sz="2800" dirty="0"/>
              <a:t>，</a:t>
            </a:r>
            <a:r>
              <a:rPr lang="en-US" altLang="zh-CN" sz="2800" dirty="0"/>
              <a:t>SDA</a:t>
            </a:r>
            <a:r>
              <a:rPr lang="zh-CN" altLang="en-US" sz="2800" dirty="0"/>
              <a:t>会被拉低。</a:t>
            </a:r>
            <a:br>
              <a:rPr lang="zh-CN" altLang="en-US" sz="2800" dirty="0"/>
            </a:br>
            <a:r>
              <a:rPr lang="zh-CN" altLang="en-US" sz="2800" dirty="0"/>
              <a:t>   若没有</a:t>
            </a:r>
            <a:r>
              <a:rPr lang="en-US" altLang="zh-CN" sz="2800" dirty="0"/>
              <a:t>ACK</a:t>
            </a:r>
            <a:r>
              <a:rPr lang="zh-CN" altLang="en-US" sz="2800" dirty="0"/>
              <a:t>，</a:t>
            </a:r>
            <a:r>
              <a:rPr lang="en-US" altLang="zh-CN" sz="2800" dirty="0"/>
              <a:t>SDA</a:t>
            </a:r>
            <a:r>
              <a:rPr lang="zh-CN" altLang="en-US" sz="2800" dirty="0"/>
              <a:t>会被置高，这会引起</a:t>
            </a:r>
            <a:r>
              <a:rPr lang="en-US" altLang="zh-CN" sz="2800" dirty="0"/>
              <a:t>Master</a:t>
            </a:r>
            <a:r>
              <a:rPr lang="zh-CN" altLang="en-US" sz="2800" dirty="0"/>
              <a:t>发生</a:t>
            </a:r>
            <a:r>
              <a:rPr lang="en-US" altLang="zh-CN" sz="2800" dirty="0"/>
              <a:t>RESTART</a:t>
            </a:r>
            <a:r>
              <a:rPr lang="zh-CN" altLang="en-US" sz="2800" dirty="0"/>
              <a:t>或</a:t>
            </a:r>
            <a:r>
              <a:rPr lang="en-US" altLang="zh-CN" sz="2800" dirty="0"/>
              <a:t>STOP</a:t>
            </a:r>
            <a:r>
              <a:rPr lang="zh-CN" altLang="en-US" sz="2800" dirty="0"/>
              <a:t>流程，如下所示：</a:t>
            </a:r>
          </a:p>
        </p:txBody>
      </p:sp>
      <p:pic>
        <p:nvPicPr>
          <p:cNvPr id="4608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076700"/>
            <a:ext cx="7956550" cy="200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7871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317500" y="7493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en-US" altLang="zh-CN" b="1" dirty="0"/>
              <a:t>I2C</a:t>
            </a:r>
            <a:r>
              <a:rPr lang="zh-CN" altLang="en-US" b="1" dirty="0"/>
              <a:t>写流程</a:t>
            </a:r>
            <a:br>
              <a:rPr lang="zh-CN" altLang="en-US" dirty="0"/>
            </a:br>
            <a:r>
              <a:rPr lang="zh-CN" altLang="en-US" dirty="0"/>
              <a:t>写寄存器的标准流程为：</a:t>
            </a:r>
            <a:br>
              <a:rPr lang="zh-CN" altLang="en-US" dirty="0"/>
            </a:br>
            <a:r>
              <a:rPr lang="en-US" altLang="zh-CN" dirty="0"/>
              <a:t>1.    Master</a:t>
            </a:r>
            <a:r>
              <a:rPr lang="zh-CN" altLang="en-US" dirty="0"/>
              <a:t>发起</a:t>
            </a:r>
            <a:r>
              <a:rPr lang="en-US" altLang="zh-CN" dirty="0"/>
              <a:t>START</a:t>
            </a:r>
            <a:br>
              <a:rPr lang="en-US" altLang="zh-CN" dirty="0"/>
            </a:br>
            <a:r>
              <a:rPr lang="en-US" altLang="zh-CN" dirty="0"/>
              <a:t>2.    Master</a:t>
            </a:r>
            <a:r>
              <a:rPr lang="zh-CN" altLang="en-US" dirty="0"/>
              <a:t>发送</a:t>
            </a:r>
            <a:r>
              <a:rPr lang="en-US" altLang="zh-CN" dirty="0"/>
              <a:t>I2C </a:t>
            </a:r>
            <a:r>
              <a:rPr lang="en-US" altLang="zh-CN" dirty="0" err="1"/>
              <a:t>addr</a:t>
            </a:r>
            <a:r>
              <a:rPr lang="zh-CN" altLang="en-US" dirty="0"/>
              <a:t>（</a:t>
            </a:r>
            <a:r>
              <a:rPr lang="en-US" altLang="zh-CN" dirty="0"/>
              <a:t>7bit</a:t>
            </a:r>
            <a:r>
              <a:rPr lang="zh-CN" altLang="en-US" dirty="0"/>
              <a:t>）和</a:t>
            </a:r>
            <a:r>
              <a:rPr lang="en-US" altLang="zh-CN" dirty="0"/>
              <a:t>w</a:t>
            </a:r>
            <a:r>
              <a:rPr lang="zh-CN" altLang="en-US" dirty="0"/>
              <a:t>操作</a:t>
            </a:r>
            <a:r>
              <a:rPr lang="en-US" altLang="zh-CN" dirty="0"/>
              <a:t>0</a:t>
            </a:r>
            <a:r>
              <a:rPr lang="zh-CN" altLang="en-US" dirty="0"/>
              <a:t>（</a:t>
            </a:r>
            <a:r>
              <a:rPr lang="en-US" altLang="zh-CN" dirty="0"/>
              <a:t>1bit</a:t>
            </a:r>
            <a:r>
              <a:rPr lang="zh-CN" altLang="en-US" dirty="0"/>
              <a:t>），等待</a:t>
            </a:r>
            <a:r>
              <a:rPr lang="en-US" altLang="zh-CN" dirty="0"/>
              <a:t>ACK</a:t>
            </a:r>
            <a:br>
              <a:rPr lang="en-US" altLang="zh-CN" dirty="0"/>
            </a:br>
            <a:r>
              <a:rPr lang="en-US" altLang="zh-CN" dirty="0"/>
              <a:t>3.    Slave</a:t>
            </a:r>
            <a:r>
              <a:rPr lang="zh-CN" altLang="en-US" dirty="0"/>
              <a:t>发送</a:t>
            </a:r>
            <a:r>
              <a:rPr lang="en-US" altLang="zh-CN" dirty="0"/>
              <a:t>ACK</a:t>
            </a:r>
            <a:br>
              <a:rPr lang="en-US" altLang="zh-CN" dirty="0"/>
            </a:br>
            <a:r>
              <a:rPr lang="en-US" altLang="zh-CN" dirty="0"/>
              <a:t>4.    Master</a:t>
            </a:r>
            <a:r>
              <a:rPr lang="zh-CN" altLang="en-US" dirty="0"/>
              <a:t>发送</a:t>
            </a:r>
            <a:r>
              <a:rPr lang="en-US" altLang="zh-CN" dirty="0" err="1"/>
              <a:t>reg</a:t>
            </a:r>
            <a:r>
              <a:rPr lang="en-US" altLang="zh-CN" dirty="0"/>
              <a:t> </a:t>
            </a:r>
            <a:r>
              <a:rPr lang="en-US" altLang="zh-CN" dirty="0" err="1"/>
              <a:t>addr</a:t>
            </a:r>
            <a:r>
              <a:rPr lang="zh-CN" altLang="en-US" dirty="0"/>
              <a:t>（</a:t>
            </a:r>
            <a:r>
              <a:rPr lang="en-US" altLang="zh-CN" dirty="0"/>
              <a:t>8bit</a:t>
            </a:r>
            <a:r>
              <a:rPr lang="zh-CN" altLang="en-US" dirty="0"/>
              <a:t>），等待</a:t>
            </a:r>
            <a:r>
              <a:rPr lang="en-US" altLang="zh-CN" dirty="0"/>
              <a:t>ACK</a:t>
            </a:r>
            <a:br>
              <a:rPr lang="en-US" altLang="zh-CN" dirty="0"/>
            </a:br>
            <a:r>
              <a:rPr lang="en-US" altLang="zh-CN" dirty="0"/>
              <a:t>5.    Slave</a:t>
            </a:r>
            <a:r>
              <a:rPr lang="zh-CN" altLang="en-US" dirty="0"/>
              <a:t>发送</a:t>
            </a:r>
            <a:r>
              <a:rPr lang="en-US" altLang="zh-CN" dirty="0"/>
              <a:t>ACK</a:t>
            </a:r>
            <a:br>
              <a:rPr lang="en-US" altLang="zh-CN" dirty="0"/>
            </a:br>
            <a:r>
              <a:rPr lang="en-US" altLang="zh-CN" dirty="0"/>
              <a:t>6.   </a:t>
            </a:r>
            <a:r>
              <a:rPr lang="en-US" altLang="zh-CN" u="sng" dirty="0"/>
              <a:t>Master</a:t>
            </a:r>
            <a:r>
              <a:rPr lang="zh-CN" altLang="en-US" dirty="0"/>
              <a:t>发送</a:t>
            </a:r>
            <a:r>
              <a:rPr lang="en-US" altLang="zh-CN" dirty="0"/>
              <a:t>data</a:t>
            </a:r>
            <a:r>
              <a:rPr lang="zh-CN" altLang="en-US" dirty="0"/>
              <a:t>（</a:t>
            </a:r>
            <a:r>
              <a:rPr lang="en-US" altLang="zh-CN" dirty="0"/>
              <a:t>8bit</a:t>
            </a:r>
            <a:r>
              <a:rPr lang="zh-CN" altLang="en-US" dirty="0"/>
              <a:t>），即要写入寄存器中的数据，等待</a:t>
            </a:r>
            <a:r>
              <a:rPr lang="en-US" altLang="zh-CN" dirty="0"/>
              <a:t>ACK</a:t>
            </a:r>
            <a:br>
              <a:rPr lang="en-US" altLang="zh-CN" dirty="0"/>
            </a:br>
            <a:r>
              <a:rPr lang="en-US" altLang="zh-CN" dirty="0"/>
              <a:t>7.    Slave</a:t>
            </a:r>
            <a:r>
              <a:rPr lang="zh-CN" altLang="en-US" dirty="0"/>
              <a:t>发送</a:t>
            </a:r>
            <a:r>
              <a:rPr lang="en-US" altLang="zh-CN" dirty="0"/>
              <a:t>ACK</a:t>
            </a:r>
            <a:br>
              <a:rPr lang="en-US" altLang="zh-CN" dirty="0"/>
            </a:br>
            <a:r>
              <a:rPr lang="en-US" altLang="zh-CN" dirty="0"/>
              <a:t>8.    </a:t>
            </a:r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步和第</a:t>
            </a:r>
            <a:r>
              <a:rPr lang="en-US" altLang="zh-CN" dirty="0"/>
              <a:t>7</a:t>
            </a:r>
            <a:r>
              <a:rPr lang="zh-CN" altLang="en-US" dirty="0"/>
              <a:t>步可以重复多次，即顺序写多个寄存器</a:t>
            </a:r>
            <a:br>
              <a:rPr lang="zh-CN" altLang="en-US" dirty="0"/>
            </a:br>
            <a:r>
              <a:rPr lang="en-US" altLang="zh-CN" dirty="0"/>
              <a:t>9.    Master</a:t>
            </a:r>
            <a:r>
              <a:rPr lang="zh-CN" altLang="en-US" dirty="0"/>
              <a:t>发起</a:t>
            </a:r>
            <a:r>
              <a:rPr lang="en-US" altLang="zh-CN" dirty="0"/>
              <a:t>STOP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0385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6D52AFC-D376-4871-92B9-BFE32DA78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81" y="2005168"/>
            <a:ext cx="8647112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2F1ED70-2158-48F3-8049-5D3007EDBD4B}"/>
              </a:ext>
            </a:extLst>
          </p:cNvPr>
          <p:cNvSpPr txBox="1">
            <a:spLocks noChangeArrowheads="1"/>
          </p:cNvSpPr>
          <p:nvPr/>
        </p:nvSpPr>
        <p:spPr>
          <a:xfrm>
            <a:off x="1540538" y="879167"/>
            <a:ext cx="5761037" cy="4254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/>
              <a:t>当从设备有片内寄存器时的写时序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1820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b="1"/>
              <a:t> I2C</a:t>
            </a:r>
            <a:r>
              <a:rPr lang="zh-CN" altLang="en-US" b="1"/>
              <a:t>读流程</a:t>
            </a:r>
            <a:endParaRPr lang="zh-CN" altLang="en-US"/>
          </a:p>
        </p:txBody>
      </p:sp>
      <p:sp>
        <p:nvSpPr>
          <p:cNvPr id="50179" name="内容占位符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zh-CN" altLang="en-US" sz="2400"/>
              <a:t>读寄存器的标准流程为：</a:t>
            </a:r>
            <a:br>
              <a:rPr lang="zh-CN" altLang="en-US" sz="2400"/>
            </a:br>
            <a:r>
              <a:rPr lang="en-US" altLang="zh-CN" sz="2400"/>
              <a:t>1.    Master</a:t>
            </a:r>
            <a:r>
              <a:rPr lang="zh-CN" altLang="en-US" sz="2400"/>
              <a:t>发送</a:t>
            </a:r>
            <a:r>
              <a:rPr lang="en-US" altLang="zh-CN" sz="2400"/>
              <a:t>I2Caddr</a:t>
            </a:r>
            <a:r>
              <a:rPr lang="zh-CN" altLang="en-US" sz="2400"/>
              <a:t>（</a:t>
            </a:r>
            <a:r>
              <a:rPr lang="en-US" altLang="zh-CN" sz="2400"/>
              <a:t>7bit</a:t>
            </a:r>
            <a:r>
              <a:rPr lang="zh-CN" altLang="en-US" sz="2400"/>
              <a:t>）和 </a:t>
            </a:r>
            <a:r>
              <a:rPr lang="en-US" altLang="zh-CN" sz="2400" u="sng"/>
              <a:t>W</a:t>
            </a:r>
            <a:r>
              <a:rPr lang="zh-CN" altLang="en-US" sz="2400" u="sng"/>
              <a:t>操作</a:t>
            </a:r>
            <a:r>
              <a:rPr lang="en-US" altLang="zh-CN" sz="2400" u="sng"/>
              <a:t>1</a:t>
            </a:r>
            <a:r>
              <a:rPr lang="zh-CN" altLang="en-US" sz="2400" u="sng"/>
              <a:t>（</a:t>
            </a:r>
            <a:r>
              <a:rPr lang="en-US" altLang="zh-CN" sz="2400" u="sng"/>
              <a:t>1bit</a:t>
            </a:r>
            <a:r>
              <a:rPr lang="zh-CN" altLang="en-US" sz="2400" u="sng"/>
              <a:t>）</a:t>
            </a:r>
            <a:r>
              <a:rPr lang="zh-CN" altLang="en-US" sz="2400"/>
              <a:t>，等待</a:t>
            </a:r>
            <a:r>
              <a:rPr lang="en-US" altLang="zh-CN" sz="2400"/>
              <a:t>ACK</a:t>
            </a:r>
            <a:br>
              <a:rPr lang="en-US" altLang="zh-CN" sz="2400"/>
            </a:br>
            <a:r>
              <a:rPr lang="en-US" altLang="zh-CN" sz="2400"/>
              <a:t>2.    Slave</a:t>
            </a:r>
            <a:r>
              <a:rPr lang="zh-CN" altLang="en-US" sz="2400"/>
              <a:t>发送</a:t>
            </a:r>
            <a:r>
              <a:rPr lang="en-US" altLang="zh-CN" sz="2400"/>
              <a:t>ACK</a:t>
            </a:r>
            <a:br>
              <a:rPr lang="en-US" altLang="zh-CN" sz="2400"/>
            </a:br>
            <a:r>
              <a:rPr lang="en-US" altLang="zh-CN" sz="2400"/>
              <a:t>3.    Master</a:t>
            </a:r>
            <a:r>
              <a:rPr lang="zh-CN" altLang="en-US" sz="2400"/>
              <a:t>发送</a:t>
            </a:r>
            <a:r>
              <a:rPr lang="en-US" altLang="zh-CN" sz="2400"/>
              <a:t>reg addr</a:t>
            </a:r>
            <a:r>
              <a:rPr lang="zh-CN" altLang="en-US" sz="2400"/>
              <a:t>（</a:t>
            </a:r>
            <a:r>
              <a:rPr lang="en-US" altLang="zh-CN" sz="2400"/>
              <a:t>8bit</a:t>
            </a:r>
            <a:r>
              <a:rPr lang="zh-CN" altLang="en-US" sz="2400"/>
              <a:t>），等待</a:t>
            </a:r>
            <a:r>
              <a:rPr lang="en-US" altLang="zh-CN" sz="2400"/>
              <a:t>ACK</a:t>
            </a:r>
            <a:br>
              <a:rPr lang="en-US" altLang="zh-CN" sz="2400"/>
            </a:br>
            <a:r>
              <a:rPr lang="en-US" altLang="zh-CN" sz="2400"/>
              <a:t>4.    Slave</a:t>
            </a:r>
            <a:r>
              <a:rPr lang="zh-CN" altLang="en-US" sz="2400"/>
              <a:t>发送</a:t>
            </a:r>
            <a:r>
              <a:rPr lang="en-US" altLang="zh-CN" sz="2400"/>
              <a:t>ACK</a:t>
            </a:r>
            <a:br>
              <a:rPr lang="en-US" altLang="zh-CN" sz="2400"/>
            </a:br>
            <a:r>
              <a:rPr lang="en-US" altLang="zh-CN" sz="2400"/>
              <a:t>5.   </a:t>
            </a:r>
            <a:r>
              <a:rPr lang="en-US" altLang="zh-CN" sz="2400" b="1"/>
              <a:t>Master</a:t>
            </a:r>
            <a:r>
              <a:rPr lang="zh-CN" altLang="en-US" sz="2400" b="1"/>
              <a:t>发起</a:t>
            </a:r>
            <a:r>
              <a:rPr lang="en-US" altLang="zh-CN" sz="2400" b="1"/>
              <a:t>START</a:t>
            </a:r>
            <a:br>
              <a:rPr lang="en-US" altLang="zh-CN" sz="2400"/>
            </a:br>
            <a:r>
              <a:rPr lang="en-US" altLang="zh-CN" sz="2400"/>
              <a:t>6.    Master</a:t>
            </a:r>
            <a:r>
              <a:rPr lang="zh-CN" altLang="en-US" sz="2400"/>
              <a:t>发送</a:t>
            </a:r>
            <a:r>
              <a:rPr lang="en-US" altLang="zh-CN" sz="2400"/>
              <a:t>I2C addr</a:t>
            </a:r>
            <a:r>
              <a:rPr lang="zh-CN" altLang="en-US" sz="2400"/>
              <a:t>（</a:t>
            </a:r>
            <a:r>
              <a:rPr lang="en-US" altLang="zh-CN" sz="2400"/>
              <a:t>7bit</a:t>
            </a:r>
            <a:r>
              <a:rPr lang="zh-CN" altLang="en-US" sz="2400"/>
              <a:t>）和 </a:t>
            </a:r>
            <a:r>
              <a:rPr lang="en-US" altLang="zh-CN" sz="2400" b="1" u="sng"/>
              <a:t>R</a:t>
            </a:r>
            <a:r>
              <a:rPr lang="zh-CN" altLang="en-US" sz="2400" b="1" u="sng"/>
              <a:t>操作</a:t>
            </a:r>
            <a:r>
              <a:rPr lang="en-US" altLang="zh-CN" sz="2400" b="1" u="sng"/>
              <a:t>1</a:t>
            </a:r>
            <a:r>
              <a:rPr lang="zh-CN" altLang="en-US" sz="2400" u="sng"/>
              <a:t>（</a:t>
            </a:r>
            <a:r>
              <a:rPr lang="en-US" altLang="zh-CN" sz="2400" u="sng"/>
              <a:t>1bit</a:t>
            </a:r>
            <a:r>
              <a:rPr lang="zh-CN" altLang="en-US" sz="2400" u="sng"/>
              <a:t>）</a:t>
            </a:r>
            <a:r>
              <a:rPr lang="zh-CN" altLang="en-US" sz="2400"/>
              <a:t>，等待</a:t>
            </a:r>
            <a:r>
              <a:rPr lang="en-US" altLang="zh-CN" sz="2400"/>
              <a:t>ACK</a:t>
            </a:r>
            <a:br>
              <a:rPr lang="en-US" altLang="zh-CN" sz="2400"/>
            </a:br>
            <a:r>
              <a:rPr lang="en-US" altLang="zh-CN" sz="2400"/>
              <a:t>7.    Slave</a:t>
            </a:r>
            <a:r>
              <a:rPr lang="zh-CN" altLang="en-US" sz="2400"/>
              <a:t>发送</a:t>
            </a:r>
            <a:r>
              <a:rPr lang="en-US" altLang="zh-CN" sz="2400"/>
              <a:t>ACK</a:t>
            </a:r>
            <a:br>
              <a:rPr lang="en-US" altLang="zh-CN" sz="2400"/>
            </a:br>
            <a:r>
              <a:rPr lang="en-US" altLang="zh-CN" sz="2400"/>
              <a:t>8.   </a:t>
            </a:r>
            <a:r>
              <a:rPr lang="en-US" altLang="zh-CN" sz="2400" u="sng"/>
              <a:t>Slave</a:t>
            </a:r>
            <a:r>
              <a:rPr lang="zh-CN" altLang="en-US" sz="2400"/>
              <a:t>发送</a:t>
            </a:r>
            <a:r>
              <a:rPr lang="en-US" altLang="zh-CN" sz="2400"/>
              <a:t>data</a:t>
            </a:r>
            <a:r>
              <a:rPr lang="zh-CN" altLang="en-US" sz="2400"/>
              <a:t>（</a:t>
            </a:r>
            <a:r>
              <a:rPr lang="en-US" altLang="zh-CN" sz="2400"/>
              <a:t>8bit</a:t>
            </a:r>
            <a:r>
              <a:rPr lang="zh-CN" altLang="en-US" sz="2400"/>
              <a:t>），即寄存器里的值</a:t>
            </a:r>
            <a:br>
              <a:rPr lang="zh-CN" altLang="en-US" sz="2400"/>
            </a:br>
            <a:r>
              <a:rPr lang="en-US" altLang="zh-CN" sz="2400"/>
              <a:t>9.   Master</a:t>
            </a:r>
            <a:r>
              <a:rPr lang="zh-CN" altLang="en-US" sz="2400"/>
              <a:t>发送</a:t>
            </a:r>
            <a:r>
              <a:rPr lang="en-US" altLang="zh-CN" sz="2400"/>
              <a:t>ACK</a:t>
            </a:r>
            <a:br>
              <a:rPr lang="en-US" altLang="zh-CN" sz="2400"/>
            </a:br>
            <a:r>
              <a:rPr lang="en-US" altLang="zh-CN" sz="2400"/>
              <a:t>10.    </a:t>
            </a:r>
            <a:r>
              <a:rPr lang="zh-CN" altLang="en-US" sz="2400"/>
              <a:t>第</a:t>
            </a:r>
            <a:r>
              <a:rPr lang="en-US" altLang="zh-CN" sz="2400"/>
              <a:t>8</a:t>
            </a:r>
            <a:r>
              <a:rPr lang="zh-CN" altLang="en-US" sz="2400"/>
              <a:t>步和第</a:t>
            </a:r>
            <a:r>
              <a:rPr lang="en-US" altLang="zh-CN" sz="2400"/>
              <a:t>9</a:t>
            </a:r>
            <a:r>
              <a:rPr lang="zh-CN" altLang="en-US" sz="2400"/>
              <a:t>步可以重复多次，即顺序读多个寄存器</a:t>
            </a:r>
            <a:br>
              <a:rPr lang="zh-CN" altLang="en-US"/>
            </a:b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054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7E4E4A-FB5F-4430-8AB3-008CA3C66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825" y="1216270"/>
            <a:ext cx="7139898" cy="5326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DB8B8DE8-8C4D-49C6-BE15-5B648078891F}"/>
              </a:ext>
            </a:extLst>
          </p:cNvPr>
          <p:cNvSpPr txBox="1">
            <a:spLocks noChangeArrowheads="1"/>
          </p:cNvSpPr>
          <p:nvPr/>
        </p:nvSpPr>
        <p:spPr>
          <a:xfrm>
            <a:off x="1515847" y="356202"/>
            <a:ext cx="6030172" cy="4254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/>
              <a:t>当从设备有片内寄存器时的读时序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201094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024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2290" name="文本占位符 1024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2291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文本框 10244"/>
          <p:cNvSpPr txBox="1"/>
          <p:nvPr/>
        </p:nvSpPr>
        <p:spPr>
          <a:xfrm>
            <a:off x="323850" y="188913"/>
            <a:ext cx="8359775" cy="6310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905" indent="-1905"/>
            <a:r>
              <a:rPr lang="en-US" altLang="zh-CN" sz="2800" noProof="1">
                <a:latin typeface="Arial" charset="0"/>
                <a:ea typeface="宋体" charset="-122"/>
                <a:cs typeface="+mn-ea"/>
              </a:rPr>
              <a:t>CC3200</a:t>
            </a: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包含一个</a:t>
            </a:r>
            <a:r>
              <a:rPr lang="en-US" altLang="zh-CN" sz="2800" noProof="1">
                <a:latin typeface="Arial" charset="0"/>
                <a:ea typeface="宋体" charset="-122"/>
                <a:cs typeface="+mn-ea"/>
              </a:rPr>
              <a:t>I2C</a:t>
            </a: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模块，该模块具有如下特征：</a:t>
            </a:r>
            <a:endParaRPr lang="zh-CN" altLang="en-US" sz="2800" noProof="1">
              <a:latin typeface="Arial" charset="0"/>
              <a:ea typeface="宋体" charset="-122"/>
            </a:endParaRPr>
          </a:p>
          <a:p>
            <a:pPr marL="1905" indent="283845">
              <a:buFont typeface="Wingdings" charset="2"/>
              <a:buChar char="l"/>
            </a:pPr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I2C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总线上的设备可以指派为从机或主机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/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-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作为主机或从机时都支持发送和接受数据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/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-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主机和从机可同时操作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28384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四个</a:t>
            </a:r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I2C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模式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/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-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主机发送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/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-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主机接收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/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-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从机发送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/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-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从机接收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28384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支持如下的传输速度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/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-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标准模式</a:t>
            </a:r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(100 Kbps)</a:t>
            </a:r>
            <a:endParaRPr lang="en-US" altLang="zh-CN" sz="2000" noProof="1">
              <a:latin typeface="Arial" charset="0"/>
              <a:ea typeface="宋体" charset="-122"/>
            </a:endParaRPr>
          </a:p>
          <a:p>
            <a:pPr marL="1905" indent="-1905"/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-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快速模式</a:t>
            </a:r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(400 Kbps)</a:t>
            </a:r>
            <a:endParaRPr lang="en-US" altLang="zh-CN" sz="2000" noProof="1">
              <a:latin typeface="Arial" charset="0"/>
              <a:ea typeface="宋体" charset="-122"/>
            </a:endParaRPr>
          </a:p>
          <a:p>
            <a:pPr marL="1905" indent="28384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主机和从机都可产生中断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/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-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当发送或接收操作完成（或由于错误而停止）时，主机会产生中断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/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-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当主机请求数据或主机发送数据或侦测到</a:t>
            </a:r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START/STOP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信号时，从机会产生中断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28384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主机含仲裁和时钟同步机制，支持多主机和</a:t>
            </a:r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7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位地址模式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28384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可通过</a:t>
            </a:r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μDMA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实现高效传输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/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-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发送和接收数据时采用相互独立的通道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/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-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使用</a:t>
            </a:r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I2C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中的接收和发送</a:t>
            </a:r>
            <a:r>
              <a:rPr lang="en-US" altLang="zh-CN" sz="2000" noProof="1">
                <a:latin typeface="Arial" charset="0"/>
                <a:ea typeface="宋体" charset="-122"/>
                <a:cs typeface="+mn-ea"/>
              </a:rPr>
              <a:t>FIFOs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，可以实现单次数据传输或突发数据传输</a:t>
            </a:r>
            <a:endParaRPr lang="zh-CN" altLang="en-US" sz="2000" noProof="1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715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6" name="文本框 1"/>
          <p:cNvSpPr txBox="1">
            <a:spLocks noChangeArrowheads="1"/>
          </p:cNvSpPr>
          <p:nvPr/>
        </p:nvSpPr>
        <p:spPr bwMode="auto">
          <a:xfrm>
            <a:off x="36513" y="0"/>
            <a:ext cx="57246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 dirty="0"/>
              <a:t>三轴加速度传感器原理图：</a:t>
            </a:r>
          </a:p>
        </p:txBody>
      </p:sp>
      <p:pic>
        <p:nvPicPr>
          <p:cNvPr id="16387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93738"/>
            <a:ext cx="9024938" cy="428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文本框 3"/>
          <p:cNvSpPr txBox="1">
            <a:spLocks noChangeArrowheads="1"/>
          </p:cNvSpPr>
          <p:nvPr/>
        </p:nvSpPr>
        <p:spPr bwMode="auto">
          <a:xfrm>
            <a:off x="179388" y="5013325"/>
            <a:ext cx="5173662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/>
              <a:t>SCL------&gt;CC_GPIO_10</a:t>
            </a:r>
          </a:p>
          <a:p>
            <a:r>
              <a:rPr lang="en-US" altLang="zh-CN" sz="3600"/>
              <a:t>SDA------&gt;CC_GPIO_11</a:t>
            </a:r>
          </a:p>
          <a:p>
            <a:r>
              <a:rPr lang="en-US" altLang="zh-CN" sz="3600"/>
              <a:t>INT1------&gt;CC_GPIO_13</a:t>
            </a:r>
          </a:p>
        </p:txBody>
      </p:sp>
    </p:spTree>
    <p:extLst>
      <p:ext uri="{BB962C8B-B14F-4D97-AF65-F5344CB8AC3E}">
        <p14:creationId xmlns:p14="http://schemas.microsoft.com/office/powerpoint/2010/main" val="1710382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6" name="文本框 1"/>
          <p:cNvSpPr txBox="1">
            <a:spLocks noChangeArrowheads="1"/>
          </p:cNvSpPr>
          <p:nvPr/>
        </p:nvSpPr>
        <p:spPr bwMode="auto">
          <a:xfrm>
            <a:off x="573408" y="229831"/>
            <a:ext cx="618630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三轴加速度传感器内部框</a:t>
            </a:r>
            <a:r>
              <a:rPr lang="zh-CN" altLang="en-US" sz="3600" dirty="0">
                <a:solidFill>
                  <a:prstClr val="black"/>
                </a:solidFill>
                <a:latin typeface="黑体"/>
                <a:ea typeface="黑体"/>
              </a:rPr>
              <a:t>图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：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32DBFED-2D9D-4A04-8B87-D6E33C6C2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29" y="1132514"/>
            <a:ext cx="8401342" cy="507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92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矩形 3">
            <a:extLst>
              <a:ext uri="{FF2B5EF4-FFF2-40B4-BE49-F238E27FC236}">
                <a16:creationId xmlns:a16="http://schemas.microsoft.com/office/drawing/2014/main" id="{EA8833D4-1486-4805-83A0-FBC525434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96850"/>
            <a:ext cx="6246812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1</a:t>
            </a:r>
            <a:r>
              <a:rPr lang="zh-CN" altLang="en-US"/>
              <a:t>、非接触式测温芯片</a:t>
            </a:r>
            <a:r>
              <a:rPr lang="en-US" altLang="zh-CN"/>
              <a:t> </a:t>
            </a:r>
            <a:r>
              <a:rPr lang="zh-CN" altLang="en-US"/>
              <a:t>：红外温度传感器TMP006。</a:t>
            </a:r>
            <a:endParaRPr lang="en-US" altLang="zh-CN"/>
          </a:p>
          <a:p>
            <a:r>
              <a:rPr lang="zh-CN" altLang="en-US"/>
              <a:t>  世界上首款单片数字IR MEMS温度传感器，首次为便携式消费电子产品实现非接触温度测量功能。</a:t>
            </a:r>
            <a:endParaRPr lang="en-US" altLang="zh-CN"/>
          </a:p>
          <a:p>
            <a:r>
              <a:rPr lang="zh-CN" altLang="en-US"/>
              <a:t>体积小；</a:t>
            </a:r>
            <a:endParaRPr lang="en-US" altLang="zh-CN"/>
          </a:p>
          <a:p>
            <a:r>
              <a:rPr lang="zh-CN" altLang="en-US"/>
              <a:t>片上MEMS热电堆传感器、信号调节功能、16位模数转换器（ADC）、局部温度传感器以及各种电压参考。</a:t>
            </a:r>
            <a:endParaRPr lang="en-US" altLang="zh-CN"/>
          </a:p>
          <a:p>
            <a:r>
              <a:rPr lang="zh-CN" altLang="en-US"/>
              <a:t>支持-40℃至+125℃宽范围工作温度，测温范围远远超过这个范围，因为红外测温测的是目标温度和环境温度的温差，</a:t>
            </a:r>
          </a:p>
        </p:txBody>
      </p:sp>
      <p:pic>
        <p:nvPicPr>
          <p:cNvPr id="55299" name="图片 5">
            <a:extLst>
              <a:ext uri="{FF2B5EF4-FFF2-40B4-BE49-F238E27FC236}">
                <a16:creationId xmlns:a16="http://schemas.microsoft.com/office/drawing/2014/main" id="{EA1D9FDE-5A16-46AE-B0C7-A7CE7D53B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636838"/>
            <a:ext cx="7391400" cy="306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-26988"/>
            <a:ext cx="8056563" cy="6029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8986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93738"/>
            <a:ext cx="8904288" cy="310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文本框 2"/>
          <p:cNvSpPr txBox="1">
            <a:spLocks noChangeArrowheads="1"/>
          </p:cNvSpPr>
          <p:nvPr/>
        </p:nvSpPr>
        <p:spPr bwMode="auto">
          <a:xfrm>
            <a:off x="107950" y="0"/>
            <a:ext cx="4195763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/>
              <a:t>TMP006</a:t>
            </a:r>
            <a:r>
              <a:rPr lang="zh-CN" altLang="en-US" sz="3600"/>
              <a:t>应用分析：</a:t>
            </a:r>
          </a:p>
        </p:txBody>
      </p:sp>
      <p:pic>
        <p:nvPicPr>
          <p:cNvPr id="18436" name="图片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4508500"/>
            <a:ext cx="9217026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文本框 4"/>
          <p:cNvSpPr txBox="1">
            <a:spLocks noChangeArrowheads="1"/>
          </p:cNvSpPr>
          <p:nvPr/>
        </p:nvSpPr>
        <p:spPr bwMode="auto">
          <a:xfrm>
            <a:off x="3492500" y="3933825"/>
            <a:ext cx="15922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slave address</a:t>
            </a:r>
          </a:p>
        </p:txBody>
      </p:sp>
    </p:spTree>
    <p:extLst>
      <p:ext uri="{BB962C8B-B14F-4D97-AF65-F5344CB8AC3E}">
        <p14:creationId xmlns:p14="http://schemas.microsoft.com/office/powerpoint/2010/main" val="569045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549275"/>
            <a:ext cx="9045575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文本框 2"/>
          <p:cNvSpPr txBox="1">
            <a:spLocks noChangeArrowheads="1"/>
          </p:cNvSpPr>
          <p:nvPr/>
        </p:nvSpPr>
        <p:spPr bwMode="auto">
          <a:xfrm>
            <a:off x="179388" y="44450"/>
            <a:ext cx="1960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TMP006</a:t>
            </a:r>
            <a:r>
              <a:rPr lang="zh-CN" altLang="en-US"/>
              <a:t>温度值：</a:t>
            </a:r>
          </a:p>
        </p:txBody>
      </p:sp>
    </p:spTree>
    <p:extLst>
      <p:ext uri="{BB962C8B-B14F-4D97-AF65-F5344CB8AC3E}">
        <p14:creationId xmlns:p14="http://schemas.microsoft.com/office/powerpoint/2010/main" val="696814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3060" y="1028343"/>
            <a:ext cx="787109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一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、实验内容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  <a:p>
            <a:pPr lvl="0">
              <a:lnSpc>
                <a:spcPct val="150000"/>
              </a:lnSpc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1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、通过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I2C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总线读取三轴加速度传感器和温度传感器的信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  <a:p>
            <a:pPr lvl="0">
              <a:lnSpc>
                <a:spcPct val="150000"/>
              </a:lnSpc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   息，并</a:t>
            </a:r>
            <a:r>
              <a:rPr lang="zh-CN" altLang="zh-CN" sz="2400" dirty="0">
                <a:solidFill>
                  <a:prstClr val="black"/>
                </a:solidFill>
              </a:rPr>
              <a:t>利用</a:t>
            </a:r>
            <a:r>
              <a:rPr lang="en-US" altLang="zh-CN" sz="2400" dirty="0">
                <a:solidFill>
                  <a:prstClr val="black"/>
                </a:solidFill>
              </a:rPr>
              <a:t>UART</a:t>
            </a:r>
            <a:r>
              <a:rPr lang="zh-CN" altLang="zh-CN" sz="2400" dirty="0">
                <a:solidFill>
                  <a:prstClr val="black"/>
                </a:solidFill>
              </a:rPr>
              <a:t>串口</a:t>
            </a:r>
            <a:r>
              <a:rPr lang="zh-CN" altLang="en-US" sz="2400" dirty="0">
                <a:solidFill>
                  <a:prstClr val="black"/>
                </a:solidFill>
              </a:rPr>
              <a:t>及</a:t>
            </a:r>
            <a:r>
              <a:rPr lang="en-US" altLang="zh-CN" sz="2400" dirty="0">
                <a:solidFill>
                  <a:prstClr val="black"/>
                </a:solidFill>
              </a:rPr>
              <a:t>LED</a:t>
            </a:r>
            <a:r>
              <a:rPr lang="zh-CN" altLang="en-US" sz="2400" dirty="0">
                <a:solidFill>
                  <a:prstClr val="black"/>
                </a:solidFill>
              </a:rPr>
              <a:t>显示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  <a:p>
            <a:pPr>
              <a:lnSpc>
                <a:spcPct val="150000"/>
              </a:lnSpc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2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、</a:t>
            </a:r>
            <a:r>
              <a:rPr lang="zh-CN" altLang="en-US" sz="2400" dirty="0">
                <a:solidFill>
                  <a:prstClr val="black"/>
                </a:solidFill>
              </a:rPr>
              <a:t>自由发挥，通过串口及</a:t>
            </a:r>
            <a:r>
              <a:rPr lang="en-US" altLang="zh-CN" sz="2400" dirty="0">
                <a:solidFill>
                  <a:prstClr val="black"/>
                </a:solidFill>
              </a:rPr>
              <a:t>LED</a:t>
            </a:r>
            <a:r>
              <a:rPr lang="zh-CN" altLang="zh-CN" sz="2400" dirty="0">
                <a:solidFill>
                  <a:prstClr val="black"/>
                </a:solidFill>
              </a:rPr>
              <a:t>亮度</a:t>
            </a:r>
            <a:r>
              <a:rPr lang="zh-CN" altLang="en-US" sz="2400" dirty="0">
                <a:solidFill>
                  <a:prstClr val="black"/>
                </a:solidFill>
              </a:rPr>
              <a:t>等方式，显示传感器信息</a:t>
            </a:r>
            <a:r>
              <a:rPr lang="zh-CN" altLang="en-US" sz="2400">
                <a:solidFill>
                  <a:prstClr val="black"/>
                </a:solidFill>
              </a:rPr>
              <a:t>或实现其他多种</a:t>
            </a:r>
            <a:r>
              <a:rPr lang="zh-CN" altLang="en-US" sz="2400" dirty="0">
                <a:solidFill>
                  <a:prstClr val="black"/>
                </a:solidFill>
              </a:rPr>
              <a:t>功能。</a:t>
            </a:r>
            <a:endParaRPr lang="zh-CN" altLang="zh-CN" sz="2400" dirty="0">
              <a:solidFill>
                <a:prstClr val="black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二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、实验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参考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  <a:p>
            <a:pPr lvl="0">
              <a:lnSpc>
                <a:spcPct val="150000"/>
              </a:lnSpc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1</a:t>
            </a:r>
            <a:r>
              <a:rPr lang="zh-CN" altLang="zh-CN" sz="2400" dirty="0">
                <a:solidFill>
                  <a:prstClr val="black"/>
                </a:solidFill>
              </a:rPr>
              <a:t>、串口通信参考</a:t>
            </a:r>
            <a:r>
              <a:rPr lang="en-US" altLang="zh-CN" sz="2400" dirty="0" err="1">
                <a:solidFill>
                  <a:prstClr val="black"/>
                </a:solidFill>
              </a:rPr>
              <a:t>uart_demo</a:t>
            </a:r>
            <a:r>
              <a:rPr lang="zh-CN" altLang="zh-CN" sz="2400" dirty="0">
                <a:solidFill>
                  <a:prstClr val="black"/>
                </a:solidFill>
              </a:rPr>
              <a:t>例程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  <a:p>
            <a:pPr lvl="0">
              <a:lnSpc>
                <a:spcPct val="150000"/>
              </a:lnSpc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2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、</a:t>
            </a:r>
            <a:r>
              <a:rPr lang="zh-CN" altLang="zh-CN" sz="2400" dirty="0">
                <a:solidFill>
                  <a:prstClr val="black"/>
                </a:solidFill>
              </a:rPr>
              <a:t>通过</a:t>
            </a:r>
            <a:r>
              <a:rPr lang="en-US" altLang="zh-CN" sz="2400" dirty="0">
                <a:solidFill>
                  <a:prstClr val="black"/>
                </a:solidFill>
              </a:rPr>
              <a:t>PWM</a:t>
            </a:r>
            <a:r>
              <a:rPr lang="zh-CN" altLang="zh-CN" sz="2400" dirty="0">
                <a:solidFill>
                  <a:prstClr val="black"/>
                </a:solidFill>
              </a:rPr>
              <a:t>控制</a:t>
            </a:r>
            <a:r>
              <a:rPr lang="en-US" altLang="zh-CN" sz="2400" dirty="0">
                <a:solidFill>
                  <a:prstClr val="black"/>
                </a:solidFill>
              </a:rPr>
              <a:t>LED</a:t>
            </a:r>
            <a:r>
              <a:rPr lang="zh-CN" altLang="zh-CN" sz="2400" dirty="0">
                <a:solidFill>
                  <a:prstClr val="black"/>
                </a:solidFill>
              </a:rPr>
              <a:t>显示程序，参考</a:t>
            </a:r>
            <a:r>
              <a:rPr lang="en-US" altLang="zh-CN" sz="2400" dirty="0">
                <a:solidFill>
                  <a:prstClr val="black"/>
                </a:solidFill>
              </a:rPr>
              <a:t>CC3200SDK</a:t>
            </a:r>
            <a:r>
              <a:rPr lang="zh-CN" altLang="zh-CN" sz="2400" dirty="0">
                <a:solidFill>
                  <a:prstClr val="black"/>
                </a:solidFill>
              </a:rPr>
              <a:t>的</a:t>
            </a:r>
            <a:r>
              <a:rPr lang="en-US" altLang="zh-CN" sz="2400" dirty="0">
                <a:solidFill>
                  <a:prstClr val="black"/>
                </a:solidFill>
              </a:rPr>
              <a:t>PWM</a:t>
            </a:r>
            <a:r>
              <a:rPr lang="zh-CN" altLang="zh-CN" sz="2400" dirty="0">
                <a:solidFill>
                  <a:prstClr val="black"/>
                </a:solidFill>
              </a:rPr>
              <a:t>工程。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  <a:p>
            <a:pPr lvl="0">
              <a:lnSpc>
                <a:spcPct val="150000"/>
              </a:lnSpc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、</a:t>
            </a:r>
            <a:r>
              <a:rPr lang="en-US" altLang="zh-CN" sz="2400" dirty="0" err="1">
                <a:solidFill>
                  <a:prstClr val="black"/>
                </a:solidFill>
              </a:rPr>
              <a:t>out_of_box</a:t>
            </a:r>
            <a:r>
              <a:rPr lang="zh-CN" altLang="zh-CN" sz="2400" dirty="0">
                <a:solidFill>
                  <a:prstClr val="black"/>
                </a:solidFill>
              </a:rPr>
              <a:t>例程</a:t>
            </a:r>
            <a:r>
              <a:rPr lang="zh-CN" altLang="en-US" sz="2400" dirty="0">
                <a:solidFill>
                  <a:prstClr val="black"/>
                </a:solidFill>
              </a:rPr>
              <a:t>中</a:t>
            </a:r>
            <a:r>
              <a:rPr lang="en-US" altLang="zh-CN" sz="2400" dirty="0">
                <a:solidFill>
                  <a:prstClr val="black"/>
                </a:solidFill>
              </a:rPr>
              <a:t>I2C</a:t>
            </a:r>
            <a:r>
              <a:rPr lang="zh-CN" altLang="en-US" sz="2400" dirty="0">
                <a:solidFill>
                  <a:prstClr val="black"/>
                </a:solidFill>
              </a:rPr>
              <a:t>读取传感器信息的部分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kumimoji="0" lang="zh-CN" altLang="zh-CN" sz="1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557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Times New Roman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Times New Roman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8613</TotalTime>
  <Words>1184</Words>
  <Application>Microsoft Office PowerPoint</Application>
  <PresentationFormat>全屏显示(4:3)</PresentationFormat>
  <Paragraphs>115</Paragraphs>
  <Slides>22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黑体</vt:lpstr>
      <vt:lpstr>隶书</vt:lpstr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1_Office 主题</vt:lpstr>
      <vt:lpstr>PowerPoint 演示文稿</vt:lpstr>
      <vt:lpstr>PowerPoint 演示文稿</vt:lpstr>
      <vt:lpstr>人体系统和机器系统比较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 I2C基本时序</vt:lpstr>
      <vt:lpstr>PowerPoint 演示文稿</vt:lpstr>
      <vt:lpstr>PowerPoint 演示文稿</vt:lpstr>
      <vt:lpstr> I2C读流程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王齐</dc:creator>
  <cp:lastModifiedBy>13709129200@139.com</cp:lastModifiedBy>
  <cp:revision>453</cp:revision>
  <cp:lastPrinted>2015-09-08T03:57:43Z</cp:lastPrinted>
  <dcterms:created xsi:type="dcterms:W3CDTF">2015-09-04T08:06:26Z</dcterms:created>
  <dcterms:modified xsi:type="dcterms:W3CDTF">2026-03-23T13:47:10Z</dcterms:modified>
</cp:coreProperties>
</file>
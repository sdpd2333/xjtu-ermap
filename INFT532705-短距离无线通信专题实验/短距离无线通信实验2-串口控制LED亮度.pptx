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916" r:id="rId2"/>
    <p:sldId id="999" r:id="rId3"/>
    <p:sldId id="958" r:id="rId4"/>
    <p:sldId id="959" r:id="rId5"/>
    <p:sldId id="960" r:id="rId6"/>
    <p:sldId id="1000" r:id="rId7"/>
    <p:sldId id="963" r:id="rId8"/>
    <p:sldId id="965" r:id="rId9"/>
    <p:sldId id="1042" r:id="rId10"/>
    <p:sldId id="1001" r:id="rId11"/>
    <p:sldId id="967" r:id="rId12"/>
    <p:sldId id="968" r:id="rId13"/>
    <p:sldId id="1003" r:id="rId14"/>
    <p:sldId id="1005" r:id="rId15"/>
    <p:sldId id="971" r:id="rId16"/>
    <p:sldId id="1006" r:id="rId17"/>
    <p:sldId id="1004" r:id="rId18"/>
    <p:sldId id="1007" r:id="rId19"/>
    <p:sldId id="1043" r:id="rId20"/>
    <p:sldId id="1009" r:id="rId21"/>
    <p:sldId id="1010" r:id="rId22"/>
    <p:sldId id="1011" r:id="rId23"/>
    <p:sldId id="1012" r:id="rId24"/>
    <p:sldId id="1013" r:id="rId25"/>
    <p:sldId id="1014" r:id="rId26"/>
    <p:sldId id="981" r:id="rId27"/>
    <p:sldId id="1015" r:id="rId28"/>
    <p:sldId id="1017" r:id="rId29"/>
    <p:sldId id="984" r:id="rId30"/>
    <p:sldId id="989" r:id="rId31"/>
    <p:sldId id="990" r:id="rId32"/>
    <p:sldId id="993" r:id="rId33"/>
    <p:sldId id="1018" r:id="rId34"/>
  </p:sldIdLst>
  <p:sldSz cx="9144000" cy="6858000" type="screen4x3"/>
  <p:notesSz cx="6761163" cy="99425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57AE"/>
    <a:srgbClr val="4269BD"/>
    <a:srgbClr val="E97C30"/>
    <a:srgbClr val="3A97D7"/>
    <a:srgbClr val="E87E04"/>
    <a:srgbClr val="FFC000"/>
    <a:srgbClr val="1F4E79"/>
    <a:srgbClr val="0070C0"/>
    <a:srgbClr val="2E75B6"/>
    <a:srgbClr val="872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816" autoAdjust="0"/>
  </p:normalViewPr>
  <p:slideViewPr>
    <p:cSldViewPr snapToGrid="0">
      <p:cViewPr varScale="1">
        <p:scale>
          <a:sx n="163" d="100"/>
          <a:sy n="163" d="100"/>
        </p:scale>
        <p:origin x="2036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A1BC1-FA36-405A-84E5-2ECB11F24F06}" type="datetimeFigureOut">
              <a:rPr lang="zh-CN" altLang="en-US" smtClean="0"/>
              <a:pPr/>
              <a:t>2025/3/5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20590-9981-46CC-AF13-22488216DE8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248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9580-3797-4DA2-9E4E-24E61D4E80CF}" type="datetimeFigureOut">
              <a:rPr lang="zh-CN" altLang="en-US" smtClean="0"/>
              <a:pPr/>
              <a:t>2025/3/5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47CB-3076-4026-8B18-63F39C6D1F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119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备注占位符 1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543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备注占位符 1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5019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备注占位符 1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8920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备注占位符 1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7830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5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904954" y="360000"/>
            <a:ext cx="324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1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239091" y="113944"/>
            <a:ext cx="812329" cy="800243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/>
        </p:blipFill>
        <p:spPr>
          <a:xfrm>
            <a:off x="296112" y="195665"/>
            <a:ext cx="619134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1934" y="107901"/>
            <a:ext cx="112892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7637105" y="5350752"/>
            <a:ext cx="324399" cy="268938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6669766" y="6602968"/>
            <a:ext cx="2420500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西安交通大学数据与信息中心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3302905" y="3383209"/>
            <a:ext cx="171533" cy="6777344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233380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293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selected_powerpoint_bg_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B466F-FA2B-4A62-B403-BE2B857E94B3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53857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AD082D-EB92-4946-8B91-8179CF32A098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7983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3BD095-381A-4FCF-8F6E-5A3258C1351F}" type="slidenum">
              <a:rPr lang="en-US" altLang="zh-CN"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84499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91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66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1" r:id="rId2"/>
    <p:sldLayoutId id="2147483653" r:id="rId3"/>
    <p:sldLayoutId id="2147483666" r:id="rId4"/>
    <p:sldLayoutId id="2147483669" r:id="rId5"/>
    <p:sldLayoutId id="2147483670" r:id="rId6"/>
    <p:sldLayoutId id="2147483671" r:id="rId7"/>
    <p:sldLayoutId id="214748367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17004" y="1829102"/>
            <a:ext cx="8109992" cy="17543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短距离无线通信专题实验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/>
              <a:ea typeface="黑体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2-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串口控制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LED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亮度</a:t>
            </a:r>
            <a:endParaRPr lang="en-US" altLang="zh-CN" sz="3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0"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CC3200---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定时器、串行通信</a:t>
            </a:r>
          </a:p>
        </p:txBody>
      </p:sp>
      <p:sp>
        <p:nvSpPr>
          <p:cNvPr id="5" name="矩形 4"/>
          <p:cNvSpPr/>
          <p:nvPr/>
        </p:nvSpPr>
        <p:spPr>
          <a:xfrm>
            <a:off x="1620784" y="4163160"/>
            <a:ext cx="6254770" cy="14219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教师：电信学部信通学院陈伟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邮箱：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chw@mail.xjtu.edu.cn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办公室：西一楼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529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00" y="72000"/>
            <a:ext cx="3088800" cy="108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0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9061" y="293316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CC3200 定时器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6088" y="1288473"/>
            <a:ext cx="67582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精确的定时、延时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测量信号频率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测量脉冲宽度、间隔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/>
              <a:t>PWM</a:t>
            </a:r>
            <a:r>
              <a:rPr lang="zh-CN" altLang="en-US" sz="2400" dirty="0"/>
              <a:t>产生（功率脉宽调制）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实时时钟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触发</a:t>
            </a:r>
            <a:r>
              <a:rPr lang="en-US" altLang="zh-CN" sz="2400" dirty="0"/>
              <a:t>ADC</a:t>
            </a:r>
            <a:r>
              <a:rPr lang="zh-CN" altLang="en-US" sz="2400" dirty="0"/>
              <a:t>采样、</a:t>
            </a:r>
            <a:r>
              <a:rPr lang="en-US" altLang="zh-CN" sz="2400" dirty="0"/>
              <a:t>DMA</a:t>
            </a:r>
            <a:r>
              <a:rPr lang="zh-CN" altLang="en-US" sz="2400" dirty="0"/>
              <a:t>传输</a:t>
            </a:r>
            <a:endParaRPr lang="en-US" altLang="zh-CN" sz="2400" dirty="0"/>
          </a:p>
          <a:p>
            <a:endParaRPr lang="zh-CN" altLang="en-US" dirty="0"/>
          </a:p>
        </p:txBody>
      </p:sp>
      <p:pic>
        <p:nvPicPr>
          <p:cNvPr id="4" name="Picture 2" descr="C:\Documents and Settings\a0192895\Local Settings\Temporary Internet Files\Content.IE5\DHOE71CC\MP900448709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41117" y="1188058"/>
            <a:ext cx="2438400" cy="182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616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标题 3174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8195" name="文本占位符 31746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8196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文本框 20484"/>
          <p:cNvSpPr txBox="1">
            <a:spLocks noChangeArrowheads="1"/>
          </p:cNvSpPr>
          <p:nvPr/>
        </p:nvSpPr>
        <p:spPr bwMode="auto">
          <a:xfrm>
            <a:off x="34925" y="44450"/>
            <a:ext cx="3359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CC3200 定时器</a:t>
            </a:r>
          </a:p>
        </p:txBody>
      </p:sp>
      <p:sp>
        <p:nvSpPr>
          <p:cNvPr id="20486" name="文本框 20485"/>
          <p:cNvSpPr txBox="1"/>
          <p:nvPr/>
        </p:nvSpPr>
        <p:spPr>
          <a:xfrm>
            <a:off x="556953" y="622300"/>
            <a:ext cx="8552122" cy="50783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1905" indent="283845">
              <a:lnSpc>
                <a:spcPct val="150000"/>
              </a:lnSpc>
              <a:buFont typeface="Wingdings" charset="2"/>
              <a:buChar char="l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工作模式：</a:t>
            </a:r>
            <a:endParaRPr lang="zh-CN" altLang="en-US" sz="2400" noProof="1">
              <a:latin typeface="Arial" charset="0"/>
              <a:ea typeface="宋体" charset="-122"/>
            </a:endParaRPr>
          </a:p>
          <a:p>
            <a:pPr marL="1905" indent="-1905">
              <a:lnSpc>
                <a:spcPct val="150000"/>
              </a:lnSpc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16位通用定时器，含8位预分频器。级联</a:t>
            </a:r>
            <a:r>
              <a:rPr lang="en-US" altLang="zh-CN" sz="2400" noProof="1">
                <a:latin typeface="Arial" charset="0"/>
                <a:ea typeface="宋体" charset="-122"/>
                <a:cs typeface="+mn-ea"/>
              </a:rPr>
              <a:t>32</a:t>
            </a: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位定时器</a:t>
            </a:r>
            <a:endParaRPr lang="en-US" altLang="zh-CN" sz="2400" noProof="1">
              <a:latin typeface="Arial" charset="0"/>
              <a:ea typeface="宋体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16/32位可编程单次定时器、可编程的周期定时器</a:t>
            </a:r>
            <a:endParaRPr lang="en-US" altLang="zh-CN" sz="2400" noProof="1">
              <a:latin typeface="Arial" charset="0"/>
              <a:ea typeface="宋体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向上或向下计数</a:t>
            </a:r>
            <a:endParaRPr lang="zh-CN" altLang="en-US" sz="2400" noProof="1">
              <a:latin typeface="Arial" charset="0"/>
              <a:ea typeface="宋体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16位输入沿计数或者输入捕获模式</a:t>
            </a:r>
            <a:endParaRPr lang="en-US" altLang="zh-CN" sz="2400" noProof="1">
              <a:latin typeface="Arial" charset="0"/>
              <a:ea typeface="宋体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16位PWM模式，和软件可编程PWM信号反转输出</a:t>
            </a:r>
            <a:endParaRPr lang="zh-CN" altLang="en-US" sz="2400" noProof="1">
              <a:latin typeface="Arial" charset="0"/>
              <a:ea typeface="宋体" charset="-122"/>
            </a:endParaRPr>
          </a:p>
          <a:p>
            <a:pPr marL="34480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16个16/32位PWM输入捕获管脚（CCP）</a:t>
            </a:r>
            <a:endParaRPr lang="zh-CN" altLang="en-US" sz="2400" noProof="1">
              <a:latin typeface="Arial" charset="0"/>
              <a:ea typeface="宋体" charset="-122"/>
            </a:endParaRPr>
          </a:p>
          <a:p>
            <a:pPr marL="344805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使用微型直接内存访问控制器来进行高效传输（μDMA）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noProof="1">
                <a:latin typeface="Arial" charset="0"/>
                <a:ea typeface="宋体" charset="-122"/>
                <a:cs typeface="+mn-ea"/>
              </a:rPr>
              <a:t>-每个定时器拥有独立的通道</a:t>
            </a:r>
            <a:endParaRPr lang="zh-CN" altLang="en-US" sz="2400" noProof="1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0010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标题 3174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219" name="文本占位符 31746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9220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图片 2150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5638"/>
            <a:ext cx="9144000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直接连接符 21509"/>
          <p:cNvSpPr>
            <a:spLocks noChangeShapeType="1"/>
          </p:cNvSpPr>
          <p:nvPr/>
        </p:nvSpPr>
        <p:spPr bwMode="auto">
          <a:xfrm>
            <a:off x="179388" y="3502025"/>
            <a:ext cx="878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45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225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0242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532" name="表格占位符 22531"/>
          <p:cNvGraphicFramePr>
            <a:graphicFrameLocks noGrp="1"/>
          </p:cNvGraphicFramePr>
          <p:nvPr>
            <p:ph type="tbl" idx="1"/>
          </p:nvPr>
        </p:nvGraphicFramePr>
        <p:xfrm>
          <a:off x="611188" y="620713"/>
          <a:ext cx="7929563" cy="3054350"/>
        </p:xfrm>
        <a:graphic>
          <a:graphicData uri="http://schemas.openxmlformats.org/drawingml/2006/table">
            <a:tbl>
              <a:tblPr/>
              <a:tblGrid>
                <a:gridCol w="1290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0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模式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定时器使用方式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计数方向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计算范围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预分频大小</a:t>
                      </a:r>
                      <a:r>
                        <a:rPr lang="en-US" altLang="zh-CN" sz="1800" b="1">
                          <a:solidFill>
                            <a:srgbClr val="FFFFFF"/>
                          </a:solidFill>
                          <a:latin typeface="Calibri" charset="0"/>
                        </a:rPr>
                        <a:t>a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单次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独立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向上或向下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16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8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级联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向上或向下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32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-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周期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独立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向上或向下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16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8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级联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向上或向下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32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-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8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边沿计数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独立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向上或向下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16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8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边沿定时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独立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向上或向下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16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8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587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PWM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独立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向下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16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lvl="1" indent="-285750" algn="l">
                        <a:defRPr sz="2400" kern="1200"/>
                      </a:lvl2pPr>
                      <a:lvl3pPr marL="1143000" lvl="2" indent="-228600" algn="l">
                        <a:defRPr sz="2000" kern="1200"/>
                      </a:lvl3pPr>
                      <a:lvl4pPr marL="1600200" lvl="3" indent="-228600" algn="l">
                        <a:defRPr sz="1800" kern="1200"/>
                      </a:lvl4pPr>
                      <a:lvl5pPr marL="2057400" lvl="4" indent="-228600" algn="l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charset="0"/>
                        </a:rPr>
                        <a:t>8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charset="0"/>
                        </a:rPr>
                        <a:t>位</a:t>
                      </a:r>
                    </a:p>
                  </a:txBody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299" name="文本框 22665"/>
          <p:cNvSpPr txBox="1">
            <a:spLocks noChangeArrowheads="1"/>
          </p:cNvSpPr>
          <p:nvPr/>
        </p:nvSpPr>
        <p:spPr bwMode="auto">
          <a:xfrm>
            <a:off x="2700338" y="44450"/>
            <a:ext cx="3979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CC3200定时器工作方式</a:t>
            </a:r>
          </a:p>
        </p:txBody>
      </p:sp>
      <p:sp>
        <p:nvSpPr>
          <p:cNvPr id="10300" name="文本框 22666"/>
          <p:cNvSpPr txBox="1">
            <a:spLocks noChangeArrowheads="1"/>
          </p:cNvSpPr>
          <p:nvPr/>
        </p:nvSpPr>
        <p:spPr bwMode="auto">
          <a:xfrm>
            <a:off x="611188" y="3892550"/>
            <a:ext cx="835501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/>
              <a:t>每个</a:t>
            </a:r>
            <a:r>
              <a:rPr lang="en-US" altLang="zh-CN" dirty="0"/>
              <a:t>GPTM</a:t>
            </a:r>
            <a:r>
              <a:rPr lang="zh-CN" altLang="en-US" dirty="0"/>
              <a:t>定时器的主要部件就是两个自由运行的向上</a:t>
            </a:r>
            <a:r>
              <a:rPr lang="en-US" altLang="zh-CN" dirty="0"/>
              <a:t>/</a:t>
            </a:r>
            <a:r>
              <a:rPr lang="zh-CN" altLang="en-US" dirty="0"/>
              <a:t>向下计数器（称为</a:t>
            </a:r>
            <a:r>
              <a:rPr lang="en-US" altLang="zh-CN" dirty="0" err="1"/>
              <a:t>TimerA</a:t>
            </a:r>
            <a:r>
              <a:rPr lang="zh-CN" altLang="en-US" dirty="0"/>
              <a:t>和</a:t>
            </a:r>
            <a:r>
              <a:rPr lang="en-US" altLang="zh-CN" dirty="0" err="1"/>
              <a:t>TimerB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每个</a:t>
            </a:r>
            <a:r>
              <a:rPr lang="en-US" altLang="zh-CN" dirty="0"/>
              <a:t>GPTM</a:t>
            </a:r>
            <a:r>
              <a:rPr lang="zh-CN" altLang="en-US" dirty="0"/>
              <a:t>的具体功能由软件控制，并通过寄存器接口进行配置。定时器</a:t>
            </a:r>
            <a:r>
              <a:rPr lang="en-US" altLang="zh-CN" dirty="0"/>
              <a:t>A</a:t>
            </a:r>
            <a:r>
              <a:rPr lang="zh-CN" altLang="en-US" dirty="0"/>
              <a:t>和定时器</a:t>
            </a:r>
            <a:r>
              <a:rPr lang="en-US" altLang="zh-CN" dirty="0"/>
              <a:t>B</a:t>
            </a:r>
            <a:r>
              <a:rPr lang="zh-CN" altLang="en-US" dirty="0"/>
              <a:t>可以单独使用，此时它们由于</a:t>
            </a:r>
            <a:r>
              <a:rPr lang="en-US" altLang="zh-CN" dirty="0"/>
              <a:t>16/32</a:t>
            </a:r>
            <a:r>
              <a:rPr lang="zh-CN" altLang="en-US" dirty="0"/>
              <a:t>位的</a:t>
            </a:r>
            <a:r>
              <a:rPr lang="en-US" altLang="zh-CN" dirty="0"/>
              <a:t>GPTM</a:t>
            </a:r>
            <a:r>
              <a:rPr lang="zh-CN" altLang="en-US" dirty="0"/>
              <a:t>模块而拥有</a:t>
            </a:r>
            <a:r>
              <a:rPr lang="en-US" altLang="zh-CN" dirty="0"/>
              <a:t>16</a:t>
            </a:r>
            <a:r>
              <a:rPr lang="zh-CN" altLang="en-US" dirty="0"/>
              <a:t>位的计数范围。另外，定时器</a:t>
            </a:r>
            <a:r>
              <a:rPr lang="en-US" altLang="zh-CN" dirty="0"/>
              <a:t>A</a:t>
            </a:r>
            <a:r>
              <a:rPr lang="zh-CN" altLang="en-US" dirty="0"/>
              <a:t>和定时器</a:t>
            </a:r>
            <a:r>
              <a:rPr lang="en-US" altLang="zh-CN" dirty="0"/>
              <a:t>B</a:t>
            </a:r>
            <a:r>
              <a:rPr lang="zh-CN" altLang="en-US" dirty="0"/>
              <a:t>还能级联，此时它们拥有</a:t>
            </a:r>
            <a:r>
              <a:rPr lang="en-US" altLang="zh-CN" dirty="0"/>
              <a:t>32</a:t>
            </a:r>
            <a:r>
              <a:rPr lang="zh-CN" altLang="en-US" dirty="0"/>
              <a:t>位的计数范围。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76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38" y="3725712"/>
            <a:ext cx="7803811" cy="222423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8E22D79-505B-4A2E-9272-8FE9D373E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763" y="718901"/>
            <a:ext cx="7628474" cy="13550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5A4179-E06D-4136-AD8C-C9164D6BB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39" y="1692757"/>
            <a:ext cx="7601566" cy="15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2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2560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4" name="文本占位符 2560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3315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图片 1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765175"/>
            <a:ext cx="5627688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文本框 25606"/>
          <p:cNvSpPr txBox="1">
            <a:spLocks noChangeArrowheads="1"/>
          </p:cNvSpPr>
          <p:nvPr/>
        </p:nvSpPr>
        <p:spPr bwMode="auto">
          <a:xfrm>
            <a:off x="107950" y="4221163"/>
            <a:ext cx="87137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dirty="0"/>
              <a:t>这个例子描述了输入边沿计数模式工作原理。定时器开始值设置为0x000A而匹配值设置为0x0006，那么就会计数四个边沿事件。此时的计数器是信号上升下降沿检测。</a:t>
            </a:r>
          </a:p>
        </p:txBody>
      </p:sp>
      <p:sp>
        <p:nvSpPr>
          <p:cNvPr id="8" name="文本框 24579"/>
          <p:cNvSpPr txBox="1">
            <a:spLocks noChangeArrowheads="1"/>
          </p:cNvSpPr>
          <p:nvPr/>
        </p:nvSpPr>
        <p:spPr bwMode="auto">
          <a:xfrm>
            <a:off x="400631" y="83343"/>
            <a:ext cx="43396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输入边沿计数模式：</a:t>
            </a:r>
          </a:p>
        </p:txBody>
      </p:sp>
    </p:spTree>
    <p:extLst>
      <p:ext uri="{BB962C8B-B14F-4D97-AF65-F5344CB8AC3E}">
        <p14:creationId xmlns:p14="http://schemas.microsoft.com/office/powerpoint/2010/main" val="134217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276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5362" name="文本占位符 2765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5363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图片 1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693738"/>
            <a:ext cx="660241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文本框 27654"/>
          <p:cNvSpPr txBox="1">
            <a:spLocks noChangeArrowheads="1"/>
          </p:cNvSpPr>
          <p:nvPr/>
        </p:nvSpPr>
        <p:spPr bwMode="auto">
          <a:xfrm>
            <a:off x="250825" y="4510088"/>
            <a:ext cx="8720138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/>
              <a:t>这个例子描述了输入边沿定时模式的工作原理。该图中假设定时器的开始值是0xFFFF，捕获事件为上升沿模式。</a:t>
            </a:r>
          </a:p>
          <a:p>
            <a:r>
              <a:rPr lang="zh-CN" altLang="en-US" sz="2400"/>
              <a:t>每当检测到一个上升边沿事件时，当前计数值就会被加载到GPTMTnR和GPTMTnPS中，这些数值会一直持续到下一个上升边沿出现，此时新的计数值就会被加载到GPTMTnR和GPTMTnPS中。</a:t>
            </a:r>
          </a:p>
        </p:txBody>
      </p:sp>
      <p:sp>
        <p:nvSpPr>
          <p:cNvPr id="11" name="文本框 26627"/>
          <p:cNvSpPr txBox="1">
            <a:spLocks noChangeArrowheads="1"/>
          </p:cNvSpPr>
          <p:nvPr/>
        </p:nvSpPr>
        <p:spPr bwMode="auto">
          <a:xfrm>
            <a:off x="92047" y="53975"/>
            <a:ext cx="3840163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输入边沿定时模式</a:t>
            </a:r>
          </a:p>
        </p:txBody>
      </p:sp>
    </p:spTree>
    <p:extLst>
      <p:ext uri="{BB962C8B-B14F-4D97-AF65-F5344CB8AC3E}">
        <p14:creationId xmlns:p14="http://schemas.microsoft.com/office/powerpoint/2010/main" val="278397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71" name="Rectangle 35"/>
          <p:cNvSpPr>
            <a:spLocks noChangeArrowheads="1"/>
          </p:cNvSpPr>
          <p:nvPr/>
        </p:nvSpPr>
        <p:spPr bwMode="auto">
          <a:xfrm>
            <a:off x="34925" y="2924175"/>
            <a:ext cx="9109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7" name="文本框 28675"/>
          <p:cNvSpPr txBox="1">
            <a:spLocks noChangeArrowheads="1"/>
          </p:cNvSpPr>
          <p:nvPr/>
        </p:nvSpPr>
        <p:spPr bwMode="auto">
          <a:xfrm>
            <a:off x="637360" y="564349"/>
            <a:ext cx="2031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PWM模式 </a:t>
            </a:r>
          </a:p>
        </p:txBody>
      </p:sp>
      <p:sp>
        <p:nvSpPr>
          <p:cNvPr id="8" name="文本框 28710">
            <a:extLst>
              <a:ext uri="{FF2B5EF4-FFF2-40B4-BE49-F238E27FC236}">
                <a16:creationId xmlns:a16="http://schemas.microsoft.com/office/drawing/2014/main" id="{5BF286A7-AE8F-42CC-9A17-F04627C20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836" y="1893123"/>
            <a:ext cx="7043533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/>
              <a:t>GPTM</a:t>
            </a:r>
            <a:r>
              <a:rPr lang="zh-CN" altLang="en-US" sz="3200" dirty="0"/>
              <a:t>支持简单的</a:t>
            </a:r>
            <a:r>
              <a:rPr lang="en-US" altLang="zh-CN" sz="3200" dirty="0"/>
              <a:t>PWM</a:t>
            </a:r>
            <a:r>
              <a:rPr lang="zh-CN" altLang="en-US" sz="3200" dirty="0"/>
              <a:t>生成模式。</a:t>
            </a:r>
            <a:endParaRPr lang="en-US" altLang="zh-CN" sz="3200" dirty="0"/>
          </a:p>
          <a:p>
            <a:r>
              <a:rPr lang="zh-CN" altLang="en-US" sz="3200" dirty="0"/>
              <a:t>在</a:t>
            </a:r>
            <a:r>
              <a:rPr lang="en-US" altLang="zh-CN" sz="3200" dirty="0"/>
              <a:t>PWM</a:t>
            </a:r>
            <a:r>
              <a:rPr lang="zh-CN" altLang="en-US" sz="3200" dirty="0"/>
              <a:t>模式下，定时器会配置成一个</a:t>
            </a:r>
            <a:r>
              <a:rPr lang="en-US" altLang="zh-CN" sz="3200" dirty="0"/>
              <a:t>16</a:t>
            </a:r>
            <a:r>
              <a:rPr lang="zh-CN" altLang="en-US" sz="3200" dirty="0"/>
              <a:t>位的向下计数器，开始值由</a:t>
            </a:r>
            <a:r>
              <a:rPr lang="en-US" altLang="zh-CN" sz="3200" dirty="0" err="1"/>
              <a:t>GPTMTnILR</a:t>
            </a:r>
            <a:r>
              <a:rPr lang="zh-CN" altLang="en-US" sz="3200" dirty="0"/>
              <a:t>和</a:t>
            </a:r>
            <a:r>
              <a:rPr lang="en-US" altLang="zh-CN" sz="3200" dirty="0" err="1"/>
              <a:t>GPTMTnPR</a:t>
            </a:r>
            <a:r>
              <a:rPr lang="zh-CN" altLang="en-US" sz="3200" dirty="0"/>
              <a:t>寄存器决定。</a:t>
            </a:r>
          </a:p>
        </p:txBody>
      </p:sp>
    </p:spTree>
    <p:extLst>
      <p:ext uri="{BB962C8B-B14F-4D97-AF65-F5344CB8AC3E}">
        <p14:creationId xmlns:p14="http://schemas.microsoft.com/office/powerpoint/2010/main" val="426738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/>
          <p:cNvSpPr>
            <a:spLocks noChangeArrowheads="1"/>
          </p:cNvSpPr>
          <p:nvPr/>
        </p:nvSpPr>
        <p:spPr bwMode="auto">
          <a:xfrm>
            <a:off x="34925" y="765175"/>
            <a:ext cx="889317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ea typeface="微软雅黑" panose="020B0503020204020204" pitchFamily="34" charset="-122"/>
              </a:rPr>
              <a:t>PWM</a:t>
            </a:r>
            <a:r>
              <a:rPr lang="zh-CN" altLang="en-US" sz="2000" dirty="0">
                <a:ea typeface="微软雅黑" panose="020B0503020204020204" pitchFamily="34" charset="-122"/>
              </a:rPr>
              <a:t>全称 </a:t>
            </a:r>
            <a:r>
              <a:rPr lang="en-US" altLang="zh-CN" dirty="0"/>
              <a:t>Pulse Width Modulation</a:t>
            </a:r>
            <a:r>
              <a:rPr lang="zh-CN" altLang="en-US" dirty="0"/>
              <a:t>，脉冲宽度调制。</a:t>
            </a:r>
            <a:r>
              <a:rPr lang="zh-CN" altLang="en-US" sz="2000" dirty="0">
                <a:ea typeface="微软雅黑" panose="020B0503020204020204" pitchFamily="34" charset="-122"/>
              </a:rPr>
              <a:t>信号是一种具有周期固定、占空比可调的方波，如下图所示：</a:t>
            </a:r>
          </a:p>
        </p:txBody>
      </p:sp>
      <p:pic>
        <p:nvPicPr>
          <p:cNvPr id="35844" name="Picture 3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94" y="1883510"/>
            <a:ext cx="6623050" cy="187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3571" name="Rectangle 35"/>
          <p:cNvSpPr>
            <a:spLocks noChangeArrowheads="1"/>
          </p:cNvSpPr>
          <p:nvPr/>
        </p:nvSpPr>
        <p:spPr bwMode="auto">
          <a:xfrm>
            <a:off x="34925" y="2924175"/>
            <a:ext cx="9109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ea typeface="微软雅黑" panose="020B0503020204020204" pitchFamily="34" charset="-122"/>
            </a:endParaRPr>
          </a:p>
          <a:p>
            <a:pPr lvl="1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7" name="文本框 28675"/>
          <p:cNvSpPr txBox="1">
            <a:spLocks noChangeArrowheads="1"/>
          </p:cNvSpPr>
          <p:nvPr/>
        </p:nvSpPr>
        <p:spPr bwMode="auto">
          <a:xfrm>
            <a:off x="92075" y="77788"/>
            <a:ext cx="2031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PWM模式 </a:t>
            </a:r>
          </a:p>
        </p:txBody>
      </p:sp>
      <p:sp>
        <p:nvSpPr>
          <p:cNvPr id="2" name="矩形 1"/>
          <p:cNvSpPr/>
          <p:nvPr/>
        </p:nvSpPr>
        <p:spPr>
          <a:xfrm>
            <a:off x="1224500" y="4269850"/>
            <a:ext cx="3633249" cy="2104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1A1A1A"/>
                </a:solidFill>
                <a:latin typeface="-apple-system"/>
              </a:rPr>
              <a:t>使用</a:t>
            </a:r>
            <a:r>
              <a:rPr lang="en-US" altLang="zh-CN" b="1" dirty="0">
                <a:solidFill>
                  <a:srgbClr val="1A1A1A"/>
                </a:solidFill>
                <a:latin typeface="-apple-system"/>
              </a:rPr>
              <a:t>PWM</a:t>
            </a:r>
            <a:r>
              <a:rPr lang="zh-CN" altLang="en-US" b="1" dirty="0">
                <a:solidFill>
                  <a:srgbClr val="1A1A1A"/>
                </a:solidFill>
                <a:latin typeface="-apple-system"/>
              </a:rPr>
              <a:t>信号控制电机转速</a:t>
            </a:r>
            <a:endParaRPr lang="en-US" altLang="zh-CN" b="1" dirty="0">
              <a:solidFill>
                <a:srgbClr val="1A1A1A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1A1A1A"/>
                </a:solidFill>
                <a:latin typeface="-apple-system"/>
              </a:rPr>
              <a:t>LED</a:t>
            </a:r>
            <a:r>
              <a:rPr lang="zh-CN" altLang="en-US" b="1" dirty="0">
                <a:solidFill>
                  <a:srgbClr val="1A1A1A"/>
                </a:solidFill>
                <a:latin typeface="-apple-system"/>
              </a:rPr>
              <a:t>灯光源亮度</a:t>
            </a:r>
            <a:endParaRPr lang="en-US" altLang="zh-CN" b="1" dirty="0">
              <a:solidFill>
                <a:srgbClr val="1A1A1A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1A1A1A"/>
                </a:solidFill>
                <a:latin typeface="-apple-system"/>
              </a:rPr>
              <a:t>DC-DC</a:t>
            </a:r>
            <a:r>
              <a:rPr lang="zh-CN" altLang="en-US" b="1" dirty="0">
                <a:solidFill>
                  <a:srgbClr val="1A1A1A"/>
                </a:solidFill>
                <a:latin typeface="-apple-system"/>
              </a:rPr>
              <a:t>变换</a:t>
            </a:r>
            <a:endParaRPr lang="en-US" altLang="zh-CN" b="1" dirty="0">
              <a:solidFill>
                <a:srgbClr val="1A1A1A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1A1A1A"/>
                </a:solidFill>
                <a:latin typeface="-apple-system"/>
              </a:rPr>
              <a:t>D</a:t>
            </a:r>
            <a:r>
              <a:rPr lang="zh-CN" altLang="en-US" b="1" dirty="0">
                <a:solidFill>
                  <a:srgbClr val="1A1A1A"/>
                </a:solidFill>
                <a:latin typeface="-apple-system"/>
              </a:rPr>
              <a:t>类功放，输出音频波形。</a:t>
            </a:r>
            <a:endParaRPr lang="en-US" altLang="zh-CN" b="1" dirty="0">
              <a:solidFill>
                <a:srgbClr val="1A1A1A"/>
              </a:solidFill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1A1A1A"/>
                </a:solidFill>
                <a:latin typeface="-apple-system"/>
              </a:rPr>
              <a:t>波形产生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62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/>
      <p:bldP spid="1935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2969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7410" name="文本占位符 2969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7411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文本框 29700"/>
          <p:cNvSpPr txBox="1">
            <a:spLocks noChangeArrowheads="1"/>
          </p:cNvSpPr>
          <p:nvPr/>
        </p:nvSpPr>
        <p:spPr bwMode="auto">
          <a:xfrm>
            <a:off x="188913" y="198438"/>
            <a:ext cx="96996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/>
              <a:t>EG:</a:t>
            </a:r>
          </a:p>
        </p:txBody>
      </p:sp>
      <p:pic>
        <p:nvPicPr>
          <p:cNvPr id="17413" name="图片 1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789" y="3231536"/>
            <a:ext cx="5695950" cy="381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文本框 29702"/>
          <p:cNvSpPr txBox="1">
            <a:spLocks noChangeArrowheads="1"/>
          </p:cNvSpPr>
          <p:nvPr/>
        </p:nvSpPr>
        <p:spPr bwMode="auto">
          <a:xfrm>
            <a:off x="142875" y="764899"/>
            <a:ext cx="9001125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buClr>
                <a:srgbClr val="0000FF"/>
              </a:buClr>
            </a:pPr>
            <a:r>
              <a:rPr lang="zh-CN" altLang="en-US" b="1" dirty="0">
                <a:solidFill>
                  <a:srgbClr val="0000FF"/>
                </a:solidFill>
              </a:rPr>
              <a:t>◆</a:t>
            </a:r>
            <a:r>
              <a:rPr lang="zh-CN" altLang="en-US" sz="2400" dirty="0">
                <a:solidFill>
                  <a:srgbClr val="0000FF"/>
                </a:solidFill>
                <a:ea typeface="微软雅黑" panose="020B0503020204020204" pitchFamily="34" charset="-122"/>
              </a:rPr>
              <a:t> 可以随时间变化任意改变</a:t>
            </a:r>
            <a:r>
              <a:rPr lang="en-US" altLang="zh-CN" sz="2400" dirty="0">
                <a:solidFill>
                  <a:srgbClr val="0000FF"/>
                </a:solidFill>
                <a:ea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rgbClr val="0000FF"/>
                </a:solidFill>
                <a:ea typeface="微软雅黑" panose="020B0503020204020204" pitchFamily="34" charset="-122"/>
              </a:rPr>
              <a:t>信号的占空比，具体做法：</a:t>
            </a:r>
          </a:p>
          <a:p>
            <a:pPr lvl="1">
              <a:buClr>
                <a:srgbClr val="0000FF"/>
              </a:buClr>
            </a:pPr>
            <a:endParaRPr lang="zh-CN" altLang="en-US" sz="1000" dirty="0">
              <a:solidFill>
                <a:srgbClr val="0000FF"/>
              </a:solidFill>
              <a:ea typeface="微软雅黑" panose="020B0503020204020204" pitchFamily="34" charset="-122"/>
            </a:endParaRPr>
          </a:p>
          <a:p>
            <a:pPr lvl="2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微软雅黑" panose="020B0503020204020204" pitchFamily="34" charset="-122"/>
              </a:rPr>
              <a:t> 保持</a:t>
            </a:r>
            <a:r>
              <a:rPr lang="zh-CN" altLang="en-US" sz="2400" dirty="0"/>
              <a:t>GPTMTnILR</a:t>
            </a:r>
            <a:r>
              <a:rPr lang="zh-CN" altLang="en-US" sz="2400" dirty="0">
                <a:ea typeface="微软雅黑" panose="020B0503020204020204" pitchFamily="34" charset="-122"/>
              </a:rPr>
              <a:t>值（周期不变）；</a:t>
            </a:r>
          </a:p>
          <a:p>
            <a:pPr lvl="2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微软雅黑" panose="020B0503020204020204" pitchFamily="34" charset="-122"/>
              </a:rPr>
              <a:t> 改变</a:t>
            </a:r>
            <a:r>
              <a:rPr lang="zh-CN" altLang="en-US" sz="2400" dirty="0"/>
              <a:t>GPTMTnMATCHR</a:t>
            </a:r>
            <a:r>
              <a:rPr lang="zh-CN" altLang="en-US" sz="2400" dirty="0">
                <a:ea typeface="微软雅黑" panose="020B0503020204020204" pitchFamily="34" charset="-122"/>
              </a:rPr>
              <a:t>值（改变占空比）。</a:t>
            </a:r>
          </a:p>
          <a:p>
            <a:r>
              <a:rPr lang="zh-CN" altLang="en-US" sz="2800" dirty="0"/>
              <a:t>上图显示了如何产生占空比为</a:t>
            </a:r>
            <a:r>
              <a:rPr lang="en-US" altLang="zh-CN" sz="2800" dirty="0"/>
              <a:t>67</a:t>
            </a:r>
            <a:r>
              <a:rPr lang="zh-CN" altLang="en-US" sz="2800" dirty="0"/>
              <a:t>%信号。GPTMTnILR中的开始值是0xC350，GPTMTnMATCHR中的匹配值是0x411A。</a:t>
            </a:r>
          </a:p>
        </p:txBody>
      </p:sp>
    </p:spTree>
    <p:extLst>
      <p:ext uri="{BB962C8B-B14F-4D97-AF65-F5344CB8AC3E}">
        <p14:creationId xmlns:p14="http://schemas.microsoft.com/office/powerpoint/2010/main" val="189263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307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8434" name="文本占位符 3072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18435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文本框 30725"/>
          <p:cNvSpPr txBox="1">
            <a:spLocks noChangeArrowheads="1"/>
          </p:cNvSpPr>
          <p:nvPr/>
        </p:nvSpPr>
        <p:spPr bwMode="auto">
          <a:xfrm>
            <a:off x="168275" y="276225"/>
            <a:ext cx="9417963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dirty="0"/>
              <a:t>定时器应用例程：</a:t>
            </a:r>
            <a:endParaRPr lang="en-US" altLang="zh-CN" sz="3600" dirty="0"/>
          </a:p>
          <a:p>
            <a:endParaRPr lang="en-US" altLang="zh-CN" sz="3200" dirty="0"/>
          </a:p>
          <a:p>
            <a:r>
              <a:rPr lang="en-US" altLang="zh-CN" sz="3200" dirty="0"/>
              <a:t>CC3200SDK</a:t>
            </a:r>
            <a:r>
              <a:rPr lang="zh-CN" altLang="en-US" sz="3200" dirty="0"/>
              <a:t>中</a:t>
            </a:r>
            <a:endParaRPr lang="en-US" altLang="zh-CN" sz="3200" dirty="0"/>
          </a:p>
          <a:p>
            <a:r>
              <a:rPr lang="en-US" altLang="zh-CN" sz="3200" dirty="0"/>
              <a:t>timer</a:t>
            </a:r>
            <a:r>
              <a:rPr lang="zh-CN" altLang="en-US" sz="3200" dirty="0"/>
              <a:t>；定时器定时，控制</a:t>
            </a:r>
            <a:r>
              <a:rPr lang="en-US" altLang="zh-CN" sz="3200" dirty="0"/>
              <a:t>LED</a:t>
            </a:r>
            <a:r>
              <a:rPr lang="zh-CN" altLang="en-US" sz="3200" dirty="0"/>
              <a:t>闪烁。</a:t>
            </a:r>
            <a:endParaRPr lang="en-US" altLang="zh-CN" sz="3200" dirty="0"/>
          </a:p>
          <a:p>
            <a:r>
              <a:rPr lang="en-US" altLang="zh-CN" sz="3200" dirty="0" err="1"/>
              <a:t>timer_cc</a:t>
            </a:r>
            <a:r>
              <a:rPr lang="zh-CN" altLang="en-US" sz="3200" dirty="0"/>
              <a:t>；频率计设计</a:t>
            </a:r>
            <a:endParaRPr lang="en-US" altLang="zh-CN" sz="3200" dirty="0"/>
          </a:p>
          <a:p>
            <a:r>
              <a:rPr lang="en-US" altLang="zh-CN" sz="3200" dirty="0"/>
              <a:t>PWM</a:t>
            </a:r>
            <a:r>
              <a:rPr lang="zh-CN" altLang="en-US" sz="3200" dirty="0"/>
              <a:t>： </a:t>
            </a:r>
            <a:r>
              <a:rPr lang="en-US" altLang="zh-CN" sz="3200" dirty="0"/>
              <a:t>PWM</a:t>
            </a:r>
            <a:r>
              <a:rPr lang="zh-CN" altLang="en-US" sz="3200" dirty="0"/>
              <a:t>波形发生，改变占空比控制三色</a:t>
            </a:r>
            <a:r>
              <a:rPr lang="en-US" altLang="zh-CN" sz="3200" dirty="0"/>
              <a:t>LED</a:t>
            </a:r>
            <a:r>
              <a:rPr lang="zh-CN" altLang="en-US" sz="3200" dirty="0"/>
              <a:t>亮度</a:t>
            </a:r>
            <a:r>
              <a:rPr lang="en-US" altLang="zh-CN" sz="3200" dirty="0"/>
              <a:t> </a:t>
            </a:r>
            <a:endParaRPr lang="zh-CN" altLang="en-US" sz="3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0993"/>
            <a:ext cx="9109181" cy="294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62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9944" y="1020978"/>
            <a:ext cx="827314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endParaRPr lang="en-US" altLang="zh-CN" b="1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MAP_PRCMPeripheralClkEnable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(PRCM_TIMERA2, PRCM_RUN_MODE_CLK);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MAP_PRCMPeripheralClkEnable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(PRCM_TIMERA3, PRCM_RUN_MODE_CLK);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Configure PIN_64 for TIMERPWM5 GT_PWM05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MAP_PinTypeTimer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(PIN_64, PIN_MODE_3);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Configure PIN_01 for TIMERPWM6 GT_PWM06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MAP_PinTypeTimer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(PIN_01, PIN_MODE_3);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Configure PIN_02 for TIMERPWM7 GT_PWM07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MAP_PinTypeTimer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(PIN_02, PIN_MODE_3);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43429" y="551543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PWMIO</a:t>
            </a:r>
            <a:r>
              <a:rPr lang="zh-CN" altLang="en-US" dirty="0"/>
              <a:t>配置初始化</a:t>
            </a:r>
          </a:p>
        </p:txBody>
      </p:sp>
    </p:spTree>
    <p:extLst>
      <p:ext uri="{BB962C8B-B14F-4D97-AF65-F5344CB8AC3E}">
        <p14:creationId xmlns:p14="http://schemas.microsoft.com/office/powerpoint/2010/main" val="2107857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32230" y="0"/>
            <a:ext cx="11408229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InitPWMModules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Initialization of timers to generate PWM output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MAP_PRCMPeripheralClkEnable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(PRCM_TIMERA2, PRCM_RUN_MODE_CLK);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MAP_PRCMPeripheralClkEnable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(PRCM_TIMERA3, PRCM_RUN_MODE_CLK);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TIMERA2 (TIMER B) as RED of RGB light. GPIO 9 --&gt; PWM_5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SetupTimerPWMMode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(TIMERA2_BASE, TIMER_B,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  (TIMER_CFG_SPLIT_PAIR | TIMER_CFG_B_PWM), 1);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TIMERA3 (TIMER B) as YELLOW of RGB light. GPIO 10 --&gt; PWM_6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SetupTimerPWMMode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(TIMERA3_BASE, TIMER_A, 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  (TIMER_CFG_SPLIT_PAIR | TIMER_CFG_A_PWM | TIMER_CFG_B_PWM), 1);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TIMERA3 (TIMER A) as GREEN of RGB light. GPIO 11 --&gt; PWM_7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SetupTimerPWMMode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(TIMERA3_BASE, TIMER_B, 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  (TIMER_CFG_SPLIT_PAIR | TIMER_CFG_A_PWM | TIMER_CFG_B_PWM), 1);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MAP_TimerEnable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(TIMERA2_BASE,TIMER_B);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MAP_TimerEnable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(TIMERA3_BASE,TIMER_A);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MAP_TimerEnable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(TIMERA3_BASE,TIMER_B);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1608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3379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1506" name="文本占位符 3379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1507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文本框 33796"/>
          <p:cNvSpPr txBox="1">
            <a:spLocks noChangeArrowheads="1"/>
          </p:cNvSpPr>
          <p:nvPr/>
        </p:nvSpPr>
        <p:spPr bwMode="auto">
          <a:xfrm>
            <a:off x="250825" y="909638"/>
            <a:ext cx="9187130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//****************************************************************************</a:t>
            </a:r>
          </a:p>
          <a:p>
            <a:r>
              <a:rPr lang="en-US" altLang="zh-CN" b="1" dirty="0"/>
              <a:t>void </a:t>
            </a:r>
            <a:r>
              <a:rPr lang="en-US" altLang="zh-CN" b="1" dirty="0" err="1"/>
              <a:t>SetupTimerPWMMode</a:t>
            </a:r>
            <a:r>
              <a:rPr lang="en-US" altLang="zh-CN" b="1" dirty="0"/>
              <a:t>(unsigned long </a:t>
            </a:r>
            <a:r>
              <a:rPr lang="en-US" altLang="zh-CN" b="1" dirty="0" err="1"/>
              <a:t>ulBase</a:t>
            </a:r>
            <a:r>
              <a:rPr lang="en-US" altLang="zh-CN" b="1" dirty="0"/>
              <a:t>, unsigned long </a:t>
            </a:r>
            <a:r>
              <a:rPr lang="en-US" altLang="zh-CN" b="1" dirty="0" err="1"/>
              <a:t>ulTimer</a:t>
            </a:r>
            <a:r>
              <a:rPr lang="en-US" altLang="zh-CN" b="1" dirty="0"/>
              <a:t>,</a:t>
            </a:r>
          </a:p>
          <a:p>
            <a:r>
              <a:rPr lang="en-US" altLang="zh-CN" dirty="0"/>
              <a:t>                       </a:t>
            </a:r>
            <a:r>
              <a:rPr lang="en-US" altLang="zh-CN" b="1" dirty="0"/>
              <a:t>unsigned long </a:t>
            </a:r>
            <a:r>
              <a:rPr lang="en-US" altLang="zh-CN" b="1" dirty="0" err="1"/>
              <a:t>ulConfig</a:t>
            </a:r>
            <a:r>
              <a:rPr lang="en-US" altLang="zh-CN" b="1" dirty="0"/>
              <a:t>, unsigned char </a:t>
            </a:r>
            <a:r>
              <a:rPr lang="en-US" altLang="zh-CN" b="1" dirty="0" err="1"/>
              <a:t>ucInvert</a:t>
            </a:r>
            <a:r>
              <a:rPr lang="en-US" altLang="zh-CN" b="1" dirty="0"/>
              <a:t>)</a:t>
            </a:r>
          </a:p>
          <a:p>
            <a:r>
              <a:rPr lang="en-US" altLang="zh-CN" dirty="0"/>
              <a:t>{</a:t>
            </a:r>
            <a:r>
              <a:rPr lang="zh-CN" altLang="en-US" dirty="0"/>
              <a:t>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// Set GPT - Configured Timer in PWM mode.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//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MAP_TimerConfigure</a:t>
            </a:r>
            <a:r>
              <a:rPr lang="en-US" altLang="zh-CN" b="1" dirty="0"/>
              <a:t>(</a:t>
            </a:r>
            <a:r>
              <a:rPr lang="en-US" altLang="zh-CN" b="1" dirty="0" err="1"/>
              <a:t>ulBase,ulConfig</a:t>
            </a:r>
            <a:r>
              <a:rPr lang="en-US" altLang="zh-CN" b="1" dirty="0"/>
              <a:t>);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MAP_TimerPrescaleSet</a:t>
            </a:r>
            <a:r>
              <a:rPr lang="en-US" altLang="zh-CN" b="1" dirty="0"/>
              <a:t>(ulBase,ulTimer,0);</a:t>
            </a:r>
          </a:p>
          <a:p>
            <a:r>
              <a:rPr lang="zh-CN" altLang="en-US" dirty="0"/>
              <a:t> 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// Inverting the timer output if required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</a:t>
            </a:r>
            <a:r>
              <a:rPr lang="en-US" altLang="zh-CN" b="1" dirty="0" err="1"/>
              <a:t>MAP_TimerControlLevel</a:t>
            </a:r>
            <a:r>
              <a:rPr lang="en-US" altLang="zh-CN" b="1" dirty="0"/>
              <a:t>(</a:t>
            </a:r>
            <a:r>
              <a:rPr lang="en-US" altLang="zh-CN" b="1" dirty="0" err="1"/>
              <a:t>ulBase,ulTimer,ucInvert</a:t>
            </a:r>
            <a:r>
              <a:rPr lang="en-US" altLang="zh-CN" b="1" dirty="0"/>
              <a:t>);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// Load value set to ~0.5 </a:t>
            </a:r>
            <a:r>
              <a:rPr lang="en-US" altLang="zh-CN" dirty="0" err="1"/>
              <a:t>ms</a:t>
            </a:r>
            <a:r>
              <a:rPr lang="en-US" altLang="zh-CN" dirty="0"/>
              <a:t> time period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MAP_TimerLoadSet</a:t>
            </a:r>
            <a:r>
              <a:rPr lang="en-US" altLang="zh-CN" dirty="0"/>
              <a:t>(</a:t>
            </a:r>
            <a:r>
              <a:rPr lang="en-US" altLang="zh-CN" dirty="0" err="1"/>
              <a:t>ulBase,ulTimer,</a:t>
            </a:r>
            <a:r>
              <a:rPr lang="en-US" altLang="zh-CN" b="1" dirty="0" err="1">
                <a:solidFill>
                  <a:srgbClr val="FF0000"/>
                </a:solidFill>
              </a:rPr>
              <a:t>TIMER_INTERVAL_RELOAD</a:t>
            </a:r>
            <a:r>
              <a:rPr lang="en-US" altLang="zh-CN" dirty="0"/>
              <a:t>);</a:t>
            </a:r>
          </a:p>
          <a:p>
            <a:r>
              <a:rPr lang="zh-CN" altLang="en-US" dirty="0"/>
              <a:t>    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// Match value set so as to output level 0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//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MAP_TimerMatchSet</a:t>
            </a:r>
            <a:r>
              <a:rPr lang="en-US" altLang="zh-CN" dirty="0"/>
              <a:t>(</a:t>
            </a:r>
            <a:r>
              <a:rPr lang="en-US" altLang="zh-CN" dirty="0" err="1"/>
              <a:t>ulBase,ulTimer,</a:t>
            </a:r>
            <a:r>
              <a:rPr lang="en-US" altLang="zh-CN" dirty="0" err="1">
                <a:solidFill>
                  <a:srgbClr val="FF0000"/>
                </a:solidFill>
              </a:rPr>
              <a:t>TIMER_INTERVAL_RELOAD</a:t>
            </a:r>
            <a:r>
              <a:rPr lang="en-US" altLang="zh-CN" dirty="0"/>
              <a:t>);</a:t>
            </a:r>
          </a:p>
          <a:p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1509" name="文本框 33797"/>
          <p:cNvSpPr txBox="1">
            <a:spLocks noChangeArrowheads="1"/>
          </p:cNvSpPr>
          <p:nvPr/>
        </p:nvSpPr>
        <p:spPr bwMode="auto">
          <a:xfrm>
            <a:off x="455613" y="244475"/>
            <a:ext cx="2671762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/>
              <a:t>PWM模式：</a:t>
            </a:r>
          </a:p>
        </p:txBody>
      </p:sp>
    </p:spTree>
    <p:extLst>
      <p:ext uri="{BB962C8B-B14F-4D97-AF65-F5344CB8AC3E}">
        <p14:creationId xmlns:p14="http://schemas.microsoft.com/office/powerpoint/2010/main" val="58851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1886" y="2034018"/>
            <a:ext cx="87521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Timer tick frequency = 80 </a:t>
            </a:r>
            <a:r>
              <a:rPr lang="en-US" altLang="zh-CN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Mhz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 = 80000000 cycles/sec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For a time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period of 0.5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ms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    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Timer reload interval = 80000000/2000 = 40000 cycles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To support steps of duty cycle update from 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[0, 255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     duty cycle granularity = ceil(40000/255) = 157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Based on duty cycle granularity,</a:t>
            </a: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//      New Timer reload interval = 255*157 = 40035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     New time period = 0.5004375 </a:t>
            </a:r>
            <a:r>
              <a:rPr lang="en-US" altLang="zh-CN" dirty="0" err="1">
                <a:solidFill>
                  <a:srgbClr val="3F7F5F"/>
                </a:solidFill>
                <a:latin typeface="Consolas" panose="020B0609020204030204" pitchFamily="49" charset="0"/>
              </a:rPr>
              <a:t>ms</a:t>
            </a:r>
            <a:endParaRPr lang="en-US" altLang="zh-CN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     Timer match value = (update[0, 255] * duty cycle granularity)</a:t>
            </a:r>
          </a:p>
          <a:p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TIMER_INTERVAL_RELOAD   40035 </a:t>
            </a:r>
            <a:r>
              <a:rPr lang="en-US" altLang="zh-CN" b="1" dirty="0">
                <a:solidFill>
                  <a:srgbClr val="3F7F5F"/>
                </a:solidFill>
                <a:latin typeface="Consolas" panose="020B0609020204030204" pitchFamily="49" charset="0"/>
              </a:rPr>
              <a:t>/* =(255*157) */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#define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DUTYCYCLE_GRANULARITY   157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28914" y="653143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计算</a:t>
            </a:r>
            <a:r>
              <a:rPr lang="en-US" altLang="zh-CN" sz="2800" dirty="0"/>
              <a:t>PWM</a:t>
            </a:r>
            <a:r>
              <a:rPr lang="zh-CN" altLang="en-US" sz="2800" dirty="0"/>
              <a:t>周期</a:t>
            </a:r>
          </a:p>
        </p:txBody>
      </p:sp>
    </p:spTree>
    <p:extLst>
      <p:ext uri="{BB962C8B-B14F-4D97-AF65-F5344CB8AC3E}">
        <p14:creationId xmlns:p14="http://schemas.microsoft.com/office/powerpoint/2010/main" val="4105425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0629" y="1582341"/>
            <a:ext cx="870857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UpdateDutyCycle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unsigned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ulBase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unsigned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ulTimer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unsigned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ucLevel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 Match value is updated to reflect the new </a:t>
            </a:r>
            <a:r>
              <a:rPr lang="en-US" altLang="zh-CN" dirty="0" err="1">
                <a:solidFill>
                  <a:srgbClr val="3F7F5F"/>
                </a:solidFill>
                <a:latin typeface="Consolas" panose="020B0609020204030204" pitchFamily="49" charset="0"/>
              </a:rPr>
              <a:t>dutycycle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 settings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MAP_TimerMatchSet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ulBase,ulTimer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,(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ucLevel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*DUTYCYCLE_GRANULARITY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66057" y="478971"/>
            <a:ext cx="3595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改变参数 改变占空比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2458" y="4310743"/>
            <a:ext cx="78667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可以通过按键输入，改变占空比。可采用中断模式</a:t>
            </a:r>
            <a:endParaRPr lang="en-US" altLang="zh-CN" sz="2400" dirty="0"/>
          </a:p>
          <a:p>
            <a:r>
              <a:rPr lang="en-US" altLang="zh-CN" b="1" dirty="0"/>
              <a:t>unsigned long </a:t>
            </a:r>
            <a:r>
              <a:rPr lang="en-US" altLang="zh-CN" b="1" dirty="0" err="1"/>
              <a:t>ulPinState</a:t>
            </a:r>
            <a:r>
              <a:rPr lang="en-US" altLang="zh-CN" b="1" dirty="0"/>
              <a:t>=</a:t>
            </a:r>
            <a:r>
              <a:rPr lang="en-US" altLang="zh-CN" b="1" dirty="0" err="1"/>
              <a:t>GPIOIntStatus</a:t>
            </a:r>
            <a:r>
              <a:rPr lang="en-US" altLang="zh-CN" b="1" dirty="0"/>
              <a:t>(GPIOA1_BASE,1);</a:t>
            </a:r>
          </a:p>
          <a:p>
            <a:r>
              <a:rPr lang="en-US" altLang="zh-CN" b="1" dirty="0"/>
              <a:t>if(ulPinState&amp;GPIO_INT_PIN_5)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key=key+5;</a:t>
            </a:r>
          </a:p>
          <a:p>
            <a:r>
              <a:rPr lang="en-US" altLang="zh-CN" dirty="0" err="1"/>
              <a:t>GPIOIntClear</a:t>
            </a:r>
            <a:r>
              <a:rPr lang="en-US" altLang="zh-CN" dirty="0"/>
              <a:t>(GPIOA1_BASE, GPIO_INT_PIN_5);</a:t>
            </a:r>
          </a:p>
          <a:p>
            <a:r>
              <a:rPr lang="en-US" altLang="zh-CN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48685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4400" y="4194629"/>
            <a:ext cx="779417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函数中：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key=</a:t>
            </a:r>
            <a:r>
              <a:rPr lang="en-US" altLang="zh-CN" sz="2000" b="1" dirty="0">
                <a:solidFill>
                  <a:srgbClr val="642880"/>
                </a:solidFill>
                <a:latin typeface="Consolas" panose="020B0609020204030204" pitchFamily="49" charset="0"/>
              </a:rPr>
              <a:t>abs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(key)%255;</a:t>
            </a:r>
          </a:p>
          <a:p>
            <a:r>
              <a:rPr lang="en-US" altLang="zh-CN" sz="2000" dirty="0" err="1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UpdateDutyCycle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(TIMERA2_BASE, TIMER_B, key);</a:t>
            </a:r>
          </a:p>
          <a:p>
            <a:r>
              <a:rPr lang="en-US" altLang="zh-CN" sz="2000" dirty="0" err="1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UpdateDutyCycle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(TIMERA3_BASE, TIMER_B, key);</a:t>
            </a:r>
          </a:p>
          <a:p>
            <a:r>
              <a:rPr lang="en-US" altLang="zh-CN" sz="2000" dirty="0" err="1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UpdateDutyCycle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D4D4D4"/>
                </a:highlight>
                <a:latin typeface="Consolas" panose="020B0609020204030204" pitchFamily="49" charset="0"/>
              </a:rPr>
              <a:t>(TIMERA3_BASE, TIMER_A, key);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1255485" y="612339"/>
            <a:ext cx="759822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void </a:t>
            </a:r>
            <a:r>
              <a:rPr lang="en-US" altLang="zh-CN" b="1" dirty="0" err="1"/>
              <a:t>key_handle</a:t>
            </a:r>
            <a:r>
              <a:rPr lang="en-US" altLang="zh-CN" b="1" dirty="0"/>
              <a:t>(void)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b="1" dirty="0"/>
              <a:t>unsigned long </a:t>
            </a:r>
            <a:r>
              <a:rPr lang="en-US" altLang="zh-CN" b="1" dirty="0" err="1"/>
              <a:t>ulPinState</a:t>
            </a:r>
            <a:r>
              <a:rPr lang="en-US" altLang="zh-CN" b="1" dirty="0"/>
              <a:t>=</a:t>
            </a:r>
            <a:r>
              <a:rPr lang="en-US" altLang="zh-CN" b="1" dirty="0" err="1"/>
              <a:t>GPIOIntStatus</a:t>
            </a:r>
            <a:r>
              <a:rPr lang="en-US" altLang="zh-CN" b="1" dirty="0"/>
              <a:t>(GPIOA1_BASE,1);</a:t>
            </a:r>
          </a:p>
          <a:p>
            <a:r>
              <a:rPr lang="en-US" altLang="zh-CN" b="1" dirty="0"/>
              <a:t>if(ulPinState&amp;GPIO_INT_PIN_5)</a:t>
            </a:r>
          </a:p>
          <a:p>
            <a:r>
              <a:rPr lang="en-US" altLang="zh-CN" dirty="0"/>
              <a:t>  {</a:t>
            </a:r>
          </a:p>
          <a:p>
            <a:r>
              <a:rPr lang="en-US" altLang="zh-CN" sz="2000" b="1" dirty="0"/>
              <a:t>  key=key+5;</a:t>
            </a:r>
          </a:p>
          <a:p>
            <a:r>
              <a:rPr lang="en-US" altLang="zh-CN" dirty="0"/>
              <a:t>  </a:t>
            </a:r>
            <a:r>
              <a:rPr lang="en-US" altLang="zh-CN" dirty="0" err="1"/>
              <a:t>GPIOIntClear</a:t>
            </a:r>
            <a:r>
              <a:rPr lang="en-US" altLang="zh-CN" dirty="0"/>
              <a:t>(GPIOA1_BASE, GPIO_INT_PIN_5);</a:t>
            </a:r>
          </a:p>
          <a:p>
            <a:r>
              <a:rPr lang="en-US" altLang="zh-CN" dirty="0"/>
              <a:t>  }</a:t>
            </a:r>
          </a:p>
          <a:p>
            <a:r>
              <a:rPr lang="en-US" altLang="zh-CN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77367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2"/>
          <p:cNvSpPr>
            <a:spLocks noChangeArrowheads="1"/>
          </p:cNvSpPr>
          <p:nvPr/>
        </p:nvSpPr>
        <p:spPr bwMode="auto">
          <a:xfrm>
            <a:off x="941388" y="1544340"/>
            <a:ext cx="6519862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dirty="0"/>
              <a:t>所有数字通信系统都具有三种设备：</a:t>
            </a:r>
            <a:r>
              <a:rPr lang="zh-CN" altLang="en-US" sz="3600" dirty="0"/>
              <a:t>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发送器：把信息处理成合适的格式，然后发送；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接收器：收集信息并抽取出原始数据；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通信介质：为信息流提供物理介质，通常为双绞线、光纤或射频</a:t>
            </a:r>
          </a:p>
          <a:p>
            <a:pPr>
              <a:defRPr/>
            </a:pPr>
            <a:r>
              <a:rPr lang="zh-CN" altLang="en-US" sz="2800" dirty="0"/>
              <a:t>通信术语：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并行：数据各位同时进行传送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串行：数据逐位顺序进行传送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全双工：</a:t>
            </a:r>
            <a:r>
              <a:rPr lang="en-US" altLang="zh-CN" sz="2400" dirty="0"/>
              <a:t>(</a:t>
            </a:r>
            <a:r>
              <a:rPr lang="zh-CN" altLang="en-US" sz="2400" dirty="0"/>
              <a:t>串行通信</a:t>
            </a:r>
            <a:r>
              <a:rPr lang="en-US" altLang="zh-CN" sz="2400" dirty="0"/>
              <a:t>)</a:t>
            </a:r>
            <a:r>
              <a:rPr lang="zh-CN" altLang="en-US" sz="2400" dirty="0"/>
              <a:t>收</a:t>
            </a:r>
            <a:r>
              <a:rPr lang="en-US" altLang="zh-CN" sz="2400" dirty="0"/>
              <a:t>/</a:t>
            </a:r>
            <a:r>
              <a:rPr lang="zh-CN" altLang="en-US" sz="2400" dirty="0"/>
              <a:t>发可同时进行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半双工：</a:t>
            </a:r>
            <a:r>
              <a:rPr lang="en-US" altLang="zh-CN" sz="2400" dirty="0"/>
              <a:t>(</a:t>
            </a:r>
            <a:r>
              <a:rPr lang="zh-CN" altLang="en-US" sz="2400" dirty="0"/>
              <a:t>串行通信</a:t>
            </a:r>
            <a:r>
              <a:rPr lang="en-US" altLang="zh-CN" sz="2400" dirty="0"/>
              <a:t>)</a:t>
            </a:r>
            <a:r>
              <a:rPr lang="zh-CN" altLang="en-US" sz="2400" dirty="0"/>
              <a:t>收</a:t>
            </a:r>
            <a:r>
              <a:rPr lang="en-US" altLang="zh-CN" sz="2400" dirty="0"/>
              <a:t>/</a:t>
            </a:r>
            <a:r>
              <a:rPr lang="zh-CN" altLang="en-US" sz="2400" dirty="0"/>
              <a:t>发不可同时进行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比特率</a:t>
            </a:r>
            <a:r>
              <a:rPr lang="en-US" altLang="zh-CN" sz="2400" dirty="0"/>
              <a:t>(bps.)</a:t>
            </a:r>
            <a:r>
              <a:rPr lang="zh-CN" altLang="en-US" sz="2400" dirty="0"/>
              <a:t>：单位时间传送的位数 </a:t>
            </a:r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0" y="-176213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97" name="矩形 5"/>
          <p:cNvSpPr>
            <a:spLocks noChangeArrowheads="1"/>
          </p:cNvSpPr>
          <p:nvPr/>
        </p:nvSpPr>
        <p:spPr bwMode="auto">
          <a:xfrm>
            <a:off x="2051051" y="600075"/>
            <a:ext cx="466248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/>
              <a:t>通信的一些基本概念</a:t>
            </a:r>
            <a:endParaRPr lang="zh-CN" altLang="zh-CN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65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2"/>
          <p:cNvSpPr>
            <a:spLocks noChangeArrowheads="1"/>
          </p:cNvSpPr>
          <p:nvPr/>
        </p:nvSpPr>
        <p:spPr bwMode="auto">
          <a:xfrm>
            <a:off x="757238" y="1878013"/>
            <a:ext cx="3416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/>
              <a:t>并行通信和串行通信两种方式。</a:t>
            </a:r>
            <a:endParaRPr lang="zh-CN" altLang="en-US"/>
          </a:p>
        </p:txBody>
      </p:sp>
      <p:sp>
        <p:nvSpPr>
          <p:cNvPr id="8195" name="Rectangle 5"/>
          <p:cNvSpPr>
            <a:spLocks noChangeArrowheads="1"/>
          </p:cNvSpPr>
          <p:nvPr/>
        </p:nvSpPr>
        <p:spPr bwMode="auto">
          <a:xfrm>
            <a:off x="0" y="-176213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196" name="对象 4"/>
          <p:cNvGraphicFramePr>
            <a:graphicFrameLocks/>
          </p:cNvGraphicFramePr>
          <p:nvPr/>
        </p:nvGraphicFramePr>
        <p:xfrm>
          <a:off x="1042988" y="2297113"/>
          <a:ext cx="5735637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Picture" r:id="rId4" imgW="4989685" imgH="1773880" progId="Word.Picture.8">
                  <p:embed/>
                </p:oleObj>
              </mc:Choice>
              <mc:Fallback>
                <p:oleObj name="Picture" r:id="rId4" imgW="4989685" imgH="1773880" progId="Word.Picture.8">
                  <p:embed/>
                  <p:pic>
                    <p:nvPicPr>
                      <p:cNvPr id="8196" name="对象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97113"/>
                        <a:ext cx="5735637" cy="250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矩形 5"/>
          <p:cNvSpPr>
            <a:spLocks noChangeArrowheads="1"/>
          </p:cNvSpPr>
          <p:nvPr/>
        </p:nvSpPr>
        <p:spPr bwMode="auto">
          <a:xfrm>
            <a:off x="2843213" y="1082675"/>
            <a:ext cx="3673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>
                <a:solidFill>
                  <a:srgbClr val="0000FF"/>
                </a:solidFill>
              </a:rPr>
              <a:t>并行通信和串行通信</a:t>
            </a:r>
          </a:p>
        </p:txBody>
      </p:sp>
    </p:spTree>
    <p:extLst>
      <p:ext uri="{BB962C8B-B14F-4D97-AF65-F5344CB8AC3E}">
        <p14:creationId xmlns:p14="http://schemas.microsoft.com/office/powerpoint/2010/main" val="1016596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 idx="4294967295"/>
          </p:nvPr>
        </p:nvSpPr>
        <p:spPr>
          <a:xfrm>
            <a:off x="925513" y="476250"/>
            <a:ext cx="8218487" cy="666750"/>
          </a:xfrm>
        </p:spPr>
        <p:txBody>
          <a:bodyPr/>
          <a:lstStyle/>
          <a:p>
            <a:pPr>
              <a:defRPr/>
            </a:pPr>
            <a:r>
              <a:rPr lang="zh-CN" altLang="en-US" sz="3200"/>
              <a:t>串行通信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0" y="1285875"/>
            <a:ext cx="8229600" cy="4581525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串行通信的基本特征是</a:t>
            </a:r>
            <a:r>
              <a:rPr lang="zh-CN" altLang="en-US" sz="2800" dirty="0">
                <a:solidFill>
                  <a:srgbClr val="FF0000"/>
                </a:solidFill>
              </a:rPr>
              <a:t>数据逐位顺序进行传送</a:t>
            </a:r>
            <a:r>
              <a:rPr lang="zh-CN" altLang="en-US" sz="2800" dirty="0"/>
              <a:t>串行通信的格式及约定（如：同步方式、通讯速率、数据块格式、信号电平</a:t>
            </a:r>
            <a:r>
              <a:rPr lang="en-US" altLang="zh-CN" sz="2800" dirty="0"/>
              <a:t>……</a:t>
            </a:r>
            <a:r>
              <a:rPr lang="zh-CN" altLang="en-US" sz="2800" dirty="0"/>
              <a:t>等）不同，形成了多种串行通信的协议与接口标准。 </a:t>
            </a:r>
          </a:p>
          <a:p>
            <a:pPr>
              <a:defRPr/>
            </a:pPr>
            <a:r>
              <a:rPr lang="zh-CN" altLang="en-US" sz="2800" dirty="0"/>
              <a:t>常见的有：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cs typeface="+mn-cs"/>
              </a:rPr>
              <a:t>通用异步收发器</a:t>
            </a:r>
            <a:r>
              <a:rPr lang="en-US" altLang="zh-CN" sz="2400" dirty="0">
                <a:cs typeface="+mn-cs"/>
              </a:rPr>
              <a:t>(UART)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cs typeface="+mn-cs"/>
              </a:rPr>
              <a:t>通用串行总线（</a:t>
            </a:r>
            <a:r>
              <a:rPr lang="en-US" altLang="zh-CN" sz="2400" dirty="0">
                <a:cs typeface="+mn-cs"/>
              </a:rPr>
              <a:t>USB</a:t>
            </a:r>
            <a:r>
              <a:rPr lang="zh-CN" altLang="en-US" sz="2400" dirty="0">
                <a:cs typeface="+mn-cs"/>
              </a:rPr>
              <a:t>）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cs typeface="+mn-cs"/>
              </a:rPr>
              <a:t>I2C</a:t>
            </a:r>
            <a:r>
              <a:rPr lang="zh-CN" altLang="en-US" sz="2400" dirty="0">
                <a:cs typeface="+mn-cs"/>
              </a:rPr>
              <a:t>总线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cs typeface="+mn-cs"/>
              </a:rPr>
              <a:t>CAN</a:t>
            </a:r>
            <a:r>
              <a:rPr lang="zh-CN" altLang="en-US" sz="2400" dirty="0">
                <a:cs typeface="+mn-cs"/>
              </a:rPr>
              <a:t>总线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cs typeface="+mn-cs"/>
              </a:rPr>
              <a:t>SPI</a:t>
            </a:r>
            <a:r>
              <a:rPr lang="zh-CN" altLang="en-US" sz="2400" dirty="0">
                <a:cs typeface="+mn-cs"/>
              </a:rPr>
              <a:t>总线 </a:t>
            </a:r>
            <a:r>
              <a:rPr lang="en-US" altLang="zh-CN" sz="2400" dirty="0">
                <a:cs typeface="+mn-cs"/>
              </a:rPr>
              <a:t>–</a:t>
            </a:r>
            <a:r>
              <a:rPr lang="zh-CN" altLang="en-US" sz="2400" dirty="0">
                <a:cs typeface="+mn-cs"/>
              </a:rPr>
              <a:t>串行外设接口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cs typeface="+mn-cs"/>
              </a:rPr>
              <a:t>RS-485</a:t>
            </a:r>
            <a:r>
              <a:rPr lang="zh-CN" altLang="en-US" sz="2400" dirty="0">
                <a:cs typeface="+mn-cs"/>
              </a:rPr>
              <a:t>，</a:t>
            </a:r>
            <a:r>
              <a:rPr lang="en-US" altLang="zh-CN" sz="2400" dirty="0">
                <a:cs typeface="+mn-cs"/>
              </a:rPr>
              <a:t>RS-232C</a:t>
            </a:r>
            <a:r>
              <a:rPr lang="zh-CN" altLang="en-US" sz="2400" dirty="0">
                <a:cs typeface="+mn-cs"/>
              </a:rPr>
              <a:t>，</a:t>
            </a:r>
            <a:r>
              <a:rPr lang="en-US" altLang="zh-CN" sz="2400" dirty="0">
                <a:cs typeface="+mn-cs"/>
              </a:rPr>
              <a:t>RS422A</a:t>
            </a:r>
            <a:r>
              <a:rPr lang="zh-CN" altLang="en-US" sz="2400" dirty="0">
                <a:cs typeface="+mn-cs"/>
              </a:rPr>
              <a:t>标准</a:t>
            </a:r>
            <a:r>
              <a:rPr lang="en-US" altLang="zh-CN" sz="2400" dirty="0">
                <a:cs typeface="+mn-cs"/>
              </a:rPr>
              <a:t>…… </a:t>
            </a:r>
          </a:p>
          <a:p>
            <a:pPr>
              <a:defRPr/>
            </a:pPr>
            <a:endParaRPr lang="zh-CN" altLang="en-US" sz="2000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A7B9E2-7CD8-4DA5-AE33-E8621FA50D03}" type="slidenum">
              <a:rPr lang="en-US" altLang="zh-CN">
                <a:latin typeface="Arial Black" panose="020B0A04020102020204" pitchFamily="34" charset="0"/>
              </a:rPr>
              <a:pPr/>
              <a:t>21</a:t>
            </a:fld>
            <a:endParaRPr lang="en-US" altLang="zh-CN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418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/>
          <p:cNvSpPr>
            <a:spLocks noChangeArrowheads="1"/>
          </p:cNvSpPr>
          <p:nvPr/>
        </p:nvSpPr>
        <p:spPr bwMode="auto">
          <a:xfrm>
            <a:off x="539750" y="1268413"/>
            <a:ext cx="1992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FF"/>
                </a:solidFill>
              </a:rPr>
              <a:t>2.</a:t>
            </a:r>
            <a:r>
              <a:rPr lang="zh-CN" altLang="zh-CN">
                <a:solidFill>
                  <a:srgbClr val="0000FF"/>
                </a:solidFill>
              </a:rPr>
              <a:t>串行通信的方向</a:t>
            </a: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0" y="-176213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8" name="对象 3"/>
          <p:cNvGraphicFramePr>
            <a:graphicFrameLocks noChangeAspect="1"/>
          </p:cNvGraphicFramePr>
          <p:nvPr/>
        </p:nvGraphicFramePr>
        <p:xfrm>
          <a:off x="349250" y="1917700"/>
          <a:ext cx="83788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Visio" r:id="rId4" imgW="5508041" imgH="637337" progId="Visio.Drawing.11">
                  <p:embed/>
                </p:oleObj>
              </mc:Choice>
              <mc:Fallback>
                <p:oleObj name="Visio" r:id="rId4" imgW="5508041" imgH="637337" progId="Visio.Drawing.11">
                  <p:embed/>
                  <p:pic>
                    <p:nvPicPr>
                      <p:cNvPr id="11268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" y="1917700"/>
                        <a:ext cx="83788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矩形 4"/>
          <p:cNvSpPr>
            <a:spLocks noChangeArrowheads="1"/>
          </p:cNvSpPr>
          <p:nvPr/>
        </p:nvSpPr>
        <p:spPr bwMode="auto">
          <a:xfrm>
            <a:off x="647700" y="2919413"/>
            <a:ext cx="84963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FF"/>
                </a:solidFill>
              </a:rPr>
              <a:t>      </a:t>
            </a:r>
            <a:r>
              <a:rPr lang="zh-CN" altLang="zh-CN">
                <a:solidFill>
                  <a:srgbClr val="0000FF"/>
                </a:solidFill>
              </a:rPr>
              <a:t>单工</a:t>
            </a:r>
            <a:r>
              <a:rPr lang="en-US" altLang="zh-CN">
                <a:solidFill>
                  <a:srgbClr val="0000FF"/>
                </a:solidFill>
              </a:rPr>
              <a:t>                                             </a:t>
            </a:r>
            <a:r>
              <a:rPr lang="zh-CN" altLang="zh-CN">
                <a:solidFill>
                  <a:srgbClr val="0000FF"/>
                </a:solidFill>
              </a:rPr>
              <a:t>全双工</a:t>
            </a:r>
            <a:r>
              <a:rPr lang="en-US" altLang="zh-CN">
                <a:solidFill>
                  <a:srgbClr val="0000FF"/>
                </a:solidFill>
              </a:rPr>
              <a:t>                                  </a:t>
            </a:r>
            <a:r>
              <a:rPr lang="zh-CN" altLang="zh-CN">
                <a:solidFill>
                  <a:srgbClr val="0000FF"/>
                </a:solidFill>
              </a:rPr>
              <a:t>半双工</a:t>
            </a:r>
          </a:p>
        </p:txBody>
      </p:sp>
      <p:sp>
        <p:nvSpPr>
          <p:cNvPr id="11270" name="矩形 5"/>
          <p:cNvSpPr>
            <a:spLocks noChangeArrowheads="1"/>
          </p:cNvSpPr>
          <p:nvPr/>
        </p:nvSpPr>
        <p:spPr bwMode="auto">
          <a:xfrm>
            <a:off x="319088" y="3427413"/>
            <a:ext cx="33782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FF"/>
                </a:solidFill>
              </a:rPr>
              <a:t>3.</a:t>
            </a:r>
            <a:r>
              <a:rPr lang="zh-CN" altLang="zh-CN">
                <a:solidFill>
                  <a:srgbClr val="0000FF"/>
                </a:solidFill>
              </a:rPr>
              <a:t>同步串行通信和异步串行通信</a:t>
            </a:r>
          </a:p>
        </p:txBody>
      </p:sp>
      <p:sp>
        <p:nvSpPr>
          <p:cNvPr id="11271" name="Rectangle 4"/>
          <p:cNvSpPr>
            <a:spLocks noChangeArrowheads="1"/>
          </p:cNvSpPr>
          <p:nvPr/>
        </p:nvSpPr>
        <p:spPr bwMode="auto">
          <a:xfrm>
            <a:off x="0" y="-176213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72" name="对象 7"/>
          <p:cNvGraphicFramePr>
            <a:graphicFrameLocks noChangeAspect="1"/>
          </p:cNvGraphicFramePr>
          <p:nvPr/>
        </p:nvGraphicFramePr>
        <p:xfrm>
          <a:off x="971550" y="3802063"/>
          <a:ext cx="6580188" cy="230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Visio" r:id="rId6" imgW="3460647" imgH="1222329" progId="Visio.Drawing.11">
                  <p:embed/>
                </p:oleObj>
              </mc:Choice>
              <mc:Fallback>
                <p:oleObj name="Visio" r:id="rId6" imgW="3460647" imgH="1222329" progId="Visio.Drawing.11">
                  <p:embed/>
                  <p:pic>
                    <p:nvPicPr>
                      <p:cNvPr id="11272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802063"/>
                        <a:ext cx="6580188" cy="230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矩形 8"/>
          <p:cNvSpPr>
            <a:spLocks noChangeArrowheads="1"/>
          </p:cNvSpPr>
          <p:nvPr/>
        </p:nvSpPr>
        <p:spPr bwMode="auto">
          <a:xfrm>
            <a:off x="2987675" y="6094413"/>
            <a:ext cx="272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00FF"/>
                </a:solidFill>
              </a:rPr>
              <a:t>异步串行通信的字符格式</a:t>
            </a:r>
          </a:p>
        </p:txBody>
      </p:sp>
    </p:spTree>
    <p:extLst>
      <p:ext uri="{BB962C8B-B14F-4D97-AF65-F5344CB8AC3E}">
        <p14:creationId xmlns:p14="http://schemas.microsoft.com/office/powerpoint/2010/main" val="15080066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2"/>
          <p:cNvSpPr txBox="1">
            <a:spLocks/>
          </p:cNvSpPr>
          <p:nvPr/>
        </p:nvSpPr>
        <p:spPr bwMode="auto">
          <a:xfrm>
            <a:off x="323850" y="477838"/>
            <a:ext cx="82296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rgbClr val="FF0000"/>
                </a:solidFill>
                <a:latin typeface="Calibri" panose="020F0502020204030204" pitchFamily="34" charset="0"/>
              </a:rPr>
              <a:t>串行通信概述</a:t>
            </a: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-176213"/>
            <a:ext cx="1841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316" name="对象 2"/>
          <p:cNvGraphicFramePr>
            <a:graphicFrameLocks noChangeAspect="1"/>
          </p:cNvGraphicFramePr>
          <p:nvPr/>
        </p:nvGraphicFramePr>
        <p:xfrm>
          <a:off x="900113" y="1341438"/>
          <a:ext cx="613251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Visio" r:id="rId4" imgW="7839075" imgH="2038350" progId="Visio.Drawing.11">
                  <p:embed/>
                </p:oleObj>
              </mc:Choice>
              <mc:Fallback>
                <p:oleObj name="Visio" r:id="rId4" imgW="7839075" imgH="2038350" progId="Visio.Drawing.11">
                  <p:embed/>
                  <p:pic>
                    <p:nvPicPr>
                      <p:cNvPr id="13316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341438"/>
                        <a:ext cx="613251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矩形 3"/>
          <p:cNvSpPr>
            <a:spLocks noChangeArrowheads="1"/>
          </p:cNvSpPr>
          <p:nvPr/>
        </p:nvSpPr>
        <p:spPr bwMode="auto">
          <a:xfrm>
            <a:off x="3419475" y="3141663"/>
            <a:ext cx="1108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00FF"/>
                </a:solidFill>
              </a:rPr>
              <a:t>同步通信</a:t>
            </a:r>
          </a:p>
        </p:txBody>
      </p:sp>
      <p:sp>
        <p:nvSpPr>
          <p:cNvPr id="13318" name="矩形 4"/>
          <p:cNvSpPr>
            <a:spLocks noChangeArrowheads="1"/>
          </p:cNvSpPr>
          <p:nvPr/>
        </p:nvSpPr>
        <p:spPr bwMode="auto">
          <a:xfrm>
            <a:off x="517525" y="3544888"/>
            <a:ext cx="26209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FF"/>
                </a:solidFill>
              </a:rPr>
              <a:t>4</a:t>
            </a:r>
            <a:r>
              <a:rPr lang="zh-CN" altLang="zh-CN">
                <a:solidFill>
                  <a:srgbClr val="0000FF"/>
                </a:solidFill>
              </a:rPr>
              <a:t>．串行通信的传送速率</a:t>
            </a:r>
          </a:p>
        </p:txBody>
      </p:sp>
      <p:sp>
        <p:nvSpPr>
          <p:cNvPr id="13319" name="矩形 5"/>
          <p:cNvSpPr>
            <a:spLocks noChangeArrowheads="1"/>
          </p:cNvSpPr>
          <p:nvPr/>
        </p:nvSpPr>
        <p:spPr bwMode="auto">
          <a:xfrm>
            <a:off x="647700" y="4149725"/>
            <a:ext cx="79200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zh-CN"/>
              <a:t>每秒传送一个格式位就是</a:t>
            </a:r>
            <a:r>
              <a:rPr lang="en-US" altLang="zh-CN"/>
              <a:t>1</a:t>
            </a:r>
            <a:r>
              <a:rPr lang="zh-CN" altLang="zh-CN"/>
              <a:t>波特。即：</a:t>
            </a:r>
            <a:r>
              <a:rPr lang="en-US" altLang="zh-CN"/>
              <a:t>1</a:t>
            </a:r>
            <a:r>
              <a:rPr lang="zh-CN" altLang="zh-CN"/>
              <a:t>波特＝</a:t>
            </a:r>
            <a:r>
              <a:rPr lang="en-US" altLang="zh-CN"/>
              <a:t>1bps(</a:t>
            </a:r>
            <a:r>
              <a:rPr lang="zh-CN" altLang="zh-CN"/>
              <a:t>位</a:t>
            </a:r>
            <a:r>
              <a:rPr lang="en-US" altLang="zh-CN"/>
              <a:t>/</a:t>
            </a:r>
            <a:r>
              <a:rPr lang="zh-CN" altLang="zh-CN"/>
              <a:t>秒</a:t>
            </a:r>
            <a:r>
              <a:rPr lang="en-US" altLang="zh-CN"/>
              <a:t>)</a:t>
            </a:r>
            <a:r>
              <a:rPr lang="zh-CN" altLang="zh-CN"/>
              <a:t>。国际上规定一个标准的波特率系列是</a:t>
            </a:r>
            <a:r>
              <a:rPr lang="en-US" altLang="zh-CN">
                <a:solidFill>
                  <a:srgbClr val="FF0000"/>
                </a:solidFill>
              </a:rPr>
              <a:t>110,300,600,1200,1800,2400,4800,9600,19200</a:t>
            </a:r>
            <a:r>
              <a:rPr lang="zh-CN" altLang="zh-CN"/>
              <a:t>，异步通信允许发送方和接收方的时钟误差或波特率误差在</a:t>
            </a:r>
            <a:r>
              <a:rPr lang="en-US" altLang="zh-CN">
                <a:solidFill>
                  <a:srgbClr val="0000FF"/>
                </a:solidFill>
              </a:rPr>
              <a:t>2%-3%</a:t>
            </a:r>
            <a:r>
              <a:rPr lang="zh-CN" altLang="zh-CN"/>
              <a:t>之间。</a:t>
            </a:r>
          </a:p>
        </p:txBody>
      </p:sp>
    </p:spTree>
    <p:extLst>
      <p:ext uri="{BB962C8B-B14F-4D97-AF65-F5344CB8AC3E}">
        <p14:creationId xmlns:p14="http://schemas.microsoft.com/office/powerpoint/2010/main" val="3198254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 idx="4294967295"/>
          </p:nvPr>
        </p:nvSpPr>
        <p:spPr>
          <a:xfrm>
            <a:off x="925513" y="476250"/>
            <a:ext cx="8218487" cy="666750"/>
          </a:xfrm>
        </p:spPr>
        <p:txBody>
          <a:bodyPr/>
          <a:lstStyle/>
          <a:p>
            <a:pPr>
              <a:defRPr/>
            </a:pPr>
            <a:r>
              <a:rPr lang="zh-CN" altLang="en-US" sz="3200"/>
              <a:t>同步 异步的概念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4294967295"/>
          </p:nvPr>
        </p:nvSpPr>
        <p:spPr bwMode="auto">
          <a:xfrm>
            <a:off x="638629" y="1143000"/>
            <a:ext cx="8229600" cy="4581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dirty="0"/>
              <a:t>异步通信：处理器之间不使用公共的参考时钟，通信双方分别有自己的时钟源，但必须使用相同的波特率。例如</a:t>
            </a:r>
            <a:r>
              <a:rPr lang="en-US" altLang="zh-CN" sz="2800" dirty="0"/>
              <a:t>UART</a:t>
            </a:r>
            <a:r>
              <a:rPr lang="zh-CN" altLang="en-US" sz="2800" dirty="0"/>
              <a:t>就是属于串行异步通信。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/>
              <a:t> </a:t>
            </a:r>
          </a:p>
          <a:p>
            <a:r>
              <a:rPr lang="zh-CN" altLang="en-US" sz="2800" dirty="0"/>
              <a:t>同步通信：由主机提供时钟与数据，从机使用该时钟接收数据或发送数据，即通信双方公用时钟源。例如：</a:t>
            </a:r>
            <a:r>
              <a:rPr lang="en-US" altLang="zh-CN" sz="2800" dirty="0"/>
              <a:t>SPI</a:t>
            </a:r>
            <a:r>
              <a:rPr lang="zh-CN" altLang="en-US" sz="2800" dirty="0"/>
              <a:t>和</a:t>
            </a:r>
            <a:r>
              <a:rPr lang="en-US" altLang="zh-CN" sz="2800" dirty="0"/>
              <a:t>I2C</a:t>
            </a:r>
            <a:r>
              <a:rPr lang="zh-CN" altLang="en-US" sz="2800" dirty="0"/>
              <a:t>就属于串行同步通信。 </a:t>
            </a: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Arial Black" panose="020B0A040201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40459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 idx="4294967295"/>
          </p:nvPr>
        </p:nvSpPr>
        <p:spPr>
          <a:xfrm>
            <a:off x="925513" y="476250"/>
            <a:ext cx="8218487" cy="666750"/>
          </a:xfrm>
        </p:spPr>
        <p:txBody>
          <a:bodyPr/>
          <a:lstStyle/>
          <a:p>
            <a:pPr>
              <a:defRPr/>
            </a:pPr>
            <a:r>
              <a:rPr lang="zh-CN" altLang="en-US" sz="3200"/>
              <a:t>串行通信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4294967295"/>
          </p:nvPr>
        </p:nvSpPr>
        <p:spPr>
          <a:xfrm>
            <a:off x="0" y="1285875"/>
            <a:ext cx="8229600" cy="4581525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在串行通信系统中，物理发送介质只需要一条信号线。发送器根据发送器和接收器之间指定的速率发送比特序列。要使通信双方同步，还需要一些额外的信息：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  <a:cs typeface="+mn-cs"/>
              </a:rPr>
              <a:t>起始位：加到要发送的信息的开头，以识别一个新数据的开始； 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  <a:cs typeface="+mn-cs"/>
              </a:rPr>
              <a:t>停止位：加到要发送的信息的尾部，表示传输结束。 </a:t>
            </a:r>
          </a:p>
          <a:p>
            <a:pPr>
              <a:defRPr/>
            </a:pPr>
            <a:endParaRPr lang="zh-CN" altLang="en-US" sz="2400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04231F-5863-4D67-9899-4968F3338E77}" type="slidenum">
              <a:rPr lang="en-US" altLang="zh-CN">
                <a:latin typeface="Arial Black" panose="020B0A04020102020204" pitchFamily="34" charset="0"/>
              </a:rPr>
              <a:pPr/>
              <a:t>25</a:t>
            </a:fld>
            <a:endParaRPr lang="en-US" altLang="zh-CN">
              <a:latin typeface="Arial Black" panose="020B0A04020102020204" pitchFamily="34" charset="0"/>
            </a:endParaRPr>
          </a:p>
        </p:txBody>
      </p:sp>
      <p:pic>
        <p:nvPicPr>
          <p:cNvPr id="163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4248150"/>
            <a:ext cx="6643687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4400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文本框 7170"/>
          <p:cNvSpPr txBox="1">
            <a:spLocks noChangeArrowheads="1"/>
          </p:cNvSpPr>
          <p:nvPr/>
        </p:nvSpPr>
        <p:spPr bwMode="auto">
          <a:xfrm>
            <a:off x="255588" y="166688"/>
            <a:ext cx="87090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/>
              <a:t>什么是比特率？</a:t>
            </a:r>
          </a:p>
          <a:p>
            <a:r>
              <a:rPr lang="zh-CN" altLang="en-US" sz="2800" dirty="0"/>
              <a:t>每秒钟通过信道传输的信息量称为位传输速率，也就是每秒钟传送的二进制位数,简称比特率。</a:t>
            </a:r>
          </a:p>
          <a:p>
            <a:endParaRPr lang="zh-CN" altLang="en-US" sz="2800" dirty="0"/>
          </a:p>
          <a:p>
            <a:r>
              <a:rPr lang="zh-CN" altLang="en-US" sz="2800" dirty="0"/>
              <a:t>在UART中，单个数据单元的调制状态变化次数为1次，即单个数据每次只做一个编码变换，所以在单个调制状态对应的二进制位数为1。</a:t>
            </a:r>
          </a:p>
          <a:p>
            <a:r>
              <a:rPr lang="zh-CN" altLang="en-US" sz="2800" dirty="0"/>
              <a:t>       </a:t>
            </a:r>
          </a:p>
          <a:p>
            <a:r>
              <a:rPr lang="zh-CN" altLang="en-US" sz="2800" dirty="0"/>
              <a:t>UART通信，通信双方拥有相等的波特率。</a:t>
            </a:r>
          </a:p>
        </p:txBody>
      </p:sp>
    </p:spTree>
    <p:extLst>
      <p:ext uri="{BB962C8B-B14F-4D97-AF65-F5344CB8AC3E}">
        <p14:creationId xmlns:p14="http://schemas.microsoft.com/office/powerpoint/2010/main" val="2291087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文本框 17410"/>
          <p:cNvSpPr txBox="1"/>
          <p:nvPr/>
        </p:nvSpPr>
        <p:spPr>
          <a:xfrm>
            <a:off x="179388" y="549275"/>
            <a:ext cx="3027362" cy="5638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1905" indent="-1905"/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常用波特率一览：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300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600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1200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2400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4800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9600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19200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38400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43000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56000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57600</a:t>
            </a:r>
            <a:endParaRPr lang="zh-CN" altLang="en-US" sz="2800" noProof="1">
              <a:latin typeface="Arial" charset="0"/>
              <a:ea typeface="宋体" charset="-122"/>
            </a:endParaRPr>
          </a:p>
          <a:p>
            <a:pPr marL="1905" indent="455295">
              <a:buFont typeface="Wingdings" charset="2"/>
              <a:buChar char="Ø"/>
            </a:pPr>
            <a:r>
              <a:rPr lang="zh-CN" altLang="en-US" sz="2800" noProof="1">
                <a:latin typeface="Arial" charset="0"/>
                <a:ea typeface="宋体" charset="-122"/>
                <a:cs typeface="+mn-ea"/>
              </a:rPr>
              <a:t>115200</a:t>
            </a:r>
            <a:endParaRPr lang="zh-CN" altLang="en-US" sz="2800" noProof="1">
              <a:latin typeface="Arial" charset="0"/>
              <a:ea typeface="宋体" charset="-122"/>
            </a:endParaRPr>
          </a:p>
        </p:txBody>
      </p:sp>
      <p:grpSp>
        <p:nvGrpSpPr>
          <p:cNvPr id="17412" name="Group 3"/>
          <p:cNvGrpSpPr>
            <a:grpSpLocks/>
          </p:cNvGrpSpPr>
          <p:nvPr/>
        </p:nvGrpSpPr>
        <p:grpSpPr bwMode="auto">
          <a:xfrm>
            <a:off x="5292725" y="1773238"/>
            <a:ext cx="2160588" cy="4249737"/>
            <a:chOff x="0" y="0"/>
            <a:chExt cx="1361" cy="2677"/>
          </a:xfrm>
        </p:grpSpPr>
        <p:sp>
          <p:nvSpPr>
            <p:cNvPr id="20484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361" cy="545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>
                  <a:latin typeface="Times New Roman" panose="02020603050405020304" pitchFamily="18" charset="0"/>
                </a:rPr>
                <a:t>设置指定</a:t>
              </a:r>
              <a:r>
                <a:rPr lang="en-US" altLang="zh-CN">
                  <a:latin typeface="Times New Roman" panose="02020603050405020304" pitchFamily="18" charset="0"/>
                </a:rPr>
                <a:t>UART</a:t>
              </a:r>
              <a:r>
                <a:rPr lang="zh-CN" altLang="en-US">
                  <a:latin typeface="Times New Roman" panose="02020603050405020304" pitchFamily="18" charset="0"/>
                </a:rPr>
                <a:t>的时钟速率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0" y="772"/>
              <a:ext cx="1361" cy="27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>
                  <a:latin typeface="Times New Roman" panose="02020603050405020304" pitchFamily="18" charset="0"/>
                </a:rPr>
                <a:t>设置串口波特率</a:t>
              </a:r>
            </a:p>
          </p:txBody>
        </p:sp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0" y="1271"/>
              <a:ext cx="1361" cy="27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>
                  <a:latin typeface="Times New Roman" panose="02020603050405020304" pitchFamily="18" charset="0"/>
                </a:rPr>
                <a:t>设置串口工作模式</a:t>
              </a: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0" y="1770"/>
              <a:ext cx="1361" cy="272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>
                  <a:latin typeface="Times New Roman" panose="02020603050405020304" pitchFamily="18" charset="0"/>
                </a:rPr>
                <a:t>使能</a:t>
              </a:r>
              <a:r>
                <a:rPr lang="en-US" altLang="zh-CN">
                  <a:latin typeface="Times New Roman" panose="02020603050405020304" pitchFamily="18" charset="0"/>
                </a:rPr>
                <a:t>UART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0" y="2269"/>
              <a:ext cx="1361" cy="408"/>
            </a:xfrm>
            <a:prstGeom prst="rect">
              <a:avLst/>
            </a:prstGeom>
            <a:solidFill>
              <a:srgbClr val="CCFF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zh-CN" altLang="en-US">
                  <a:latin typeface="Times New Roman" panose="02020603050405020304" pitchFamily="18" charset="0"/>
                </a:rPr>
                <a:t>发送或接收数据</a:t>
              </a:r>
            </a:p>
          </p:txBody>
        </p:sp>
        <p:sp>
          <p:nvSpPr>
            <p:cNvPr id="20489" name="Line 9"/>
            <p:cNvSpPr>
              <a:spLocks noChangeShapeType="1"/>
            </p:cNvSpPr>
            <p:nvPr/>
          </p:nvSpPr>
          <p:spPr bwMode="auto">
            <a:xfrm>
              <a:off x="680" y="545"/>
              <a:ext cx="0" cy="2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>
              <a:off x="680" y="1044"/>
              <a:ext cx="0" cy="2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1" name="Line 11"/>
            <p:cNvSpPr>
              <a:spLocks noChangeShapeType="1"/>
            </p:cNvSpPr>
            <p:nvPr/>
          </p:nvSpPr>
          <p:spPr bwMode="auto">
            <a:xfrm>
              <a:off x="680" y="1543"/>
              <a:ext cx="0" cy="2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2" name="Line 12"/>
            <p:cNvSpPr>
              <a:spLocks noChangeShapeType="1"/>
            </p:cNvSpPr>
            <p:nvPr/>
          </p:nvSpPr>
          <p:spPr bwMode="auto">
            <a:xfrm>
              <a:off x="680" y="2041"/>
              <a:ext cx="0" cy="2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93" name="文本框 17421"/>
          <p:cNvSpPr txBox="1">
            <a:spLocks noChangeArrowheads="1"/>
          </p:cNvSpPr>
          <p:nvPr/>
        </p:nvSpPr>
        <p:spPr bwMode="auto">
          <a:xfrm>
            <a:off x="3924300" y="909638"/>
            <a:ext cx="506253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基本UART通信软件操作流程图</a:t>
            </a:r>
          </a:p>
        </p:txBody>
      </p:sp>
    </p:spTree>
    <p:extLst>
      <p:ext uri="{BB962C8B-B14F-4D97-AF65-F5344CB8AC3E}">
        <p14:creationId xmlns:p14="http://schemas.microsoft.com/office/powerpoint/2010/main" val="24006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文本框 21506"/>
          <p:cNvSpPr txBox="1"/>
          <p:nvPr/>
        </p:nvSpPr>
        <p:spPr>
          <a:xfrm>
            <a:off x="146050" y="84138"/>
            <a:ext cx="8674100" cy="529375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1905" indent="-1905"/>
            <a:r>
              <a:rPr lang="zh-CN" altLang="en-US" noProof="1">
                <a:latin typeface="Arial" charset="0"/>
                <a:ea typeface="宋体" charset="-122"/>
                <a:cs typeface="+mn-ea"/>
              </a:rPr>
              <a:t>简单总结CC3200 UART模块特点：</a:t>
            </a:r>
            <a:endParaRPr lang="zh-CN" altLang="en-US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可编程并且速度最高可到3Mb/s的波特率发生器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每路UART都有单独的16*8的发送/接收先进先出（FIFO）缓冲区来降低CPU处理中断服务程序的负载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FIFO的长度可编程，提供常规的双缓冲接口来实现一字节深的操作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28384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FIFO的触发深度可以为FIFO长度的1/8、1/4、1/2、3/4和7/8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34099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标准的异步通信位如开始位、结束位和保持校验位  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34099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-奇偶校验或无校验位的产生和检测， -1或2停止位的产生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34099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硬件流支持请求发送（RTS）和清除发送（CTS）协议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34099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标准的FIFO队列深度中断和传输结束中断 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34099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使用uDMA控制器进行高效传输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>
              <a:buFont typeface="Wingdings" charset="2"/>
              <a:buNone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­单独的发送和接收通道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>
              <a:buFont typeface="Wingdings" charset="2"/>
              <a:buNone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­当FIFO里有数据时可以产生单次接收请求，在编程FIFO队列深度时可产生突发请求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-1905">
              <a:buFont typeface="Wingdings" charset="2"/>
              <a:buNone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­当FIFO有空间时可以产生单次发送请求，在编程FIFO队列深度时课产生突发请求</a:t>
            </a:r>
            <a:endParaRPr lang="zh-CN" altLang="en-US" sz="2000" noProof="1">
              <a:latin typeface="Arial" charset="0"/>
              <a:ea typeface="宋体" charset="-122"/>
            </a:endParaRPr>
          </a:p>
          <a:p>
            <a:pPr marL="1905" indent="340995">
              <a:buFont typeface="Wingdings" charset="2"/>
              <a:buChar char="l"/>
            </a:pP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</a:t>
            </a:r>
            <a:r>
              <a:rPr lang="zh-CN" altLang="en-US" sz="2000" noProof="1">
                <a:solidFill>
                  <a:srgbClr val="FF0000"/>
                </a:solidFill>
                <a:latin typeface="Arial" charset="0"/>
                <a:ea typeface="宋体" charset="-122"/>
                <a:cs typeface="+mn-ea"/>
              </a:rPr>
              <a:t>产生波特率使用的时钟是系统时钟</a:t>
            </a:r>
            <a:r>
              <a:rPr lang="zh-CN" altLang="en-US" sz="2000" noProof="1">
                <a:latin typeface="Arial" charset="0"/>
                <a:ea typeface="宋体" charset="-122"/>
                <a:cs typeface="+mn-ea"/>
              </a:rPr>
              <a:t>。</a:t>
            </a:r>
            <a:endParaRPr lang="zh-CN" altLang="en-US" sz="2000" noProof="1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0674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图片 102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3375"/>
            <a:ext cx="9144000" cy="623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线形标注 2 10243"/>
          <p:cNvSpPr>
            <a:spLocks/>
          </p:cNvSpPr>
          <p:nvPr/>
        </p:nvSpPr>
        <p:spPr bwMode="auto">
          <a:xfrm rot="10800000">
            <a:off x="3276600" y="404813"/>
            <a:ext cx="1417638" cy="752475"/>
          </a:xfrm>
          <a:prstGeom prst="borderCallout2">
            <a:avLst>
              <a:gd name="adj1" fmla="val 84796"/>
              <a:gd name="adj2" fmla="val -5417"/>
              <a:gd name="adj3" fmla="val 84796"/>
              <a:gd name="adj4" fmla="val -37662"/>
              <a:gd name="adj5" fmla="val 33870"/>
              <a:gd name="adj6" fmla="val -154051"/>
            </a:avLst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13316" name="线形标注 2 10244"/>
          <p:cNvSpPr>
            <a:spLocks/>
          </p:cNvSpPr>
          <p:nvPr/>
        </p:nvSpPr>
        <p:spPr bwMode="auto">
          <a:xfrm rot="10800000">
            <a:off x="5219700" y="3644900"/>
            <a:ext cx="1419225" cy="752475"/>
          </a:xfrm>
          <a:prstGeom prst="borderCallout2">
            <a:avLst>
              <a:gd name="adj1" fmla="val 84796"/>
              <a:gd name="adj2" fmla="val -5417"/>
              <a:gd name="adj3" fmla="val 84796"/>
              <a:gd name="adj4" fmla="val -11329"/>
              <a:gd name="adj5" fmla="val 262667"/>
              <a:gd name="adj6" fmla="val -32782"/>
            </a:avLst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13317" name="线形标注 2 10245"/>
          <p:cNvSpPr>
            <a:spLocks/>
          </p:cNvSpPr>
          <p:nvPr/>
        </p:nvSpPr>
        <p:spPr bwMode="auto">
          <a:xfrm rot="10800000">
            <a:off x="7164388" y="3070225"/>
            <a:ext cx="769937" cy="1866900"/>
          </a:xfrm>
          <a:prstGeom prst="borderCallout2">
            <a:avLst>
              <a:gd name="adj1" fmla="val 93880"/>
              <a:gd name="adj2" fmla="val -9977"/>
              <a:gd name="adj3" fmla="val 93880"/>
              <a:gd name="adj4" fmla="val -19620"/>
              <a:gd name="adj5" fmla="val 60569"/>
              <a:gd name="adj6" fmla="val -54741"/>
            </a:avLst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13318" name="文本框 10246"/>
          <p:cNvSpPr txBox="1">
            <a:spLocks noChangeArrowheads="1"/>
          </p:cNvSpPr>
          <p:nvPr/>
        </p:nvSpPr>
        <p:spPr bwMode="auto">
          <a:xfrm>
            <a:off x="6588125" y="909638"/>
            <a:ext cx="15541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时钟控制模块</a:t>
            </a:r>
          </a:p>
        </p:txBody>
      </p:sp>
      <p:sp>
        <p:nvSpPr>
          <p:cNvPr id="13319" name="文本框 10247"/>
          <p:cNvSpPr txBox="1">
            <a:spLocks noChangeArrowheads="1"/>
          </p:cNvSpPr>
          <p:nvPr/>
        </p:nvSpPr>
        <p:spPr bwMode="auto">
          <a:xfrm>
            <a:off x="6661150" y="2060575"/>
            <a:ext cx="1554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波特率生成器</a:t>
            </a:r>
          </a:p>
        </p:txBody>
      </p:sp>
      <p:sp>
        <p:nvSpPr>
          <p:cNvPr id="13320" name="文本框 10248"/>
          <p:cNvSpPr txBox="1">
            <a:spLocks noChangeArrowheads="1"/>
          </p:cNvSpPr>
          <p:nvPr/>
        </p:nvSpPr>
        <p:spPr bwMode="auto">
          <a:xfrm>
            <a:off x="8027988" y="3789363"/>
            <a:ext cx="63976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数据</a:t>
            </a:r>
          </a:p>
          <a:p>
            <a:r>
              <a:rPr lang="zh-CN" altLang="en-US"/>
              <a:t>收发</a:t>
            </a:r>
          </a:p>
        </p:txBody>
      </p:sp>
      <p:sp>
        <p:nvSpPr>
          <p:cNvPr id="13321" name="线形标注 2 10249"/>
          <p:cNvSpPr>
            <a:spLocks/>
          </p:cNvSpPr>
          <p:nvPr/>
        </p:nvSpPr>
        <p:spPr bwMode="auto">
          <a:xfrm>
            <a:off x="3276600" y="3717925"/>
            <a:ext cx="1454150" cy="679450"/>
          </a:xfrm>
          <a:prstGeom prst="borderCallout2">
            <a:avLst>
              <a:gd name="adj1" fmla="val 16806"/>
              <a:gd name="adj2" fmla="val -5241"/>
              <a:gd name="adj3" fmla="val 16806"/>
              <a:gd name="adj4" fmla="val -19565"/>
              <a:gd name="adj5" fmla="val -175069"/>
              <a:gd name="adj6" fmla="val -71181"/>
            </a:avLst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  <a:miter lim="800000"/>
            <a:headEnd/>
            <a:tailEnd/>
          </a:ln>
        </p:spPr>
        <p:txBody>
          <a:bodyPr lIns="90170" tIns="46990" rIns="90170" bIns="46990"/>
          <a:lstStyle/>
          <a:p>
            <a:pPr algn="ctr"/>
            <a:endParaRPr lang="zh-CN" altLang="zh-CN"/>
          </a:p>
        </p:txBody>
      </p:sp>
      <p:sp>
        <p:nvSpPr>
          <p:cNvPr id="13322" name="文本框 10250"/>
          <p:cNvSpPr txBox="1">
            <a:spLocks noChangeArrowheads="1"/>
          </p:cNvSpPr>
          <p:nvPr/>
        </p:nvSpPr>
        <p:spPr bwMode="auto">
          <a:xfrm>
            <a:off x="1044575" y="2276475"/>
            <a:ext cx="1262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UART数据</a:t>
            </a:r>
          </a:p>
        </p:txBody>
      </p:sp>
    </p:spTree>
    <p:extLst>
      <p:ext uri="{BB962C8B-B14F-4D97-AF65-F5344CB8AC3E}">
        <p14:creationId xmlns:p14="http://schemas.microsoft.com/office/powerpoint/2010/main" val="1521355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4" name="文本框 15362"/>
          <p:cNvSpPr txBox="1">
            <a:spLocks noChangeArrowheads="1"/>
          </p:cNvSpPr>
          <p:nvPr/>
        </p:nvSpPr>
        <p:spPr bwMode="auto">
          <a:xfrm>
            <a:off x="323850" y="117475"/>
            <a:ext cx="8539163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/>
              <a:t>无论在基本发送还是基本接收（无中断，也没进行DMA操作），基本都对如下寄存器进行操作。</a:t>
            </a:r>
          </a:p>
          <a:p>
            <a:r>
              <a:rPr lang="zh-CN" altLang="en-US" sz="2800" dirty="0"/>
              <a:t>UARTBRD、UARTFBRD波特率生成器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BRD</a:t>
            </a:r>
            <a:r>
              <a:rPr lang="zh-CN" altLang="en-US" sz="2800" dirty="0"/>
              <a:t> = BRDI + BRDF = UARTSysClk / (ClkDiv * Baud Rate)</a:t>
            </a:r>
          </a:p>
          <a:p>
            <a:r>
              <a:rPr lang="zh-CN" altLang="en-US" sz="2800" dirty="0"/>
              <a:t>UARTFBRD[DIVFRAC] = integer(BRDF * 64 + 0.5)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UARTDR</a:t>
            </a:r>
            <a:r>
              <a:rPr lang="zh-CN" altLang="en-US" sz="2800" dirty="0"/>
              <a:t>---UART数据</a:t>
            </a:r>
          </a:p>
          <a:p>
            <a:r>
              <a:rPr lang="zh-CN" altLang="en-US" sz="2800" dirty="0">
                <a:solidFill>
                  <a:srgbClr val="FF0000"/>
                </a:solidFill>
              </a:rPr>
              <a:t>UARTCTL</a:t>
            </a:r>
            <a:r>
              <a:rPr lang="zh-CN" altLang="en-US" sz="2800" dirty="0"/>
              <a:t>---UART控制</a:t>
            </a:r>
          </a:p>
          <a:p>
            <a:r>
              <a:rPr lang="zh-CN" altLang="en-US" sz="2800" dirty="0"/>
              <a:t>UARTRSR、UARTFR---UART数据传输状态</a:t>
            </a:r>
          </a:p>
          <a:p>
            <a:r>
              <a:rPr lang="zh-CN" altLang="en-US" sz="2800" dirty="0"/>
              <a:t>UARTCRH---UART数据格式</a:t>
            </a:r>
          </a:p>
        </p:txBody>
      </p:sp>
      <p:pic>
        <p:nvPicPr>
          <p:cNvPr id="18435" name="图片 153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5373688"/>
            <a:ext cx="52959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文本框 15364"/>
          <p:cNvSpPr txBox="1">
            <a:spLocks noChangeArrowheads="1"/>
          </p:cNvSpPr>
          <p:nvPr/>
        </p:nvSpPr>
        <p:spPr bwMode="auto">
          <a:xfrm>
            <a:off x="576263" y="4895850"/>
            <a:ext cx="26336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/>
              <a:t>UART数据传输帧格式：</a:t>
            </a:r>
          </a:p>
        </p:txBody>
      </p:sp>
    </p:spTree>
    <p:extLst>
      <p:ext uri="{BB962C8B-B14F-4D97-AF65-F5344CB8AC3E}">
        <p14:creationId xmlns:p14="http://schemas.microsoft.com/office/powerpoint/2010/main" val="4164522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文本框 16386"/>
          <p:cNvSpPr txBox="1">
            <a:spLocks noChangeArrowheads="1"/>
          </p:cNvSpPr>
          <p:nvPr/>
        </p:nvSpPr>
        <p:spPr bwMode="auto">
          <a:xfrm>
            <a:off x="246063" y="142875"/>
            <a:ext cx="860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/>
              <a:t>CC3200如何快速对这些寄存器进行操作---使用库函数</a:t>
            </a:r>
          </a:p>
        </p:txBody>
      </p:sp>
      <p:sp>
        <p:nvSpPr>
          <p:cNvPr id="19459" name="文本框 16387"/>
          <p:cNvSpPr txBox="1">
            <a:spLocks noChangeArrowheads="1"/>
          </p:cNvSpPr>
          <p:nvPr/>
        </p:nvSpPr>
        <p:spPr bwMode="auto">
          <a:xfrm>
            <a:off x="107950" y="730250"/>
            <a:ext cx="885825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dirty="0"/>
              <a:t>EG: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 MAP_PRCMPeripheralClkEnable(PRCM_UARTA0, PRCM_RUN_MODE_CLK);</a:t>
            </a:r>
          </a:p>
          <a:p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 MAP_PinTypeUART(PIN_55, PIN_MODE_3);</a:t>
            </a:r>
          </a:p>
          <a:p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MAP_PinTypeUART(PIN_57, PIN_MODE_3);</a:t>
            </a:r>
          </a:p>
          <a:p>
            <a:endParaRPr lang="zh-CN" altLang="en-US" dirty="0"/>
          </a:p>
          <a:p>
            <a:r>
              <a:rPr lang="zh-CN" altLang="en-US" dirty="0"/>
              <a:t>MAP_UARTConfigSetExpClk(CONSOLE,MAP_PRCMPeripheralClockGet(CONSOLE_PERIPH),</a:t>
            </a:r>
          </a:p>
          <a:p>
            <a:endParaRPr lang="zh-CN" altLang="en-US" dirty="0"/>
          </a:p>
          <a:p>
            <a:r>
              <a:rPr lang="zh-CN" altLang="en-US" dirty="0"/>
              <a:t>                            UART_BAUD_RATE,</a:t>
            </a:r>
          </a:p>
          <a:p>
            <a:endParaRPr lang="zh-CN" altLang="en-US" dirty="0"/>
          </a:p>
          <a:p>
            <a:r>
              <a:rPr lang="zh-CN" altLang="en-US" dirty="0"/>
              <a:t>                            (UART_CONFIG_</a:t>
            </a:r>
            <a:r>
              <a:rPr lang="zh-CN" altLang="en-US" dirty="0">
                <a:solidFill>
                  <a:srgbClr val="FF0000"/>
                </a:solidFill>
              </a:rPr>
              <a:t>WLEN_8 </a:t>
            </a:r>
            <a:r>
              <a:rPr lang="zh-CN" altLang="en-US" dirty="0"/>
              <a:t>| UART_CONFIG_</a:t>
            </a:r>
            <a:r>
              <a:rPr lang="zh-CN" altLang="en-US" dirty="0">
                <a:solidFill>
                  <a:srgbClr val="FF0000"/>
                </a:solidFill>
              </a:rPr>
              <a:t>STOP_ONE </a:t>
            </a:r>
            <a:r>
              <a:rPr lang="zh-CN" altLang="en-US" dirty="0"/>
              <a:t>|</a:t>
            </a:r>
          </a:p>
          <a:p>
            <a:endParaRPr lang="zh-CN" altLang="en-US" dirty="0"/>
          </a:p>
          <a:p>
            <a:r>
              <a:rPr lang="zh-CN" altLang="en-US" dirty="0"/>
              <a:t>                            UART_CONFIG_</a:t>
            </a:r>
            <a:r>
              <a:rPr lang="zh-CN" altLang="en-US" dirty="0">
                <a:solidFill>
                  <a:srgbClr val="FF0000"/>
                </a:solidFill>
              </a:rPr>
              <a:t>PAR_NONE))</a:t>
            </a:r>
            <a:r>
              <a:rPr lang="zh-CN" altLang="en-US" dirty="0"/>
              <a:t>;</a:t>
            </a:r>
          </a:p>
          <a:p>
            <a:endParaRPr lang="zh-CN" altLang="en-US" dirty="0"/>
          </a:p>
          <a:p>
            <a:r>
              <a:rPr lang="zh-CN" altLang="en-US" b="1" dirty="0"/>
              <a:t>cCharacter = UartGetChar();</a:t>
            </a:r>
          </a:p>
          <a:p>
            <a:endParaRPr lang="zh-CN" altLang="en-US" dirty="0"/>
          </a:p>
          <a:p>
            <a:r>
              <a:rPr lang="zh-CN" altLang="en-US" b="1" dirty="0"/>
              <a:t>UartPutChar(cCharacter);</a:t>
            </a:r>
          </a:p>
        </p:txBody>
      </p:sp>
    </p:spTree>
    <p:extLst>
      <p:ext uri="{BB962C8B-B14F-4D97-AF65-F5344CB8AC3E}">
        <p14:creationId xmlns:p14="http://schemas.microsoft.com/office/powerpoint/2010/main" val="3920651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6" descr="selected_powerpoint_bg_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858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0" name="文本框 19458"/>
          <p:cNvSpPr txBox="1">
            <a:spLocks noChangeArrowheads="1"/>
          </p:cNvSpPr>
          <p:nvPr/>
        </p:nvSpPr>
        <p:spPr bwMode="auto">
          <a:xfrm>
            <a:off x="312738" y="101600"/>
            <a:ext cx="85804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/>
              <a:t>RS232简介：</a:t>
            </a:r>
            <a:endParaRPr lang="en-US" altLang="zh-CN" sz="2800" dirty="0"/>
          </a:p>
          <a:p>
            <a:r>
              <a:rPr lang="zh-CN" altLang="en-US" sz="2800" dirty="0"/>
              <a:t>RS232是UART的一种，它采用的232电平。接口的电气特性 在RS-232-C中任何一条信号线的电压均为负逻辑关系。即：逻 辑“1”，-5— -15V；逻辑“0” +5— +15V 。</a:t>
            </a:r>
            <a:endParaRPr lang="en-US" altLang="zh-CN" sz="2800" dirty="0"/>
          </a:p>
          <a:p>
            <a:r>
              <a:rPr lang="zh-CN" altLang="en-US" sz="2800" dirty="0"/>
              <a:t>一般单片机UART，采用的是TTL电平。所以我们通常MCU与PC之间进行通信是需要电平转换。</a:t>
            </a:r>
          </a:p>
          <a:p>
            <a:r>
              <a:rPr lang="zh-CN" altLang="en-US" sz="2800" dirty="0"/>
              <a:t>传输距离有限，只能用在</a:t>
            </a:r>
            <a:r>
              <a:rPr lang="en-US" altLang="zh-CN" sz="2800" dirty="0"/>
              <a:t>15</a:t>
            </a:r>
            <a:r>
              <a:rPr lang="zh-CN" altLang="en-US" sz="2800" dirty="0"/>
              <a:t>米左右</a:t>
            </a:r>
            <a:r>
              <a:rPr lang="zh-CN" altLang="en-US" dirty="0"/>
              <a:t>。</a:t>
            </a:r>
          </a:p>
        </p:txBody>
      </p:sp>
      <p:pic>
        <p:nvPicPr>
          <p:cNvPr id="22531" name="图片 194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149725"/>
            <a:ext cx="6648450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4743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8619" y="898497"/>
            <a:ext cx="768493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一</a:t>
            </a:r>
            <a:r>
              <a:rPr lang="zh-CN" altLang="zh-CN" sz="2400" b="1" dirty="0"/>
              <a:t>、实验内容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zh-CN" sz="2400" dirty="0"/>
              <a:t>、通过定时器</a:t>
            </a:r>
            <a:r>
              <a:rPr lang="en-US" altLang="zh-CN" sz="2400" dirty="0"/>
              <a:t>PWM</a:t>
            </a:r>
            <a:r>
              <a:rPr lang="zh-CN" altLang="zh-CN" sz="2400" dirty="0"/>
              <a:t>控制</a:t>
            </a:r>
            <a:r>
              <a:rPr lang="en-US" altLang="zh-CN" sz="2400" dirty="0"/>
              <a:t>LED</a:t>
            </a:r>
            <a:r>
              <a:rPr lang="zh-CN" altLang="zh-CN" sz="2400" dirty="0"/>
              <a:t>亮度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zh-CN" sz="2400" dirty="0"/>
              <a:t>、实现</a:t>
            </a:r>
            <a:r>
              <a:rPr lang="en-US" altLang="zh-CN" sz="2400" dirty="0"/>
              <a:t>PC</a:t>
            </a:r>
            <a:r>
              <a:rPr lang="zh-CN" altLang="zh-CN" sz="2400" dirty="0"/>
              <a:t>机</a:t>
            </a:r>
            <a:r>
              <a:rPr lang="zh-CN" altLang="en-US" sz="2400" dirty="0"/>
              <a:t>通过（</a:t>
            </a:r>
            <a:r>
              <a:rPr lang="en-US" altLang="zh-CN" sz="2400" dirty="0"/>
              <a:t>USB</a:t>
            </a:r>
            <a:r>
              <a:rPr lang="zh-CN" altLang="en-US" sz="2400" dirty="0"/>
              <a:t>转）</a:t>
            </a:r>
            <a:r>
              <a:rPr lang="zh-CN" altLang="zh-CN" sz="2400" dirty="0"/>
              <a:t>串口</a:t>
            </a:r>
            <a:r>
              <a:rPr lang="zh-CN" altLang="en-US" sz="2400" dirty="0"/>
              <a:t>控制</a:t>
            </a:r>
            <a:r>
              <a:rPr lang="en-US" altLang="zh-CN" sz="2400" dirty="0"/>
              <a:t>CC3200</a:t>
            </a:r>
            <a:r>
              <a:rPr lang="zh-CN" altLang="en-US" sz="2400" dirty="0"/>
              <a:t>板的</a:t>
            </a:r>
            <a:r>
              <a:rPr lang="en-US" altLang="zh-CN" sz="2400" dirty="0"/>
              <a:t>LED</a:t>
            </a:r>
            <a:r>
              <a:rPr lang="zh-CN" altLang="zh-CN" sz="2400" dirty="0"/>
              <a:t>亮度。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3</a:t>
            </a:r>
            <a:r>
              <a:rPr lang="zh-CN" altLang="en-US" sz="2400" dirty="0"/>
              <a:t>、自由发挥，通过按键及串口对</a:t>
            </a:r>
            <a:r>
              <a:rPr lang="en-US" altLang="zh-CN" sz="2400" dirty="0"/>
              <a:t>LED</a:t>
            </a:r>
            <a:r>
              <a:rPr lang="zh-CN" altLang="zh-CN" sz="2400" dirty="0"/>
              <a:t>亮度</a:t>
            </a:r>
            <a:r>
              <a:rPr lang="zh-CN" altLang="en-US" sz="2400" dirty="0"/>
              <a:t>控制。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二</a:t>
            </a:r>
            <a:r>
              <a:rPr lang="zh-CN" altLang="zh-CN" sz="2400" b="1" dirty="0"/>
              <a:t>、实验</a:t>
            </a:r>
            <a:r>
              <a:rPr lang="zh-CN" altLang="en-US" sz="2400" b="1" dirty="0"/>
              <a:t>参考</a:t>
            </a:r>
            <a:endParaRPr lang="zh-CN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zh-CN" sz="2400" dirty="0"/>
              <a:t>、通过</a:t>
            </a:r>
            <a:r>
              <a:rPr lang="en-US" altLang="zh-CN" sz="2400" dirty="0"/>
              <a:t>PWM</a:t>
            </a:r>
            <a:r>
              <a:rPr lang="zh-CN" altLang="zh-CN" sz="2400" dirty="0"/>
              <a:t>控制</a:t>
            </a:r>
            <a:r>
              <a:rPr lang="en-US" altLang="zh-CN" sz="2400" dirty="0"/>
              <a:t>LED</a:t>
            </a:r>
            <a:r>
              <a:rPr lang="zh-CN" altLang="zh-CN" sz="2400" dirty="0"/>
              <a:t>显示程序，参考</a:t>
            </a:r>
            <a:r>
              <a:rPr lang="en-US" altLang="zh-CN" sz="2400" dirty="0"/>
              <a:t>CC3200SDK</a:t>
            </a:r>
            <a:r>
              <a:rPr lang="zh-CN" altLang="zh-CN" sz="2400" dirty="0"/>
              <a:t>的</a:t>
            </a:r>
            <a:r>
              <a:rPr lang="en-US" altLang="zh-CN" sz="2400" dirty="0"/>
              <a:t>PWM</a:t>
            </a:r>
            <a:r>
              <a:rPr lang="zh-CN" altLang="zh-CN" sz="2400" dirty="0"/>
              <a:t>工程。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zh-CN" sz="2400" dirty="0"/>
              <a:t>、串口通信参考</a:t>
            </a:r>
            <a:r>
              <a:rPr lang="en-US" altLang="zh-CN" sz="2400" dirty="0" err="1"/>
              <a:t>uart_demo</a:t>
            </a:r>
            <a:r>
              <a:rPr lang="zh-CN" altLang="zh-CN" sz="2400" dirty="0"/>
              <a:t>例程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验收越晚减分越多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zh-CN" sz="2400" dirty="0"/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55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8938</TotalTime>
  <Words>2693</Words>
  <Application>Microsoft Office PowerPoint</Application>
  <PresentationFormat>全屏显示(4:3)</PresentationFormat>
  <Paragraphs>330</Paragraphs>
  <Slides>33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-apple-system</vt:lpstr>
      <vt:lpstr>黑体</vt:lpstr>
      <vt:lpstr>隶书</vt:lpstr>
      <vt:lpstr>宋体</vt:lpstr>
      <vt:lpstr>微软雅黑</vt:lpstr>
      <vt:lpstr>Arial</vt:lpstr>
      <vt:lpstr>Arial Black</vt:lpstr>
      <vt:lpstr>Calibri</vt:lpstr>
      <vt:lpstr>Consolas</vt:lpstr>
      <vt:lpstr>Times New Roman</vt:lpstr>
      <vt:lpstr>Wingdings</vt:lpstr>
      <vt:lpstr>Office 主题</vt:lpstr>
      <vt:lpstr>Picture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串行通信</vt:lpstr>
      <vt:lpstr>PowerPoint 演示文稿</vt:lpstr>
      <vt:lpstr>PowerPoint 演示文稿</vt:lpstr>
      <vt:lpstr>同步 异步的概念</vt:lpstr>
      <vt:lpstr>串行通信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13709129200@139.com</cp:lastModifiedBy>
  <cp:revision>454</cp:revision>
  <cp:lastPrinted>2015-09-08T03:57:43Z</cp:lastPrinted>
  <dcterms:created xsi:type="dcterms:W3CDTF">2015-09-04T08:06:26Z</dcterms:created>
  <dcterms:modified xsi:type="dcterms:W3CDTF">2025-03-05T04:13:35Z</dcterms:modified>
</cp:coreProperties>
</file>
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4275" r:id="rId2"/>
  </p:sldMasterIdLst>
  <p:notesMasterIdLst>
    <p:notesMasterId r:id="rId16"/>
  </p:notesMasterIdLst>
  <p:sldIdLst>
    <p:sldId id="916" r:id="rId3"/>
    <p:sldId id="605" r:id="rId4"/>
    <p:sldId id="622" r:id="rId5"/>
    <p:sldId id="623" r:id="rId6"/>
    <p:sldId id="624" r:id="rId7"/>
    <p:sldId id="625" r:id="rId8"/>
    <p:sldId id="626" r:id="rId9"/>
    <p:sldId id="676" r:id="rId10"/>
    <p:sldId id="629" r:id="rId11"/>
    <p:sldId id="638" r:id="rId12"/>
    <p:sldId id="644" r:id="rId13"/>
    <p:sldId id="651" r:id="rId14"/>
    <p:sldId id="674" r:id="rId15"/>
  </p:sldIdLst>
  <p:sldSz cx="9144000" cy="6858000" type="screen4x3"/>
  <p:notesSz cx="6813550" cy="994568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36">
          <p15:clr>
            <a:srgbClr val="A4A3A4"/>
          </p15:clr>
        </p15:guide>
        <p15:guide id="3" pos="56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98"/>
    <a:srgbClr val="3B3838"/>
    <a:srgbClr val="2F5597"/>
    <a:srgbClr val="DEEBF7"/>
    <a:srgbClr val="C5E0B4"/>
    <a:srgbClr val="548235"/>
    <a:srgbClr val="ED7D31"/>
    <a:srgbClr val="FA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79739" autoAdjust="0"/>
  </p:normalViewPr>
  <p:slideViewPr>
    <p:cSldViewPr snapToGrid="0">
      <p:cViewPr varScale="1">
        <p:scale>
          <a:sx n="85" d="100"/>
          <a:sy n="85" d="100"/>
        </p:scale>
        <p:origin x="2124" y="78"/>
      </p:cViewPr>
      <p:guideLst>
        <p:guide orient="horz" pos="2160"/>
        <p:guide pos="136"/>
        <p:guide pos="56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C80060B-EF46-3B71-BBAA-E29E8655C3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8475"/>
          </a:xfrm>
          <a:prstGeom prst="rect">
            <a:avLst/>
          </a:prstGeom>
        </p:spPr>
        <p:txBody>
          <a:bodyPr vert="horz" lIns="91742" tIns="45871" rIns="91742" bIns="4587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EF9477-5E6B-CCA6-378F-F9BD1E6074B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9213" y="0"/>
            <a:ext cx="2952750" cy="498475"/>
          </a:xfrm>
          <a:prstGeom prst="rect">
            <a:avLst/>
          </a:prstGeom>
        </p:spPr>
        <p:txBody>
          <a:bodyPr vert="horz" lIns="91742" tIns="45871" rIns="91742" bIns="4587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C98B5E4-764D-490D-8D6C-CEE562593899}" type="datetimeFigureOut">
              <a:rPr lang="zh-CN" altLang="en-US"/>
              <a:pPr>
                <a:defRPr/>
              </a:pPr>
              <a:t>2026/5/9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7EE2AFD-5881-9637-7A74-4B2738C6A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675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42" tIns="45871" rIns="91742" bIns="4587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8C10FC0-99A9-E34F-3F19-C2FAD9086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51475" cy="3916362"/>
          </a:xfrm>
          <a:prstGeom prst="rect">
            <a:avLst/>
          </a:prstGeom>
        </p:spPr>
        <p:txBody>
          <a:bodyPr vert="horz" lIns="91742" tIns="45871" rIns="91742" bIns="45871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A8FC48-E896-737C-E0B8-BFCD57C446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52750" cy="498475"/>
          </a:xfrm>
          <a:prstGeom prst="rect">
            <a:avLst/>
          </a:prstGeom>
        </p:spPr>
        <p:txBody>
          <a:bodyPr vert="horz" lIns="91742" tIns="45871" rIns="91742" bIns="4587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F55C6C-EF16-63C8-930F-CF7677037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9213" y="9447213"/>
            <a:ext cx="2952750" cy="498475"/>
          </a:xfrm>
          <a:prstGeom prst="rect">
            <a:avLst/>
          </a:prstGeom>
        </p:spPr>
        <p:txBody>
          <a:bodyPr vert="horz" wrap="square" lIns="91742" tIns="45871" rIns="91742" bIns="4587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86E6F194-9147-42DA-9288-6405520A712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015C4F-5ED8-836D-9270-06A7F34644E3}"/>
              </a:ext>
            </a:extLst>
          </p:cNvPr>
          <p:cNvSpPr/>
          <p:nvPr userDrawn="1"/>
        </p:nvSpPr>
        <p:spPr>
          <a:xfrm>
            <a:off x="0" y="6665913"/>
            <a:ext cx="9144000" cy="1920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7">
              <a:cs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14E5C2-558B-1ACD-AF45-F272EE9A2459}"/>
              </a:ext>
            </a:extLst>
          </p:cNvPr>
          <p:cNvSpPr>
            <a:spLocks noChangeAspect="1"/>
          </p:cNvSpPr>
          <p:nvPr userDrawn="1"/>
        </p:nvSpPr>
        <p:spPr>
          <a:xfrm>
            <a:off x="423863" y="6665913"/>
            <a:ext cx="180975" cy="179387"/>
          </a:xfrm>
          <a:prstGeom prst="rect">
            <a:avLst/>
          </a:prstGeom>
          <a:solidFill>
            <a:srgbClr val="005D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9CC6EA-4F9D-C1CB-DC34-F5B53B48F82C}"/>
              </a:ext>
            </a:extLst>
          </p:cNvPr>
          <p:cNvSpPr>
            <a:spLocks noChangeAspect="1"/>
          </p:cNvSpPr>
          <p:nvPr userDrawn="1"/>
        </p:nvSpPr>
        <p:spPr>
          <a:xfrm>
            <a:off x="1016000" y="6665913"/>
            <a:ext cx="179388" cy="179387"/>
          </a:xfrm>
          <a:prstGeom prst="rect">
            <a:avLst/>
          </a:prstGeom>
          <a:solidFill>
            <a:srgbClr val="5BC1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379F33-F81E-0B57-03D1-C81217BA2A90}"/>
              </a:ext>
            </a:extLst>
          </p:cNvPr>
          <p:cNvSpPr>
            <a:spLocks noChangeAspect="1"/>
          </p:cNvSpPr>
          <p:nvPr userDrawn="1"/>
        </p:nvSpPr>
        <p:spPr>
          <a:xfrm>
            <a:off x="720725" y="6665913"/>
            <a:ext cx="179388" cy="179387"/>
          </a:xfrm>
          <a:prstGeom prst="rect">
            <a:avLst/>
          </a:prstGeom>
          <a:solidFill>
            <a:srgbClr val="009B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2D6FE6-8CE8-81DB-AED1-C1F962720614}"/>
              </a:ext>
            </a:extLst>
          </p:cNvPr>
          <p:cNvSpPr>
            <a:spLocks noChangeAspect="1"/>
          </p:cNvSpPr>
          <p:nvPr userDrawn="1"/>
        </p:nvSpPr>
        <p:spPr>
          <a:xfrm>
            <a:off x="1311275" y="6665913"/>
            <a:ext cx="180975" cy="179387"/>
          </a:xfrm>
          <a:prstGeom prst="rect">
            <a:avLst/>
          </a:prstGeom>
          <a:solidFill>
            <a:srgbClr val="E5F5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150DE24-3361-8ECE-4F9D-D313AF61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0F327DD-9CE3-902F-60FA-5F54F62C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CD658BC-E98B-170F-7079-188AF814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5500" y="6669088"/>
            <a:ext cx="698500" cy="1809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A497D12-7DC2-4989-85B0-ED5858849F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22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813A714-DD37-21B0-0F98-0CBD91F754D0}"/>
              </a:ext>
            </a:extLst>
          </p:cNvPr>
          <p:cNvSpPr/>
          <p:nvPr userDrawn="1"/>
        </p:nvSpPr>
        <p:spPr>
          <a:xfrm>
            <a:off x="0" y="6665913"/>
            <a:ext cx="9144000" cy="1920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7">
              <a:cs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9205D6-CF58-76D1-EBCD-55AD7ED0B20E}"/>
              </a:ext>
            </a:extLst>
          </p:cNvPr>
          <p:cNvSpPr/>
          <p:nvPr userDrawn="1"/>
        </p:nvSpPr>
        <p:spPr>
          <a:xfrm>
            <a:off x="0" y="25400"/>
            <a:ext cx="9144000" cy="576263"/>
          </a:xfrm>
          <a:prstGeom prst="rect">
            <a:avLst/>
          </a:prstGeom>
          <a:solidFill>
            <a:srgbClr val="005D9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5" name="燕尾形 9">
            <a:extLst>
              <a:ext uri="{FF2B5EF4-FFF2-40B4-BE49-F238E27FC236}">
                <a16:creationId xmlns:a16="http://schemas.microsoft.com/office/drawing/2014/main" id="{FAC0E096-1C0C-D7FD-1754-B0F1D804FBBD}"/>
              </a:ext>
            </a:extLst>
          </p:cNvPr>
          <p:cNvSpPr/>
          <p:nvPr userDrawn="1"/>
        </p:nvSpPr>
        <p:spPr bwMode="auto">
          <a:xfrm>
            <a:off x="188913" y="139700"/>
            <a:ext cx="206375" cy="349250"/>
          </a:xfrm>
          <a:prstGeom prst="chevron">
            <a:avLst>
              <a:gd name="adj" fmla="val 37480"/>
            </a:avLst>
          </a:prstGeom>
          <a:solidFill>
            <a:srgbClr val="E5F5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68580" tIns="34290" rIns="68580" bIns="34290"/>
          <a:lstStyle/>
          <a:p>
            <a:pPr defTabSz="685800">
              <a:buFont typeface="Arial" pitchFamily="34" charset="0"/>
              <a:buNone/>
              <a:defRPr/>
            </a:pPr>
            <a:endParaRPr lang="zh-CN" altLang="en-US" sz="1350">
              <a:latin typeface="Calibri" pitchFamily="34" charset="0"/>
            </a:endParaRPr>
          </a:p>
        </p:txBody>
      </p:sp>
      <p:sp>
        <p:nvSpPr>
          <p:cNvPr id="6" name="燕尾形 10">
            <a:extLst>
              <a:ext uri="{FF2B5EF4-FFF2-40B4-BE49-F238E27FC236}">
                <a16:creationId xmlns:a16="http://schemas.microsoft.com/office/drawing/2014/main" id="{D5F3C34D-6B12-488A-37A5-8D15CAE01784}"/>
              </a:ext>
            </a:extLst>
          </p:cNvPr>
          <p:cNvSpPr/>
          <p:nvPr userDrawn="1"/>
        </p:nvSpPr>
        <p:spPr bwMode="auto">
          <a:xfrm>
            <a:off x="388938" y="141288"/>
            <a:ext cx="207962" cy="349250"/>
          </a:xfrm>
          <a:prstGeom prst="chevron">
            <a:avLst>
              <a:gd name="adj" fmla="val 37480"/>
            </a:avLst>
          </a:prstGeom>
          <a:solidFill>
            <a:srgbClr val="E5F5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68580" tIns="34290" rIns="68580" bIns="34290"/>
          <a:lstStyle/>
          <a:p>
            <a:pPr defTabSz="685800">
              <a:buFont typeface="Arial" pitchFamily="34" charset="0"/>
              <a:buNone/>
              <a:defRPr/>
            </a:pPr>
            <a:endParaRPr lang="zh-CN" altLang="en-US" sz="1350">
              <a:latin typeface="Calibri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A1AF67-ECC1-2763-7948-4754B5BA4ED5}"/>
              </a:ext>
            </a:extLst>
          </p:cNvPr>
          <p:cNvSpPr>
            <a:spLocks noChangeAspect="1"/>
          </p:cNvSpPr>
          <p:nvPr userDrawn="1"/>
        </p:nvSpPr>
        <p:spPr>
          <a:xfrm>
            <a:off x="423863" y="6665913"/>
            <a:ext cx="180975" cy="179387"/>
          </a:xfrm>
          <a:prstGeom prst="rect">
            <a:avLst/>
          </a:prstGeom>
          <a:solidFill>
            <a:srgbClr val="005D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F65F7D-FC5F-BFEA-A09F-4ED424A9B06C}"/>
              </a:ext>
            </a:extLst>
          </p:cNvPr>
          <p:cNvSpPr>
            <a:spLocks noChangeAspect="1"/>
          </p:cNvSpPr>
          <p:nvPr userDrawn="1"/>
        </p:nvSpPr>
        <p:spPr>
          <a:xfrm>
            <a:off x="1016000" y="6665913"/>
            <a:ext cx="179388" cy="179387"/>
          </a:xfrm>
          <a:prstGeom prst="rect">
            <a:avLst/>
          </a:prstGeom>
          <a:solidFill>
            <a:srgbClr val="5BC1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6A6582-C0A6-5505-3529-51B1E54D78E7}"/>
              </a:ext>
            </a:extLst>
          </p:cNvPr>
          <p:cNvSpPr>
            <a:spLocks noChangeAspect="1"/>
          </p:cNvSpPr>
          <p:nvPr userDrawn="1"/>
        </p:nvSpPr>
        <p:spPr>
          <a:xfrm>
            <a:off x="720725" y="6665913"/>
            <a:ext cx="179388" cy="179387"/>
          </a:xfrm>
          <a:prstGeom prst="rect">
            <a:avLst/>
          </a:prstGeom>
          <a:solidFill>
            <a:srgbClr val="009B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19BBFB-D0DA-CEB5-9D18-C3EF25C25100}"/>
              </a:ext>
            </a:extLst>
          </p:cNvPr>
          <p:cNvSpPr>
            <a:spLocks noChangeAspect="1"/>
          </p:cNvSpPr>
          <p:nvPr userDrawn="1"/>
        </p:nvSpPr>
        <p:spPr>
          <a:xfrm>
            <a:off x="1311275" y="6665913"/>
            <a:ext cx="180975" cy="179387"/>
          </a:xfrm>
          <a:prstGeom prst="rect">
            <a:avLst/>
          </a:prstGeom>
          <a:solidFill>
            <a:srgbClr val="E5F5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pic>
        <p:nvPicPr>
          <p:cNvPr id="11" name="图片 15">
            <a:extLst>
              <a:ext uri="{FF2B5EF4-FFF2-40B4-BE49-F238E27FC236}">
                <a16:creationId xmlns:a16="http://schemas.microsoft.com/office/drawing/2014/main" id="{EAD7E407-AE70-A254-6E70-BA1AE2725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42"/>
          <a:stretch>
            <a:fillRect/>
          </a:stretch>
        </p:blipFill>
        <p:spPr bwMode="auto">
          <a:xfrm>
            <a:off x="7200900" y="25400"/>
            <a:ext cx="19431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914" y="52628"/>
            <a:ext cx="6341311" cy="523878"/>
          </a:xfrm>
          <a:noFill/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DBD5D7A-E883-9DC5-6DA7-E33DEDD4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856276F-05C2-918B-687A-E89D23DA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1FB89BB-54BA-FBE7-24CF-99FCF720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5500" y="6651625"/>
            <a:ext cx="698500" cy="2159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>
            <a:noAutofit/>
          </a:bodyPr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7F167CF-3C7D-41E2-A58B-4A408C439B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183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263FD8-1A2F-3293-01D1-E2B839A0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9182632-67BD-3136-9F1D-4A8B93E2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47B2D-548F-B518-3A61-83744BCF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6D7AB-9148-4B38-B34C-15CA4A4A15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450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D884321-36F5-3457-8884-69B951AC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46181BD-DA98-A157-D225-98890323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EB22675-1DA4-26F3-F7E3-5CEAEDFA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8E9DD-819B-4F12-B58A-6F5A77CCE2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86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395B6381-A652-1AB2-C310-C6A34FD578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5509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EB19C-5B40-B981-CEF2-7663D638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965103-9C29-9C78-427D-768F65CCB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4F279C-33E5-3BCF-8C88-AE4CA066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E91A9-628E-409A-9370-5B1B730F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99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>
            <a:extLst>
              <a:ext uri="{FF2B5EF4-FFF2-40B4-BE49-F238E27FC236}">
                <a16:creationId xmlns:a16="http://schemas.microsoft.com/office/drawing/2014/main" id="{2DAB2C36-89D6-F7F2-DB8C-04102B9EFF96}"/>
              </a:ext>
            </a:extLst>
          </p:cNvPr>
          <p:cNvSpPr/>
          <p:nvPr userDrawn="1"/>
        </p:nvSpPr>
        <p:spPr>
          <a:xfrm rot="16200000">
            <a:off x="238919" y="113506"/>
            <a:ext cx="812800" cy="801688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7">
            <a:extLst>
              <a:ext uri="{FF2B5EF4-FFF2-40B4-BE49-F238E27FC236}">
                <a16:creationId xmlns:a16="http://schemas.microsoft.com/office/drawing/2014/main" id="{CFD4E670-CF92-3804-A170-1F9DECC55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3"/>
          <a:stretch>
            <a:fillRect/>
          </a:stretch>
        </p:blipFill>
        <p:spPr bwMode="auto">
          <a:xfrm>
            <a:off x="296863" y="195263"/>
            <a:ext cx="61912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E46D9CF-7556-B3DD-0564-783B7525288C}"/>
              </a:ext>
            </a:extLst>
          </p:cNvPr>
          <p:cNvSpPr/>
          <p:nvPr userDrawn="1"/>
        </p:nvSpPr>
        <p:spPr>
          <a:xfrm>
            <a:off x="71438" y="107950"/>
            <a:ext cx="112712" cy="8128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流程图: 过程 8">
            <a:extLst>
              <a:ext uri="{FF2B5EF4-FFF2-40B4-BE49-F238E27FC236}">
                <a16:creationId xmlns:a16="http://schemas.microsoft.com/office/drawing/2014/main" id="{5E67E795-058F-2EDC-7C48-1F11FB8AA043}"/>
              </a:ext>
            </a:extLst>
          </p:cNvPr>
          <p:cNvSpPr/>
          <p:nvPr userDrawn="1"/>
        </p:nvSpPr>
        <p:spPr>
          <a:xfrm rot="5400000" flipH="1">
            <a:off x="7636669" y="5350669"/>
            <a:ext cx="325437" cy="268922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CD09D6-B7CC-A84F-1E3D-A41665122B6C}"/>
              </a:ext>
            </a:extLst>
          </p:cNvPr>
          <p:cNvSpPr/>
          <p:nvPr userDrawn="1"/>
        </p:nvSpPr>
        <p:spPr>
          <a:xfrm>
            <a:off x="6669088" y="6602413"/>
            <a:ext cx="2420937" cy="219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FF591851-CD59-7AB5-A915-B55DCA2196B7}"/>
              </a:ext>
            </a:extLst>
          </p:cNvPr>
          <p:cNvSpPr/>
          <p:nvPr userDrawn="1"/>
        </p:nvSpPr>
        <p:spPr>
          <a:xfrm rot="5400000">
            <a:off x="3302794" y="3383756"/>
            <a:ext cx="171450" cy="6777038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日期占位符 12">
            <a:extLst>
              <a:ext uri="{FF2B5EF4-FFF2-40B4-BE49-F238E27FC236}">
                <a16:creationId xmlns:a16="http://schemas.microsoft.com/office/drawing/2014/main" id="{45E08307-97C5-6A8E-08EF-518DDE95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13">
            <a:extLst>
              <a:ext uri="{FF2B5EF4-FFF2-40B4-BE49-F238E27FC236}">
                <a16:creationId xmlns:a16="http://schemas.microsoft.com/office/drawing/2014/main" id="{1486D057-F23D-3D73-99E4-C6993F53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14">
            <a:extLst>
              <a:ext uri="{FF2B5EF4-FFF2-40B4-BE49-F238E27FC236}">
                <a16:creationId xmlns:a16="http://schemas.microsoft.com/office/drawing/2014/main" id="{36FCC63F-8DE7-E6FF-AA66-0C61A56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16700" y="6503988"/>
            <a:ext cx="20574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ECF8782-F251-448E-BDA6-1F8DF7F544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79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>
            <a:extLst>
              <a:ext uri="{FF2B5EF4-FFF2-40B4-BE49-F238E27FC236}">
                <a16:creationId xmlns:a16="http://schemas.microsoft.com/office/drawing/2014/main" id="{C1CD7DBD-4021-2DA3-CA56-EE7F9445386F}"/>
              </a:ext>
            </a:extLst>
          </p:cNvPr>
          <p:cNvSpPr/>
          <p:nvPr userDrawn="1"/>
        </p:nvSpPr>
        <p:spPr>
          <a:xfrm rot="16200000">
            <a:off x="238919" y="113506"/>
            <a:ext cx="812800" cy="801688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D2F16B40-CA8C-D435-0B4E-6DD152D444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3"/>
          <a:stretch>
            <a:fillRect/>
          </a:stretch>
        </p:blipFill>
        <p:spPr bwMode="auto">
          <a:xfrm>
            <a:off x="296863" y="195263"/>
            <a:ext cx="61912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4A2AABC-2C35-A9EF-0E8E-28CC6594C4F1}"/>
              </a:ext>
            </a:extLst>
          </p:cNvPr>
          <p:cNvSpPr/>
          <p:nvPr userDrawn="1"/>
        </p:nvSpPr>
        <p:spPr>
          <a:xfrm>
            <a:off x="71438" y="107950"/>
            <a:ext cx="112712" cy="8128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流程图: 过程 8">
            <a:extLst>
              <a:ext uri="{FF2B5EF4-FFF2-40B4-BE49-F238E27FC236}">
                <a16:creationId xmlns:a16="http://schemas.microsoft.com/office/drawing/2014/main" id="{62F69D1A-8355-51A3-8EDA-A3AF3BD11103}"/>
              </a:ext>
            </a:extLst>
          </p:cNvPr>
          <p:cNvSpPr/>
          <p:nvPr userDrawn="1"/>
        </p:nvSpPr>
        <p:spPr>
          <a:xfrm rot="5400000" flipH="1">
            <a:off x="7636669" y="5350669"/>
            <a:ext cx="325437" cy="268922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BED52A-B097-24FE-000C-98110E30DC2E}"/>
              </a:ext>
            </a:extLst>
          </p:cNvPr>
          <p:cNvSpPr/>
          <p:nvPr userDrawn="1"/>
        </p:nvSpPr>
        <p:spPr>
          <a:xfrm>
            <a:off x="6669088" y="6602413"/>
            <a:ext cx="2420937" cy="219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278DBCB1-F99F-F4BD-1441-84916DBE6BE2}"/>
              </a:ext>
            </a:extLst>
          </p:cNvPr>
          <p:cNvSpPr/>
          <p:nvPr userDrawn="1"/>
        </p:nvSpPr>
        <p:spPr>
          <a:xfrm rot="5400000">
            <a:off x="3302794" y="3383756"/>
            <a:ext cx="171450" cy="6777038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3516446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EF8C18-69DE-5E7A-2562-137DB03AC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002967-A0C2-DB40-2D7B-1BB3C492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E55C44-AB80-9A55-1D5B-4E4611B3F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2526E-7851-45F4-8FF6-DD8AFD76AFE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5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C729CCE-F35D-ADB8-2480-385FA0255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6713CE9-FF5A-E845-6D91-836F0D8B1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AE990C6-EF35-F4E6-E797-26A86317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B09C-3E5D-4054-989B-DF1A7FD026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29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99608AF2-F841-B48B-E1B1-D180523F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DDDEAF2-6782-442C-8BE3-3FCEC638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37A7D0E-180B-6E6E-915C-A7959DAE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3E4B1-6F89-4189-A9CB-2143B41FB7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94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9DBEC51-0E29-E893-D51B-E64328F7B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44392943-896F-CA92-FABC-46DB0AF9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1EBFDCD-2413-7BD6-4F00-47B4113C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86BFA-1BEF-4083-AF88-2E2DF76BDC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004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13D682DF-71A8-71A0-23A2-BB61A94E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EE72F5A-D259-EC3D-3A2D-B64A3E57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719D9E2-DDB1-FDA4-6822-0D077186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DDD00-6EAE-4EEB-B52F-430B24C221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588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C409543-8B6A-5A29-F17B-29E2FC58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0DDA1EB-0401-9B68-56FD-02592B60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1655400-000F-876A-16BE-FC46D837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FFA99-3C56-4D35-88A5-8E9CE9E070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484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741F4C7-989A-3B8F-8982-A51DEA1D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6E25A3E-28D7-F47D-EC52-EBC9907F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C853E41-4A66-EDF2-BDFE-850D9486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B858B-71E6-4827-96D3-A58FC0F1C7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149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90FEA-8242-6CA4-D4D4-E21B05E28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6077B-F63E-7670-DE65-BFF87A42A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E121EB-11E8-4D96-1FDD-12598EE9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0D894-65AC-46F2-9869-0F7E7A39BF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4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F70B56-AC93-CF28-3BF7-F347C4DA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4C923-3C08-096C-4F0A-1E08787DE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BAD65C-8C48-4FA4-E2BC-58718707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351-916B-410E-B8BF-1FC0B8C42B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098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6CABCF38-6E9E-AF2F-B802-9E944E135F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4214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BE9A11-A8EC-05D2-A9B6-6EB26BDA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2B2F06-2005-10EE-8A31-988B13257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4C2E9C-DEA0-709E-396B-B9A67590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19850"/>
            <a:ext cx="20574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6C0117E-80D3-4864-A52F-10199A59B6E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7484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>
            <a:extLst>
              <a:ext uri="{FF2B5EF4-FFF2-40B4-BE49-F238E27FC236}">
                <a16:creationId xmlns:a16="http://schemas.microsoft.com/office/drawing/2014/main" id="{6376DD64-6C9D-3835-AB9F-4EBC7E1EDB36}"/>
              </a:ext>
            </a:extLst>
          </p:cNvPr>
          <p:cNvSpPr/>
          <p:nvPr userDrawn="1"/>
        </p:nvSpPr>
        <p:spPr>
          <a:xfrm rot="16200000">
            <a:off x="238919" y="113506"/>
            <a:ext cx="812800" cy="801688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147E9ADE-3B87-832B-A502-7A7A9D20B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3"/>
          <a:stretch>
            <a:fillRect/>
          </a:stretch>
        </p:blipFill>
        <p:spPr bwMode="auto">
          <a:xfrm>
            <a:off x="296863" y="195263"/>
            <a:ext cx="61912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A9367DB-EB1B-4075-CA03-B15D202351EF}"/>
              </a:ext>
            </a:extLst>
          </p:cNvPr>
          <p:cNvSpPr/>
          <p:nvPr userDrawn="1"/>
        </p:nvSpPr>
        <p:spPr>
          <a:xfrm>
            <a:off x="71438" y="107950"/>
            <a:ext cx="112712" cy="8128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流程图: 过程 8">
            <a:extLst>
              <a:ext uri="{FF2B5EF4-FFF2-40B4-BE49-F238E27FC236}">
                <a16:creationId xmlns:a16="http://schemas.microsoft.com/office/drawing/2014/main" id="{C72AB31F-3DA4-9AD4-8A0E-4A11C076E438}"/>
              </a:ext>
            </a:extLst>
          </p:cNvPr>
          <p:cNvSpPr/>
          <p:nvPr userDrawn="1"/>
        </p:nvSpPr>
        <p:spPr>
          <a:xfrm rot="5400000" flipH="1">
            <a:off x="7636669" y="5350669"/>
            <a:ext cx="325437" cy="268922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F5A0C5-0B04-6ADE-AECA-1D29C7B13AD8}"/>
              </a:ext>
            </a:extLst>
          </p:cNvPr>
          <p:cNvSpPr/>
          <p:nvPr userDrawn="1"/>
        </p:nvSpPr>
        <p:spPr>
          <a:xfrm>
            <a:off x="6669088" y="6602413"/>
            <a:ext cx="2420937" cy="219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DC218E76-5740-8CDD-C480-244CFB47CE61}"/>
              </a:ext>
            </a:extLst>
          </p:cNvPr>
          <p:cNvSpPr/>
          <p:nvPr userDrawn="1"/>
        </p:nvSpPr>
        <p:spPr>
          <a:xfrm rot="5400000">
            <a:off x="3302794" y="3383756"/>
            <a:ext cx="171450" cy="6777038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541190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00379A27-6635-B304-404B-BDD42391FC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30184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4D84C1-BA77-A6B6-E00A-1AFD24CAF6E5}"/>
              </a:ext>
            </a:extLst>
          </p:cNvPr>
          <p:cNvSpPr/>
          <p:nvPr userDrawn="1"/>
        </p:nvSpPr>
        <p:spPr>
          <a:xfrm>
            <a:off x="0" y="360363"/>
            <a:ext cx="3240088" cy="53975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D47822-AE39-47B7-D5BF-C951C73C9DCB}"/>
              </a:ext>
            </a:extLst>
          </p:cNvPr>
          <p:cNvSpPr/>
          <p:nvPr userDrawn="1"/>
        </p:nvSpPr>
        <p:spPr>
          <a:xfrm>
            <a:off x="5905500" y="360363"/>
            <a:ext cx="3240088" cy="53975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E42E43-400D-9A33-68C5-BFD18BD99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800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068216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87C94D11-A63F-000B-29BD-4B31BB32FA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" t="140" r="-478" b="11636"/>
          <a:stretch>
            <a:fillRect/>
          </a:stretch>
        </p:blipFill>
        <p:spPr bwMode="auto">
          <a:xfrm>
            <a:off x="-14288" y="0"/>
            <a:ext cx="9201151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9626076-106E-7334-F5D8-9E4F29CE5037}"/>
              </a:ext>
            </a:extLst>
          </p:cNvPr>
          <p:cNvSpPr/>
          <p:nvPr userDrawn="1"/>
        </p:nvSpPr>
        <p:spPr>
          <a:xfrm>
            <a:off x="0" y="0"/>
            <a:ext cx="9085263" cy="5529263"/>
          </a:xfrm>
          <a:prstGeom prst="rect">
            <a:avLst/>
          </a:prstGeom>
          <a:solidFill>
            <a:srgbClr val="384A5A">
              <a:alpha val="5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8">
            <a:extLst>
              <a:ext uri="{FF2B5EF4-FFF2-40B4-BE49-F238E27FC236}">
                <a16:creationId xmlns:a16="http://schemas.microsoft.com/office/drawing/2014/main" id="{E4F5902C-B314-3ACB-987C-7118209CD4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725" y="-79375"/>
            <a:ext cx="270827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29500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C51025EB-EF9F-7FC0-A9DE-81179A172ADE}"/>
              </a:ext>
            </a:extLst>
          </p:cNvPr>
          <p:cNvSpPr/>
          <p:nvPr userDrawn="1"/>
        </p:nvSpPr>
        <p:spPr>
          <a:xfrm rot="5400000">
            <a:off x="-47625" y="263525"/>
            <a:ext cx="739775" cy="644525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流程图: 过程 2">
            <a:extLst>
              <a:ext uri="{FF2B5EF4-FFF2-40B4-BE49-F238E27FC236}">
                <a16:creationId xmlns:a16="http://schemas.microsoft.com/office/drawing/2014/main" id="{4485DEA1-A1D7-070D-E837-400E2080CCFB}"/>
              </a:ext>
            </a:extLst>
          </p:cNvPr>
          <p:cNvSpPr/>
          <p:nvPr userDrawn="1"/>
        </p:nvSpPr>
        <p:spPr>
          <a:xfrm rot="5400000">
            <a:off x="440531" y="523082"/>
            <a:ext cx="739775" cy="125412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F4D664D9-E076-8E87-4819-013AFBBBA318}"/>
              </a:ext>
            </a:extLst>
          </p:cNvPr>
          <p:cNvSpPr/>
          <p:nvPr userDrawn="1"/>
        </p:nvSpPr>
        <p:spPr>
          <a:xfrm rot="5400000">
            <a:off x="4486275" y="2200275"/>
            <a:ext cx="171450" cy="9144000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流程图: 过程 8">
            <a:extLst>
              <a:ext uri="{FF2B5EF4-FFF2-40B4-BE49-F238E27FC236}">
                <a16:creationId xmlns:a16="http://schemas.microsoft.com/office/drawing/2014/main" id="{29CCB680-CADD-FEEE-6B81-2324E26F87EE}"/>
              </a:ext>
            </a:extLst>
          </p:cNvPr>
          <p:cNvSpPr/>
          <p:nvPr userDrawn="1"/>
        </p:nvSpPr>
        <p:spPr>
          <a:xfrm rot="5400000" flipH="1">
            <a:off x="8183563" y="5849938"/>
            <a:ext cx="328612" cy="159226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" name="图片 10">
            <a:extLst>
              <a:ext uri="{FF2B5EF4-FFF2-40B4-BE49-F238E27FC236}">
                <a16:creationId xmlns:a16="http://schemas.microsoft.com/office/drawing/2014/main" id="{EA8158A5-D291-1DD8-7340-C2B1208AE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7" r="53951"/>
          <a:stretch>
            <a:fillRect/>
          </a:stretch>
        </p:blipFill>
        <p:spPr bwMode="auto">
          <a:xfrm>
            <a:off x="7829550" y="6523038"/>
            <a:ext cx="11541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60298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>
            <a:extLst>
              <a:ext uri="{FF2B5EF4-FFF2-40B4-BE49-F238E27FC236}">
                <a16:creationId xmlns:a16="http://schemas.microsoft.com/office/drawing/2014/main" id="{B0F5C791-B33F-F011-2695-9A062B30107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507686AD-9CFB-48A8-C31D-0C1A292AC59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B573CEFD-9830-DAC1-1DEC-097D2E968B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4FE9E-F64D-F8FA-BB71-56A452005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ECF3D-DCD6-8E1E-02A7-32E1D962A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D0D40-A7B9-BD29-88D9-6BE1C6E67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29AD009-66A2-4866-8A3E-6FD3F2A8CC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29" r:id="rId1"/>
    <p:sldLayoutId id="2147484630" r:id="rId2"/>
    <p:sldLayoutId id="2147484617" r:id="rId3"/>
    <p:sldLayoutId id="2147484618" r:id="rId4"/>
    <p:sldLayoutId id="2147484631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微软雅黑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微软雅黑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微软雅黑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微软雅黑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Microsoft YaHei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Microsoft YaHei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Microsoft YaHei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Microsoft YaHei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317BFDF9-A419-AE43-6AC2-AAC049C4D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5BC86140-709D-1019-1C1D-2BDEDBB88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34533-BA0F-E946-CC99-24B81EDBBF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95E947-353D-9FD8-0236-149DA3F7D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A52FBC-7792-13F9-5A35-9D358929F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F5B4260-25B1-4D28-B20B-2E55520426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9" r:id="rId1"/>
    <p:sldLayoutId id="2147484632" r:id="rId2"/>
    <p:sldLayoutId id="2147484633" r:id="rId3"/>
    <p:sldLayoutId id="2147484620" r:id="rId4"/>
    <p:sldLayoutId id="2147484621" r:id="rId5"/>
    <p:sldLayoutId id="2147484622" r:id="rId6"/>
    <p:sldLayoutId id="2147484623" r:id="rId7"/>
    <p:sldLayoutId id="2147484624" r:id="rId8"/>
    <p:sldLayoutId id="2147484625" r:id="rId9"/>
    <p:sldLayoutId id="2147484626" r:id="rId10"/>
    <p:sldLayoutId id="2147484627" r:id="rId11"/>
    <p:sldLayoutId id="2147484628" r:id="rId12"/>
    <p:sldLayoutId id="2147484634" r:id="rId13"/>
    <p:sldLayoutId id="2147484635" r:id="rId14"/>
    <p:sldLayoutId id="2147484636" r:id="rId15"/>
    <p:sldLayoutId id="2147484637" r:id="rId16"/>
    <p:sldLayoutId id="2147484638" r:id="rId17"/>
    <p:sldLayoutId id="2147484639" r:id="rId18"/>
    <p:sldLayoutId id="2147484640" r:id="rId19"/>
    <p:sldLayoutId id="2147484641" r:id="rId20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B68CC9F4-24E4-1944-AA8D-83BFBA726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64F2160-9955-E427-A807-CA6DB30F14FE}"/>
              </a:ext>
            </a:extLst>
          </p:cNvPr>
          <p:cNvSpPr/>
          <p:nvPr/>
        </p:nvSpPr>
        <p:spPr>
          <a:xfrm>
            <a:off x="517525" y="1828800"/>
            <a:ext cx="8108950" cy="19399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>
                <a:solidFill>
                  <a:prstClr val="black"/>
                </a:solidFill>
                <a:latin typeface="黑体"/>
                <a:ea typeface="黑体"/>
              </a:rPr>
              <a:t>短距离无线通信专题实验</a:t>
            </a:r>
            <a:endParaRPr lang="en-US" altLang="zh-CN" sz="4800" dirty="0">
              <a:solidFill>
                <a:prstClr val="black"/>
              </a:solidFill>
              <a:latin typeface="黑体"/>
              <a:ea typeface="黑体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实验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</a:rPr>
              <a:t>5—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基于</a:t>
            </a:r>
            <a:r>
              <a:rPr lang="en-US" altLang="zh-CN" sz="3600" dirty="0" err="1">
                <a:solidFill>
                  <a:prstClr val="black"/>
                </a:solidFill>
                <a:latin typeface="宋体" panose="02010600030101010101" pitchFamily="2" charset="-122"/>
              </a:rPr>
              <a:t>WiFi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</a:rPr>
              <a:t>UDP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</a:rPr>
              <a:t>TCP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传输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</a:rPr>
              <a:t>1</a:t>
            </a:r>
            <a:endParaRPr lang="zh-CN" altLang="en-US" sz="3600" dirty="0">
              <a:solidFill>
                <a:prstClr val="black"/>
              </a:solidFill>
              <a:latin typeface="宋体" panose="02010600030101010101" pitchFamily="2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64E086-C595-4679-E4EC-85EABFE9F745}"/>
              </a:ext>
            </a:extLst>
          </p:cNvPr>
          <p:cNvSpPr/>
          <p:nvPr/>
        </p:nvSpPr>
        <p:spPr>
          <a:xfrm>
            <a:off x="1620838" y="4162425"/>
            <a:ext cx="6254750" cy="1422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教师：电信学部信通学院陈伟</a:t>
            </a:r>
            <a:endParaRPr kumimoji="1" lang="en-US" altLang="zh-CN" sz="2400" dirty="0">
              <a:solidFill>
                <a:prstClr val="black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邮箱：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chw@mail.xjtu.edu.cn</a:t>
            </a:r>
            <a:r>
              <a:rPr kumimoji="1" lang="en-US" altLang="zh-CN" sz="28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办公室：西一楼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529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153F32-E536-6E4E-5807-AA876EAE9C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8000" y="72000"/>
            <a:ext cx="3088800" cy="1085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2FB0681-8076-0F38-875A-15BB91C45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3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000">
                <a:latin typeface="隶书" panose="02010509060101010101" pitchFamily="49" charset="-122"/>
                <a:ea typeface="隶书" panose="02010509060101010101" pitchFamily="49" charset="-122"/>
              </a:rPr>
              <a:t>CC3200</a:t>
            </a:r>
            <a:r>
              <a:rPr lang="zh-CN" altLang="en-US" sz="3000">
                <a:latin typeface="隶书" panose="02010509060101010101" pitchFamily="49" charset="-122"/>
                <a:ea typeface="隶书" panose="02010509060101010101" pitchFamily="49" charset="-122"/>
              </a:rPr>
              <a:t>网络驱动程序</a:t>
            </a:r>
            <a:r>
              <a:rPr lang="zh-CN" altLang="en-US" sz="3000">
                <a:latin typeface="Arial" panose="020B0604020202020204" pitchFamily="34" charset="0"/>
                <a:ea typeface="隶书" panose="02010509060101010101" pitchFamily="49" charset="-122"/>
              </a:rPr>
              <a:t>简介</a:t>
            </a:r>
            <a:endParaRPr lang="en-US" altLang="zh-CN" sz="30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78883" name="Rectangle 3">
            <a:extLst>
              <a:ext uri="{FF2B5EF4-FFF2-40B4-BE49-F238E27FC236}">
                <a16:creationId xmlns:a16="http://schemas.microsoft.com/office/drawing/2014/main" id="{D1959E9F-C30E-5C04-596B-7CDB0196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8208963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anose="02010509060101010101" pitchFamily="49" charset="-122"/>
              </a:rPr>
              <a:t>基本的网络应用程序状态机</a:t>
            </a:r>
            <a:endParaRPr lang="en-US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600"/>
              </a:spcBef>
              <a:defRPr/>
            </a:pPr>
            <a:endParaRPr lang="en-US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600"/>
              </a:spcBef>
              <a:defRPr/>
            </a:pPr>
            <a:endParaRPr lang="en-US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600"/>
              </a:spcBef>
              <a:defRPr/>
            </a:pPr>
            <a:endParaRPr lang="en-US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0"/>
              </a:spcBef>
              <a:defRPr/>
            </a:pPr>
            <a:endParaRPr lang="en-US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0"/>
              </a:spcBef>
              <a:defRPr/>
            </a:pPr>
            <a:endParaRPr lang="en-US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0"/>
              </a:spcBef>
              <a:defRPr/>
            </a:pPr>
            <a:endParaRPr lang="en-US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0"/>
              </a:spcBef>
              <a:defRPr/>
            </a:pPr>
            <a:endParaRPr lang="en-US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600"/>
              </a:spcBef>
              <a:defRPr/>
            </a:pPr>
            <a:endParaRPr lang="en-US" altLang="zh-CN" sz="2400" dirty="0">
              <a:latin typeface="+mn-lt"/>
              <a:ea typeface="隶书" panose="02010509060101010101" pitchFamily="49" charset="-122"/>
            </a:endParaRPr>
          </a:p>
        </p:txBody>
      </p:sp>
      <p:pic>
        <p:nvPicPr>
          <p:cNvPr id="18436" name="Picture 1" descr="C:\Users\TXGC\AppData\Roaming\Tencent\Users\1343659160\QQ\WinTemp\RichOle\NYN~~QG_%(3)]HR_E9A`AHO.png">
            <a:extLst>
              <a:ext uri="{FF2B5EF4-FFF2-40B4-BE49-F238E27FC236}">
                <a16:creationId xmlns:a16="http://schemas.microsoft.com/office/drawing/2014/main" id="{6B4199BC-6083-3751-0DEE-F3E1898A4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2200275"/>
            <a:ext cx="711517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0206D592-D51B-D758-DB83-1CE07C60F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19459" name="灯片编号占位符 2">
            <a:extLst>
              <a:ext uri="{FF2B5EF4-FFF2-40B4-BE49-F238E27FC236}">
                <a16:creationId xmlns:a16="http://schemas.microsoft.com/office/drawing/2014/main" id="{CE3E998E-F7F5-884F-2D79-1477901B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DA666FC-75C7-48A9-9D30-C002274F216D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19460" name="Picture 1" descr="C:\Users\user\AppData\Roaming\Tencent\Users\1343659160\QQ\WinTemp\RichOle\A3BT~V%ZC~LG89[VF@_$OEO.png">
            <a:extLst>
              <a:ext uri="{FF2B5EF4-FFF2-40B4-BE49-F238E27FC236}">
                <a16:creationId xmlns:a16="http://schemas.microsoft.com/office/drawing/2014/main" id="{DBAB319B-27F7-3378-1C16-EFCB9A21E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38" y="1730375"/>
            <a:ext cx="7381875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B67BF30C-436A-BA00-EFE1-18C77F1D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0483" name="灯片编号占位符 2">
            <a:extLst>
              <a:ext uri="{FF2B5EF4-FFF2-40B4-BE49-F238E27FC236}">
                <a16:creationId xmlns:a16="http://schemas.microsoft.com/office/drawing/2014/main" id="{7E2A3CC2-013D-9C14-561F-5E2C7A8E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9F952F5-9F3D-4949-ACB0-FB142BA5A08E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9E2F96-9B5E-E694-0D6D-B28951BD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4392613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对于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，服务器首先</a:t>
            </a:r>
            <a:endParaRPr lang="en-US" altLang="zh-CN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创建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 err="1">
                <a:latin typeface="+mn-lt"/>
                <a:ea typeface="隶书" pitchFamily="49" charset="-122"/>
              </a:rPr>
              <a:t>sl_Socket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并将其绑定到</a:t>
            </a:r>
            <a:r>
              <a:rPr lang="en-US" altLang="zh-CN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服务器地址</a:t>
            </a:r>
            <a:r>
              <a:rPr lang="en-US" sz="2400" dirty="0" err="1">
                <a:latin typeface="+mn-lt"/>
                <a:ea typeface="隶书" pitchFamily="49" charset="-122"/>
              </a:rPr>
              <a:t>sl_Bind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然后在指定端口监听</a:t>
            </a:r>
            <a:r>
              <a:rPr lang="en-US" sz="2400" dirty="0" err="1">
                <a:latin typeface="+mn-lt"/>
                <a:ea typeface="隶书" pitchFamily="49" charset="-122"/>
              </a:rPr>
              <a:t>sl_Listen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并接受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连接</a:t>
            </a:r>
            <a:r>
              <a:rPr lang="en-US" sz="2400" dirty="0" err="1">
                <a:latin typeface="+mn-lt"/>
                <a:ea typeface="隶书" pitchFamily="49" charset="-122"/>
              </a:rPr>
              <a:t>sl_Accept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一旦建立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连接，就可以进行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数据接收</a:t>
            </a:r>
            <a:r>
              <a:rPr lang="en-US" sz="2400" dirty="0" err="1">
                <a:latin typeface="+mn-lt"/>
                <a:ea typeface="隶书" pitchFamily="49" charset="-122"/>
              </a:rPr>
              <a:t>sl_Recv</a:t>
            </a:r>
            <a:r>
              <a:rPr lang="zh-CN" altLang="en-US" sz="2400" dirty="0">
                <a:latin typeface="+mn-lt"/>
                <a:ea typeface="隶书" pitchFamily="49" charset="-122"/>
              </a:rPr>
              <a:t>和发送</a:t>
            </a:r>
            <a:r>
              <a:rPr lang="en-US" sz="2400" dirty="0" err="1">
                <a:latin typeface="+mn-lt"/>
                <a:ea typeface="隶书" pitchFamily="49" charset="-122"/>
              </a:rPr>
              <a:t>sl_Send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最后关闭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 err="1">
                <a:latin typeface="+mn-lt"/>
                <a:ea typeface="隶书" pitchFamily="49" charset="-122"/>
              </a:rPr>
              <a:t>sl_Close</a:t>
            </a:r>
            <a:endParaRPr lang="zh-CN" altLang="en-US" sz="2400" dirty="0">
              <a:latin typeface="+mn-lt"/>
              <a:ea typeface="隶书" pitchFamily="49" charset="-122"/>
            </a:endParaRPr>
          </a:p>
        </p:txBody>
      </p:sp>
      <p:pic>
        <p:nvPicPr>
          <p:cNvPr id="20485" name="Picture 2">
            <a:extLst>
              <a:ext uri="{FF2B5EF4-FFF2-40B4-BE49-F238E27FC236}">
                <a16:creationId xmlns:a16="http://schemas.microsoft.com/office/drawing/2014/main" id="{CBC957E5-C7D6-9A65-A870-ED834B496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88" y="1709738"/>
            <a:ext cx="35814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AF5A2608-26E7-F82E-92C3-5823B2EC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1507" name="灯片编号占位符 2">
            <a:extLst>
              <a:ext uri="{FF2B5EF4-FFF2-40B4-BE49-F238E27FC236}">
                <a16:creationId xmlns:a16="http://schemas.microsoft.com/office/drawing/2014/main" id="{8884B299-D654-A426-8A7C-69E41172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6C31932-A475-4C3D-941E-DFED9FBE69B7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5300C1-20DC-73A4-3DFC-C3772A0A5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43783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对于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，客户端首先</a:t>
            </a:r>
            <a:endParaRPr lang="en-US" altLang="zh-CN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创建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 err="1">
                <a:latin typeface="+mn-lt"/>
                <a:ea typeface="隶书" pitchFamily="49" charset="-122"/>
              </a:rPr>
              <a:t>sl_Socket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并与服务器建立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连接</a:t>
            </a:r>
            <a:r>
              <a:rPr lang="en-US" sz="2400" dirty="0" err="1">
                <a:latin typeface="+mn-lt"/>
                <a:ea typeface="隶书" pitchFamily="49" charset="-122"/>
              </a:rPr>
              <a:t>sl_Connect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一旦建立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连接，就可以进行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数据接收</a:t>
            </a:r>
            <a:r>
              <a:rPr lang="en-US" sz="2400" dirty="0" err="1">
                <a:latin typeface="+mn-lt"/>
                <a:ea typeface="隶书" pitchFamily="49" charset="-122"/>
              </a:rPr>
              <a:t>sl_Recv</a:t>
            </a:r>
            <a:r>
              <a:rPr lang="zh-CN" altLang="en-US" sz="2400" dirty="0">
                <a:latin typeface="+mn-lt"/>
                <a:ea typeface="隶书" pitchFamily="49" charset="-122"/>
              </a:rPr>
              <a:t>和发送</a:t>
            </a:r>
            <a:r>
              <a:rPr lang="en-US" sz="2400" dirty="0" err="1">
                <a:latin typeface="+mn-lt"/>
                <a:ea typeface="隶书" pitchFamily="49" charset="-122"/>
              </a:rPr>
              <a:t>sl_Send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最后关闭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 err="1">
                <a:latin typeface="+mn-lt"/>
                <a:ea typeface="隶书" pitchFamily="49" charset="-122"/>
              </a:rPr>
              <a:t>sl_Close</a:t>
            </a:r>
            <a:endParaRPr lang="zh-CN" altLang="en-US" sz="2400" dirty="0">
              <a:latin typeface="+mn-lt"/>
              <a:ea typeface="隶书" pitchFamily="49" charset="-122"/>
            </a:endParaRPr>
          </a:p>
        </p:txBody>
      </p:sp>
      <p:pic>
        <p:nvPicPr>
          <p:cNvPr id="21509" name="Picture 2">
            <a:extLst>
              <a:ext uri="{FF2B5EF4-FFF2-40B4-BE49-F238E27FC236}">
                <a16:creationId xmlns:a16="http://schemas.microsoft.com/office/drawing/2014/main" id="{F0A3299A-4A9D-A33B-519F-FD71C1D7E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88" y="1709738"/>
            <a:ext cx="35814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F6C88FA9-B648-46A9-02AD-4326D8CA1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2531" name="灯片编号占位符 2">
            <a:extLst>
              <a:ext uri="{FF2B5EF4-FFF2-40B4-BE49-F238E27FC236}">
                <a16:creationId xmlns:a16="http://schemas.microsoft.com/office/drawing/2014/main" id="{70C981B8-B8E0-8434-43AF-652AA81D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CBDCCE6-7DF3-477C-BFD0-4BB54EB360B6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39AE8-D82A-0DCC-44E6-DBD5E7436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43783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对于</a:t>
            </a:r>
            <a:r>
              <a:rPr lang="en-US" sz="2400" dirty="0">
                <a:latin typeface="+mn-lt"/>
                <a:ea typeface="隶书" pitchFamily="49" charset="-122"/>
              </a:rPr>
              <a:t>UDP</a:t>
            </a:r>
            <a:r>
              <a:rPr lang="zh-CN" altLang="en-US" sz="2400" dirty="0">
                <a:latin typeface="+mn-lt"/>
                <a:ea typeface="隶书" pitchFamily="49" charset="-122"/>
              </a:rPr>
              <a:t>，服务器只需创建</a:t>
            </a:r>
            <a:r>
              <a:rPr lang="en-US" sz="2400" dirty="0">
                <a:latin typeface="+mn-lt"/>
                <a:ea typeface="隶书" pitchFamily="49" charset="-122"/>
              </a:rPr>
              <a:t>UDP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 err="1">
                <a:latin typeface="+mn-lt"/>
                <a:ea typeface="隶书" pitchFamily="49" charset="-122"/>
              </a:rPr>
              <a:t>sl_Socket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并将其绑定到</a:t>
            </a:r>
            <a:r>
              <a:rPr lang="en-US" sz="2400" dirty="0">
                <a:latin typeface="+mn-lt"/>
                <a:ea typeface="隶书" pitchFamily="49" charset="-122"/>
              </a:rPr>
              <a:t>UDP</a:t>
            </a:r>
            <a:r>
              <a:rPr lang="zh-CN" altLang="en-US" sz="2400" dirty="0">
                <a:latin typeface="+mn-lt"/>
                <a:ea typeface="隶书" pitchFamily="49" charset="-122"/>
              </a:rPr>
              <a:t>服务器地址</a:t>
            </a:r>
            <a:r>
              <a:rPr lang="en-US" sz="2400" dirty="0" err="1">
                <a:latin typeface="+mn-lt"/>
                <a:ea typeface="隶书" pitchFamily="49" charset="-122"/>
              </a:rPr>
              <a:t>sl_Bind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客户端只需创建</a:t>
            </a:r>
            <a:r>
              <a:rPr lang="en-US" sz="2400" dirty="0">
                <a:latin typeface="+mn-lt"/>
                <a:ea typeface="隶书" pitchFamily="49" charset="-122"/>
              </a:rPr>
              <a:t>UDP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 err="1">
                <a:latin typeface="+mn-lt"/>
                <a:ea typeface="隶书" pitchFamily="49" charset="-122"/>
              </a:rPr>
              <a:t>sl_Socket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即可以进行</a:t>
            </a:r>
            <a:r>
              <a:rPr lang="en-US" sz="2400" dirty="0">
                <a:latin typeface="+mn-lt"/>
                <a:ea typeface="隶书" pitchFamily="49" charset="-122"/>
              </a:rPr>
              <a:t>UDP</a:t>
            </a:r>
            <a:r>
              <a:rPr lang="zh-CN" altLang="en-US" sz="2400" dirty="0">
                <a:latin typeface="+mn-lt"/>
                <a:ea typeface="隶书" pitchFamily="49" charset="-122"/>
              </a:rPr>
              <a:t>数据接收</a:t>
            </a:r>
            <a:r>
              <a:rPr lang="en-US" sz="2400" dirty="0" err="1">
                <a:latin typeface="+mn-lt"/>
                <a:ea typeface="隶书" pitchFamily="49" charset="-122"/>
              </a:rPr>
              <a:t>sl_RecvFrom</a:t>
            </a:r>
            <a:r>
              <a:rPr lang="zh-CN" altLang="en-US" sz="2400" dirty="0">
                <a:latin typeface="+mn-lt"/>
                <a:ea typeface="隶书" pitchFamily="49" charset="-122"/>
              </a:rPr>
              <a:t>和发送</a:t>
            </a:r>
            <a:r>
              <a:rPr lang="en-US" sz="2400" dirty="0" err="1">
                <a:latin typeface="+mn-lt"/>
                <a:ea typeface="隶书" pitchFamily="49" charset="-122"/>
              </a:rPr>
              <a:t>sl_SendTo</a:t>
            </a:r>
            <a:endParaRPr 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最后关闭</a:t>
            </a:r>
            <a:r>
              <a:rPr lang="en-US" sz="2400" dirty="0">
                <a:latin typeface="+mn-lt"/>
                <a:ea typeface="隶书" pitchFamily="49" charset="-122"/>
              </a:rPr>
              <a:t>UDP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 err="1">
                <a:latin typeface="+mn-lt"/>
                <a:ea typeface="隶书" pitchFamily="49" charset="-122"/>
              </a:rPr>
              <a:t>sl_Close</a:t>
            </a:r>
            <a:endParaRPr lang="zh-CN" altLang="en-US" sz="2400" dirty="0">
              <a:latin typeface="+mn-lt"/>
              <a:ea typeface="隶书" pitchFamily="49" charset="-122"/>
            </a:endParaRPr>
          </a:p>
        </p:txBody>
      </p:sp>
      <p:pic>
        <p:nvPicPr>
          <p:cNvPr id="22533" name="Picture 2">
            <a:extLst>
              <a:ext uri="{FF2B5EF4-FFF2-40B4-BE49-F238E27FC236}">
                <a16:creationId xmlns:a16="http://schemas.microsoft.com/office/drawing/2014/main" id="{AA5E12E5-6F6C-5E07-0DB8-ECFDF0CC7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850" y="1709738"/>
            <a:ext cx="3571875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6C542396-C571-CA97-61B2-CE81442D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3555" name="灯片编号占位符 2">
            <a:extLst>
              <a:ext uri="{FF2B5EF4-FFF2-40B4-BE49-F238E27FC236}">
                <a16:creationId xmlns:a16="http://schemas.microsoft.com/office/drawing/2014/main" id="{F41774E0-6966-0DB2-F75D-A44AB95AB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C8DF099-62F7-4E8E-A967-A56F7DE5FA41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C5E1A14-1E99-3BFF-0FF5-8D0927D87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8177213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相对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套接字，</a:t>
            </a:r>
            <a:r>
              <a:rPr lang="en-US" sz="2400" dirty="0">
                <a:latin typeface="+mn-lt"/>
                <a:ea typeface="隶书" pitchFamily="49" charset="-122"/>
              </a:rPr>
              <a:t>UDP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套接字简单，但是不可靠的数据传输要实现可靠的数据传输，必须使用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endParaRPr lang="en-US" altLang="zh-CN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套接字应用程序可以使用操作系统运行，也可以不使用操作系统运行。不使用操作系统运行时，通常通过调用</a:t>
            </a:r>
            <a:r>
              <a:rPr lang="en-US" sz="2400" dirty="0" err="1">
                <a:latin typeface="+mn-lt"/>
                <a:ea typeface="隶书" pitchFamily="49" charset="-122"/>
              </a:rPr>
              <a:t>sl_SetSockOpt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设置为非阻塞模式；而使用操作系统运行时，由于多线程的实现，可以使用阻塞模式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 err="1">
                <a:latin typeface="+mn-lt"/>
                <a:ea typeface="隶书" pitchFamily="49" charset="-122"/>
              </a:rPr>
              <a:t>sl_Connect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、</a:t>
            </a:r>
            <a:r>
              <a:rPr lang="en-US" sz="2400" dirty="0" err="1">
                <a:latin typeface="+mn-lt"/>
                <a:ea typeface="隶书" pitchFamily="49" charset="-122"/>
              </a:rPr>
              <a:t>sl_Accept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、</a:t>
            </a:r>
            <a:r>
              <a:rPr lang="en-US" sz="2400" dirty="0" err="1">
                <a:latin typeface="+mn-lt"/>
                <a:ea typeface="隶书" pitchFamily="49" charset="-122"/>
              </a:rPr>
              <a:t>sl_Send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、</a:t>
            </a:r>
            <a:r>
              <a:rPr lang="en-US" sz="2400" dirty="0" err="1">
                <a:latin typeface="+mn-lt"/>
                <a:ea typeface="隶书" pitchFamily="49" charset="-122"/>
              </a:rPr>
              <a:t>sl_SendTo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、</a:t>
            </a:r>
            <a:r>
              <a:rPr lang="en-US" sz="2400" dirty="0" err="1">
                <a:latin typeface="+mn-lt"/>
                <a:ea typeface="隶书" pitchFamily="49" charset="-122"/>
              </a:rPr>
              <a:t>sl_Recv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和</a:t>
            </a:r>
            <a:r>
              <a:rPr lang="en-US" sz="2400" dirty="0" err="1">
                <a:latin typeface="+mn-lt"/>
                <a:ea typeface="隶书" pitchFamily="49" charset="-122"/>
              </a:rPr>
              <a:t>sl_RecvFrom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的默认状态是阻塞模式，此时函数阻塞直到操作完成。非阻塞模式下，函数返回错误代码，此时对于必须完成的操作（例如</a:t>
            </a:r>
            <a:r>
              <a:rPr lang="en-US" sz="2400" dirty="0" err="1">
                <a:latin typeface="+mn-lt"/>
                <a:ea typeface="隶书" pitchFamily="49" charset="-122"/>
              </a:rPr>
              <a:t>sl_Connect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和</a:t>
            </a:r>
            <a:r>
              <a:rPr lang="en-US" sz="2400" dirty="0" err="1">
                <a:ea typeface="隶书" pitchFamily="49" charset="-122"/>
              </a:rPr>
              <a:t>sl_Accept</a:t>
            </a:r>
            <a:r>
              <a:rPr lang="en-US" sz="2400" dirty="0">
                <a:ea typeface="隶书" pitchFamily="49" charset="-122"/>
              </a:rPr>
              <a:t>() </a:t>
            </a:r>
            <a:r>
              <a:rPr lang="zh-CN" altLang="en-US" sz="2400" dirty="0">
                <a:latin typeface="+mn-lt"/>
                <a:ea typeface="隶书" pitchFamily="49" charset="-122"/>
              </a:rPr>
              <a:t>），通常使用循环实现阻塞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39ED55D3-2DA9-CD85-BF35-177631020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网络应用基础、</a:t>
            </a:r>
          </a:p>
        </p:txBody>
      </p:sp>
      <p:sp>
        <p:nvSpPr>
          <p:cNvPr id="24579" name="灯片编号占位符 2">
            <a:extLst>
              <a:ext uri="{FF2B5EF4-FFF2-40B4-BE49-F238E27FC236}">
                <a16:creationId xmlns:a16="http://schemas.microsoft.com/office/drawing/2014/main" id="{B8CB0285-CF65-83DB-C5ED-E924DAC8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A5BCBF-79CB-405D-971C-95176428D7C8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4580" name="图片 3">
            <a:extLst>
              <a:ext uri="{FF2B5EF4-FFF2-40B4-BE49-F238E27FC236}">
                <a16:creationId xmlns:a16="http://schemas.microsoft.com/office/drawing/2014/main" id="{CD524236-A3B7-ACCB-FF85-94301BBA5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13" y="800100"/>
            <a:ext cx="6762750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E634B2B2-26EE-6DC0-EA46-6749C797A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5603" name="灯片编号占位符 2">
            <a:extLst>
              <a:ext uri="{FF2B5EF4-FFF2-40B4-BE49-F238E27FC236}">
                <a16:creationId xmlns:a16="http://schemas.microsoft.com/office/drawing/2014/main" id="{564E2E4D-68BB-2D66-777C-5D8369AA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3FF268B-C161-4384-8CDC-FE6233F1E8BC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930D72-2BE5-026E-541F-A54DA42E6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8208963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服务器函数</a:t>
            </a:r>
            <a:r>
              <a:rPr lang="en-US" sz="2400" dirty="0" err="1">
                <a:latin typeface="+mn-lt"/>
                <a:ea typeface="隶书" pitchFamily="49" charset="-122"/>
              </a:rPr>
              <a:t>BsdTcpServer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r>
              <a:rPr lang="zh-CN" altLang="en-US" sz="2400" dirty="0">
                <a:latin typeface="+mn-lt"/>
                <a:ea typeface="隶书" pitchFamily="49" charset="-122"/>
              </a:rPr>
              <a:t>包括下列内容：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 创建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>
                <a:latin typeface="+mn-lt"/>
                <a:ea typeface="隶书" pitchFamily="49" charset="-122"/>
              </a:rPr>
              <a:t>		</a:t>
            </a:r>
            <a:r>
              <a:rPr lang="en-US" sz="2400" dirty="0" err="1">
                <a:latin typeface="+mn-lt"/>
                <a:ea typeface="隶书" pitchFamily="49" charset="-122"/>
              </a:rPr>
              <a:t>sl_Socket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endParaRPr lang="zh-CN" alt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 绑定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服务器</a:t>
            </a:r>
            <a:r>
              <a:rPr lang="en-US" sz="2400" dirty="0">
                <a:latin typeface="+mn-lt"/>
                <a:ea typeface="隶书" pitchFamily="49" charset="-122"/>
              </a:rPr>
              <a:t>		</a:t>
            </a:r>
            <a:r>
              <a:rPr lang="en-US" sz="2400" dirty="0" err="1">
                <a:latin typeface="+mn-lt"/>
                <a:ea typeface="隶书" pitchFamily="49" charset="-122"/>
              </a:rPr>
              <a:t>sl_Bind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endParaRPr lang="zh-CN" alt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 监听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连接</a:t>
            </a:r>
            <a:r>
              <a:rPr lang="en-US" sz="2400" dirty="0">
                <a:latin typeface="+mn-lt"/>
                <a:ea typeface="隶书" pitchFamily="49" charset="-122"/>
              </a:rPr>
              <a:t>		</a:t>
            </a:r>
            <a:r>
              <a:rPr lang="en-US" sz="2400" dirty="0" err="1">
                <a:latin typeface="+mn-lt"/>
                <a:ea typeface="隶书" pitchFamily="49" charset="-122"/>
              </a:rPr>
              <a:t>sl_Listen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</a:p>
          <a:p>
            <a:pPr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zh-CN" altLang="en-US" sz="2400" dirty="0"/>
              <a:t> </a:t>
            </a:r>
            <a:r>
              <a:rPr lang="zh-CN" altLang="en-US" sz="2400" dirty="0">
                <a:latin typeface="+mn-lt"/>
                <a:ea typeface="隶书" pitchFamily="49" charset="-122"/>
              </a:rPr>
              <a:t>设置非阻塞模式</a:t>
            </a:r>
            <a:r>
              <a:rPr lang="en-US" sz="2400" dirty="0">
                <a:latin typeface="+mn-lt"/>
                <a:ea typeface="隶书" pitchFamily="49" charset="-122"/>
              </a:rPr>
              <a:t>		</a:t>
            </a:r>
            <a:r>
              <a:rPr lang="en-US" sz="2400" dirty="0" err="1">
                <a:latin typeface="+mn-lt"/>
                <a:ea typeface="隶书" pitchFamily="49" charset="-122"/>
              </a:rPr>
              <a:t>sl_SetSockOpt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endParaRPr lang="zh-CN" alt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 接受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连接</a:t>
            </a:r>
            <a:r>
              <a:rPr lang="en-US" sz="2400" dirty="0">
                <a:latin typeface="+mn-lt"/>
                <a:ea typeface="隶书" pitchFamily="49" charset="-122"/>
              </a:rPr>
              <a:t>		</a:t>
            </a:r>
            <a:r>
              <a:rPr lang="en-US" sz="2400" dirty="0" err="1">
                <a:latin typeface="+mn-lt"/>
                <a:ea typeface="隶书" pitchFamily="49" charset="-122"/>
              </a:rPr>
              <a:t>sl_Accept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endParaRPr lang="zh-CN" alt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 接收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数据包</a:t>
            </a:r>
            <a:r>
              <a:rPr lang="en-US" sz="2400" dirty="0">
                <a:latin typeface="+mn-lt"/>
                <a:ea typeface="隶书" pitchFamily="49" charset="-122"/>
              </a:rPr>
              <a:t>		</a:t>
            </a:r>
            <a:r>
              <a:rPr lang="en-US" sz="2400" dirty="0" err="1">
                <a:latin typeface="+mn-lt"/>
                <a:ea typeface="隶书" pitchFamily="49" charset="-122"/>
              </a:rPr>
              <a:t>sl_Recv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endParaRPr lang="zh-CN" altLang="en-US" sz="2400" dirty="0">
              <a:latin typeface="+mn-lt"/>
              <a:ea typeface="隶书" pitchFamily="49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+mn-lt"/>
                <a:ea typeface="隶书" pitchFamily="49" charset="-122"/>
              </a:rPr>
              <a:t> 关闭</a:t>
            </a:r>
            <a:r>
              <a:rPr lang="en-US" sz="2400" dirty="0">
                <a:latin typeface="+mn-lt"/>
                <a:ea typeface="隶书" pitchFamily="49" charset="-122"/>
              </a:rPr>
              <a:t>TCP</a:t>
            </a:r>
            <a:r>
              <a:rPr lang="zh-CN" altLang="en-US" sz="2400" dirty="0">
                <a:latin typeface="+mn-lt"/>
                <a:ea typeface="隶书" pitchFamily="49" charset="-122"/>
              </a:rPr>
              <a:t>套接字</a:t>
            </a:r>
            <a:r>
              <a:rPr lang="en-US" sz="2400" dirty="0">
                <a:latin typeface="+mn-lt"/>
                <a:ea typeface="隶书" pitchFamily="49" charset="-122"/>
              </a:rPr>
              <a:t>		</a:t>
            </a:r>
            <a:r>
              <a:rPr lang="en-US" sz="2400" dirty="0" err="1">
                <a:latin typeface="+mn-lt"/>
                <a:ea typeface="隶书" pitchFamily="49" charset="-122"/>
              </a:rPr>
              <a:t>sl_Close</a:t>
            </a:r>
            <a:r>
              <a:rPr lang="en-US" sz="2400" dirty="0">
                <a:latin typeface="+mn-lt"/>
                <a:ea typeface="隶书" pitchFamily="49" charset="-122"/>
              </a:rPr>
              <a:t>()</a:t>
            </a:r>
            <a:endParaRPr lang="en-US" altLang="zh-CN" sz="2400" dirty="0">
              <a:latin typeface="+mn-lt"/>
              <a:ea typeface="隶书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FF8A55B6-7177-6A2A-0AAA-DBCAA07E2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6627" name="灯片编号占位符 2">
            <a:extLst>
              <a:ext uri="{FF2B5EF4-FFF2-40B4-BE49-F238E27FC236}">
                <a16:creationId xmlns:a16="http://schemas.microsoft.com/office/drawing/2014/main" id="{DDFE651F-4DE0-CFA0-6D13-1DBDF145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B0E656D-273E-4051-80CD-6862870856DE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EB8A6-4E61-6A86-5C34-8BCDC8A54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8208963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TCP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客户端函数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BsdTcpClient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包括下列内容：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创建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TCP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套接字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sl_Socket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连接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TCP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服务器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sl_Connect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发送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TCP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数据包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sl_Send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关闭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TCP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套接字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sl_Close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>
              <a:spcBef>
                <a:spcPts val="600"/>
              </a:spcBef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注意：调用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BsdTcpClient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前，必须有服务器在指定端口监听</a:t>
            </a:r>
            <a:endParaRPr lang="zh-CN" altLang="en-US" sz="2400" dirty="0">
              <a:latin typeface="+mn-lt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CEB2D89F-D5A4-387C-EDF7-86F040485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7651" name="灯片编号占位符 2">
            <a:extLst>
              <a:ext uri="{FF2B5EF4-FFF2-40B4-BE49-F238E27FC236}">
                <a16:creationId xmlns:a16="http://schemas.microsoft.com/office/drawing/2014/main" id="{6B075436-8E83-4418-1FFA-98EB7E50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9BD0A0E-CA04-41B7-B9D9-06D21A24F967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94573-C3FD-77B3-6542-8DE7BD65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8208963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服务器函数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BsdUdpServer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包括下列内容：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创建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套接字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sl_Socket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绑定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服务器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sl_Bind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接收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数据包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sl_RecvFrom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关闭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套接字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sl_Close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09852643-0B3F-EA13-3DA4-81224F4D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8675" name="灯片编号占位符 2">
            <a:extLst>
              <a:ext uri="{FF2B5EF4-FFF2-40B4-BE49-F238E27FC236}">
                <a16:creationId xmlns:a16="http://schemas.microsoft.com/office/drawing/2014/main" id="{9543C862-722D-0D1B-7BE4-D561E246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F05ED93-F5F3-41FF-AFBB-30437CAE02C9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276A77-93F9-6DB7-0C33-C3C28419C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00213"/>
            <a:ext cx="8208963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ts val="600"/>
              </a:spcBef>
              <a:defRPr/>
            </a:pP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客户端函数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BsdUdpClient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包括下列内容：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创建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套接字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sl_Socket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发送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数据包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sl_SendTo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关闭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UDP</a:t>
            </a:r>
            <a:r>
              <a:rPr lang="zh-CN" altLang="zh-CN" sz="2400" dirty="0">
                <a:latin typeface="+mn-lt"/>
                <a:ea typeface="隶书" panose="02010509060101010101" pitchFamily="49" charset="-122"/>
              </a:rPr>
              <a:t>套接字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 err="1">
                <a:latin typeface="+mn-lt"/>
                <a:ea typeface="隶书" panose="02010509060101010101" pitchFamily="49" charset="-122"/>
              </a:rPr>
              <a:t>sl_Close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()</a:t>
            </a:r>
            <a:endParaRPr lang="zh-CN" altLang="zh-CN" sz="2400" dirty="0">
              <a:latin typeface="+mn-lt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0B886837-8565-D750-CD6C-15E439695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实验内容</a:t>
            </a:r>
          </a:p>
        </p:txBody>
      </p:sp>
      <p:sp>
        <p:nvSpPr>
          <p:cNvPr id="29699" name="灯片编号占位符 2">
            <a:extLst>
              <a:ext uri="{FF2B5EF4-FFF2-40B4-BE49-F238E27FC236}">
                <a16:creationId xmlns:a16="http://schemas.microsoft.com/office/drawing/2014/main" id="{98658584-7B0B-E127-747F-A8C21468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27AD324-EEE1-4A74-92F4-974613CA8FD0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05476" name="文本框 3">
            <a:extLst>
              <a:ext uri="{FF2B5EF4-FFF2-40B4-BE49-F238E27FC236}">
                <a16:creationId xmlns:a16="http://schemas.microsoft.com/office/drawing/2014/main" id="{F661106A-D2C0-73F6-FA1F-DB8B68518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1381125"/>
            <a:ext cx="8289925" cy="554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熟悉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SDK1.5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out_of_box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tcp_socket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udp_socket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例程的程序，了解各函数功能。</a:t>
            </a:r>
          </a:p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编写程序将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板卡同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机（或笔记本）之间设置为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UDP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传输方式，实现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板上的温度传感器和加速度传感器等信息传输到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机上运行的网络调试工具显示出来。</a:t>
            </a:r>
          </a:p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编写程序将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板卡同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机（或笔记本）之间设置为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TCP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传输方式，实现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板卡分别在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Server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Client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两种模式下，将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板上的温度传感器和加速度传感等器信息传输到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机上运行的网络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调试工具显示出来。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实验参考：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SDK1.5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out_of_box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、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tcp_socket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udp_socket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例程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资料里的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out_of_box1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例程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d1fbfxl">
      <a:majorFont>
        <a:latin typeface="Georgia"/>
        <a:ea typeface="微软雅黑"/>
        <a:cs typeface=""/>
      </a:majorFont>
      <a:minorFont>
        <a:latin typeface="Georgia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005D98"/>
        </a:solidFill>
        <a:ln w="0">
          <a:solidFill>
            <a:srgbClr val="005D98"/>
          </a:solidFill>
        </a:ln>
        <a:effectLst>
          <a:outerShdw blurRad="225425" dist="38100" dir="5220000" algn="ctr">
            <a:srgbClr val="000000">
              <a:alpha val="33000"/>
            </a:srgbClr>
          </a:outerShdw>
        </a:effectLst>
      </a:spPr>
      <a:bodyPr rtlCol="0" anchor="ctr">
        <a:sp3d/>
      </a:bodyPr>
      <a:lstStyle>
        <a:defPPr marL="0" algn="ctr" eaLnBrk="0" fontAlgn="ctr" hangingPunct="0">
          <a:spcBef>
            <a:spcPts val="0"/>
          </a:spcBef>
          <a:spcAft>
            <a:spcPts val="0"/>
          </a:spcAft>
          <a:buClr>
            <a:srgbClr val="FF0000"/>
          </a:buClr>
          <a:buSzPct val="70000"/>
          <a:tabLst>
            <a:tab pos="136525" algn="l"/>
          </a:tabLst>
          <a:defRPr sz="1500" b="1" dirty="0" smtClean="0">
            <a:solidFill>
              <a:schemeClr val="bg1"/>
            </a:solidFill>
            <a:latin typeface="微软雅黑" pitchFamily="34" charset="-122"/>
            <a:ea typeface="微软雅黑" pitchFamily="34" charset="-122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课件蓝白色模板.potx" id="{5B1BA259-F0A4-47D0-BF68-057AFEF8E519}" vid="{0D99D3A8-3341-4791-B4B8-783062AFC9A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30461</TotalTime>
  <Words>814</Words>
  <Application>Microsoft Office PowerPoint</Application>
  <PresentationFormat>全屏显示(4:3)</PresentationFormat>
  <Paragraphs>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Georgia</vt:lpstr>
      <vt:lpstr>微软雅黑</vt:lpstr>
      <vt:lpstr>等线</vt:lpstr>
      <vt:lpstr>等线 Light</vt:lpstr>
      <vt:lpstr>Calibri</vt:lpstr>
      <vt:lpstr>黑体</vt:lpstr>
      <vt:lpstr>隶书</vt:lpstr>
      <vt:lpstr>Times New Roman</vt:lpstr>
      <vt:lpstr>Wingdings</vt:lpstr>
      <vt:lpstr>Office 主题​​</vt:lpstr>
      <vt:lpstr>自定义设计方案</vt:lpstr>
      <vt:lpstr>PowerPoint 演示文稿</vt:lpstr>
      <vt:lpstr>PowerPoint 演示文稿</vt:lpstr>
      <vt:lpstr>网络应用基础</vt:lpstr>
      <vt:lpstr>网络应用基础</vt:lpstr>
      <vt:lpstr>网络应用基础</vt:lpstr>
      <vt:lpstr>网络应用基础</vt:lpstr>
      <vt:lpstr>网络应用基础</vt:lpstr>
      <vt:lpstr>网络应用基础、</vt:lpstr>
      <vt:lpstr>网络应用基础</vt:lpstr>
      <vt:lpstr>网络应用基础</vt:lpstr>
      <vt:lpstr>网络应用基础</vt:lpstr>
      <vt:lpstr>网络应用基础</vt:lpstr>
      <vt:lpstr>实验内容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chw</dc:creator>
  <cp:lastModifiedBy>Yihao Wang</cp:lastModifiedBy>
  <cp:revision>1661</cp:revision>
  <cp:lastPrinted>2019-05-30T01:21:00Z</cp:lastPrinted>
  <dcterms:created xsi:type="dcterms:W3CDTF">2018-11-16T09:03:03Z</dcterms:created>
  <dcterms:modified xsi:type="dcterms:W3CDTF">2026-05-09T12:01:13Z</dcterms:modified>
</cp:coreProperties>
</file>